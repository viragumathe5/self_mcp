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9458b858b24458" /><Relationship Type="http://schemas.openxmlformats.org/officeDocument/2006/relationships/extended-properties" Target="/docProps/app.xml" Id="R3a3c5f90d56e438b" /><Relationship Type="http://schemas.openxmlformats.org/officeDocument/2006/relationships/officeDocument" Target="/ppt/presentation.xml" Id="R226092ed93804265" /></Relationships>
</file>

<file path=ppt/presentation.xml><?xml version="1.0" encoding="utf-8"?>
<p:presentation xmlns:p="http://schemas.openxmlformats.org/presentationml/2006/main">
  <p:sldMasterIdLst>
    <p:sldMasterId xmlns:r="http://schemas.openxmlformats.org/officeDocument/2006/relationships" id="2147483648" r:id="R70cb4787812c4ed9"/>
  </p:sldMasterIdLst>
  <p:notesMasterIdLst>
    <p:notesMasterId xmlns:r="http://schemas.openxmlformats.org/officeDocument/2006/relationships" r:id="Reca772b5ad044826"/>
  </p:notesMasterIdLst>
  <p:sldIdLst>
    <p:sldId xmlns:r="http://schemas.openxmlformats.org/officeDocument/2006/relationships" id="256" r:id="R1d9c3559667c48cb"/>
    <p:sldId xmlns:r="http://schemas.openxmlformats.org/officeDocument/2006/relationships" id="257" r:id="R58768326e94d41e0"/>
    <p:sldId xmlns:r="http://schemas.openxmlformats.org/officeDocument/2006/relationships" id="258" r:id="R41a7cc53dbe34777"/>
    <p:sldId xmlns:r="http://schemas.openxmlformats.org/officeDocument/2006/relationships" id="259" r:id="R144cfb4bec0e4a39"/>
    <p:sldId xmlns:r="http://schemas.openxmlformats.org/officeDocument/2006/relationships" id="260" r:id="R6fcf932c060b4a30"/>
    <p:sldId xmlns:r="http://schemas.openxmlformats.org/officeDocument/2006/relationships" id="261" r:id="Rae081ccb5fad49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d04682d9ca4032" /><Relationship Type="http://schemas.openxmlformats.org/officeDocument/2006/relationships/slideMaster" Target="/ppt/slideMasters/slideMaster1.xml" Id="R70cb4787812c4ed9" /><Relationship Type="http://schemas.openxmlformats.org/officeDocument/2006/relationships/notesMaster" Target="/ppt/notesMasters/notesMaster1.xml" Id="Reca772b5ad044826" /><Relationship Type="http://schemas.openxmlformats.org/officeDocument/2006/relationships/presProps" Target="/ppt/presProps.xml" Id="Ra34e4605ceae4af7" /><Relationship Type="http://schemas.openxmlformats.org/officeDocument/2006/relationships/tableStyles" Target="/ppt/tableStyles.xml" Id="R5b7d51ff77a049a9" /><Relationship Type="http://schemas.openxmlformats.org/officeDocument/2006/relationships/slide" Target="/ppt/slides/slide1.xml" Id="R1d9c3559667c48cb" /><Relationship Type="http://schemas.openxmlformats.org/officeDocument/2006/relationships/slide" Target="/ppt/slides/slide2.xml" Id="R58768326e94d41e0" /><Relationship Type="http://schemas.openxmlformats.org/officeDocument/2006/relationships/slide" Target="/ppt/slides/slide3.xml" Id="R41a7cc53dbe34777" /><Relationship Type="http://schemas.openxmlformats.org/officeDocument/2006/relationships/slide" Target="/ppt/slides/slide4.xml" Id="R144cfb4bec0e4a39" /><Relationship Type="http://schemas.openxmlformats.org/officeDocument/2006/relationships/slide" Target="/ppt/slides/slide5.xml" Id="R6fcf932c060b4a30" /><Relationship Type="http://schemas.openxmlformats.org/officeDocument/2006/relationships/slide" Target="/ppt/slides/slide6.xml" Id="Rae081ccb5fad49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0a63439a014d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af48c3c4154981" /><Relationship Type="http://schemas.openxmlformats.org/officeDocument/2006/relationships/notesMaster" Target="/ppt/notesMasters/notesMaster1.xml" Id="R1c27f26a835b48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d2edf2caf14d4d" /><Relationship Type="http://schemas.openxmlformats.org/officeDocument/2006/relationships/notesMaster" Target="/ppt/notesMasters/notesMaster1.xml" Id="Ree98268c218b4f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4e49f4a76f4426" /><Relationship Type="http://schemas.openxmlformats.org/officeDocument/2006/relationships/notesMaster" Target="/ppt/notesMasters/notesMaster1.xml" Id="R150e924e297f4a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a5fb38146f48a7" /><Relationship Type="http://schemas.openxmlformats.org/officeDocument/2006/relationships/notesMaster" Target="/ppt/notesMasters/notesMaster1.xml" Id="R4fe6efbd813f4b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fc70b0f1ec4d9e" /><Relationship Type="http://schemas.openxmlformats.org/officeDocument/2006/relationships/notesMaster" Target="/ppt/notesMasters/notesMaster1.xml" Id="R2ba010d3297440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fbed88f2e342ff" /><Relationship Type="http://schemas.openxmlformats.org/officeDocument/2006/relationships/notesMaster" Target="/ppt/notesMasters/notesMaster1.xml" Id="R46890bef1e554d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starting point is a simple observation: research often continues across several model conversations and tools, but the useful context does not always follow. self_mcp keeps a project record so that a later request can reuse earlier material. The discussion focuses on the working local prototype and its potential use in scientific work.</a:t>
            </a:r>
          </a:p>
          <a:p xmlns:a="http://schemas.openxmlformats.org/drawingml/2006/main">
            <a:r>
              <a:t/>
            </a:r>
          </a:p>
          <a:p xmlns:a="http://schemas.openxmlformats.org/drawingml/2006/main">
            <a:r>
              <a:t>Sources and scope</a:t>
            </a:r>
          </a:p>
          <a:p xmlns:a="http://schemas.openxmlformats.org/drawingml/2006/main">
            <a:r>
              <a:t>Implementation: README.md; docs/TASKS.md; src/project_knowledge.py; src/mcp_knowledge.py.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workflow difficulties observed during development. A later model call may otherwise miss a constraint, repeat earlier work or use an outdated answer. The aim is to retain enough context for people and models to continue the same research question. Whether this reduces time or improves scientific outcomes needs evaluation with real users.</a:t>
            </a:r>
          </a:p>
          <a:p xmlns:a="http://schemas.openxmlformats.org/drawingml/2006/main">
            <a:r>
              <a:t/>
            </a:r>
          </a:p>
          <a:p xmlns:a="http://schemas.openxmlformats.org/drawingml/2006/main">
            <a:r>
              <a:t>Sources and scope</a:t>
            </a:r>
          </a:p>
          <a:p xmlns:a="http://schemas.openxmlformats.org/drawingml/2006/main">
            <a:r>
              <a:t>Project evidence: docs/TASKS.md; src/task_runner.py; src/task_history.py.</a:t>
            </a:r>
          </a:p>
          <a:p xmlns:a="http://schemas.openxmlformats.org/drawingml/2006/main">
            <a:r>
              <a:t>Scientific context: Google Research, Accelerating scientific breakthroughs with an AI co-scientist, https://research.google/blog/accelerating-scientific-breakthroughs-with-an-ai-co-scientist/ (accessed 13 October 2026). This is related work, not validation of self_mcp.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stays within its project. When Project knowledge is enabled, the system retrieves relevant passages for the models working on the task. Agents receive required earlier outputs as dependencies, and review feedback can guide a revision. Saved results remain accessible to external tools through MCP. Project scoping limits which stored material retrieval can return. Remote providers still receive the context supplied in their model calls. The prototype drafts and reviews work. Researchers execute and validate scientific experiments separately.</a:t>
            </a:r>
          </a:p>
          <a:p xmlns:a="http://schemas.openxmlformats.org/drawingml/2006/main">
            <a:r>
              <a:t/>
            </a:r>
          </a:p>
          <a:p xmlns:a="http://schemas.openxmlformats.org/drawingml/2006/main">
            <a:r>
              <a:t>Sources and scope</a:t>
            </a:r>
          </a:p>
          <a:p xmlns:a="http://schemas.openxmlformats.org/drawingml/2006/main">
            <a:r>
              <a:t>Implementation: src/project_knowledge.py; src/task_runner.py; src/knowledge_sources.py; src/mcp_knowledge.py.</a:t>
            </a:r>
          </a:p>
          <a:p xmlns:a="http://schemas.openxmlformats.org/drawingml/2006/main">
            <a:r>
              <a:t>The 1,500-token limit applies to additional retrieved evidence, not to the entire prompt or response. Current retrieval uses an in-memory lexical index over JSON-backed project data, without a model call for retrieval.</a:t>
            </a:r>
          </a:p>
          <a:p xmlns:a="http://schemas.openxmlformats.org/drawingml/2006/main">
            <a:r>
              <a:t>Local synthetic benchmark recorded during implementation: 1,500 documents, 3,163,500 source characters and 40 exact-identifier queries. Cold indexing 834.85 ms, warm median retrieval 9.67 ms and p95 24.47 ms. These timings describe retrieval overhead only. Reproduce with tests/benchmark_project_knowledge.py.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follows a question about a sampling strategy. The initial request records a baseline and constraints. Models can propose an approach and critique it. A follow-up can retrieve those records, including version and review information. As work continues, the project has more material to retrieve through the same MCP connection. The stored collection grows, but model weights do not automatically learn from it. This is an illustrative scenario rather than a completed scientific experiment.</a:t>
            </a:r>
          </a:p>
          <a:p xmlns:a="http://schemas.openxmlformats.org/drawingml/2006/main">
            <a:r>
              <a:t/>
            </a:r>
          </a:p>
          <a:p xmlns:a="http://schemas.openxmlformats.org/drawingml/2006/main">
            <a:r>
              <a:t>Sources and scope</a:t>
            </a:r>
          </a:p>
          <a:p xmlns:a="http://schemas.openxmlformats.org/drawingml/2006/main">
            <a:r>
              <a:t>Implementation: src/knowledge_sources.py; src/project_knowledge.py; src/task_runner.py; docs/TASKS.md.</a:t>
            </a:r>
          </a:p>
          <a:p xmlns:a="http://schemas.openxmlformats.org/drawingml/2006/main">
            <a:r>
              <a:t>Scenario drawn from the project discussion about reward-based, non-random sampling. No experimental outcome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existing tools already combine retrieval with agents or workflows. Dust emphasizes shared company knowledge and collaborative agents. Agno provides an agent framework and runtime with MCP capabilities. Dify supports visual workflows that combine model calls with retrieval and tools. self_mcp explores a focused local workflow for a continuing research project. The combination may reduce setup and repeated context work, but a comparison of usability, cost and evidence quality would be needed to establish that benefit. Hosted collaboration is not part of the current prototype.</a:t>
            </a:r>
          </a:p>
          <a:p xmlns:a="http://schemas.openxmlformats.org/drawingml/2006/main">
            <a:r>
              <a:t/>
            </a:r>
          </a:p>
          <a:p xmlns:a="http://schemas.openxmlformats.org/drawingml/2006/main">
            <a:r>
              <a:t>Sources and scope</a:t>
            </a:r>
          </a:p>
          <a:p xmlns:a="http://schemas.openxmlformats.org/drawingml/2006/main">
            <a:r>
              <a:t>Dust: https://dust.tt/ (accessed 13 October 2026).</a:t>
            </a:r>
          </a:p>
          <a:p xmlns:a="http://schemas.openxmlformats.org/drawingml/2006/main">
            <a:r>
              <a:t>Agno: https://docs.agno.com/ (accessed 13 October 2026).</a:t>
            </a:r>
          </a:p>
          <a:p xmlns:a="http://schemas.openxmlformats.org/drawingml/2006/main">
            <a:r>
              <a:t>Dify Workflow Studio: https://www.dify.ai/workflows (accessed 13 October 2026).</a:t>
            </a:r>
          </a:p>
          <a:p xmlns:a="http://schemas.openxmlformats.org/drawingml/2006/main">
            <a:r>
              <a:t>self_mcp implementation: README.md; docs/TASKS.md. These descriptions are a brief comparison of documented focus, not an exhaustive feature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potential features in the process, with no implementation commitment or delivery order implied. Semantic retrieval may help when a question uses different words from the stored material. A knowledge graph could make relationships between claims and sources easier to inspect. Collaboration would require identities and explicit permissions. Experiment records could connect a proposal to the dataset and observations used to test it. Relevance feedback may help assess retrieval quality. These possibilities should be evaluated against the cost and complexity they add.</a:t>
            </a:r>
          </a:p>
          <a:p xmlns:a="http://schemas.openxmlformats.org/drawingml/2006/main">
            <a:r>
              <a:t/>
            </a:r>
          </a:p>
          <a:p xmlns:a="http://schemas.openxmlformats.org/drawingml/2006/main">
            <a:r>
              <a:t>Sources and scope</a:t>
            </a:r>
          </a:p>
          <a:p xmlns:a="http://schemas.openxmlformats.org/drawingml/2006/main">
            <a:r>
              <a:t>Current boundaries: docs/TASKS.md, Shared project retrieval; src/task_runner.py.</a:t>
            </a:r>
          </a:p>
          <a:p xmlns:a="http://schemas.openxmlformats.org/drawingml/2006/main">
            <a:r>
              <a:t>Knowledge graphs, semantic embeddings, hosted multi-user sharing and experiment execution are not implemented in the current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6596f0ec2d42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10e13d98864159" /><Relationship Type="http://schemas.openxmlformats.org/officeDocument/2006/relationships/slideLayout" Target="/ppt/slideLayouts/slideLayout1.xml" Id="R44b6bb9d335a4c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b6bb9d335a4c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b04622bad74588" /><Relationship Type="http://schemas.openxmlformats.org/officeDocument/2006/relationships/notesSlide" Target="/ppt/notesSlides/notesSlide1.xml" Id="R8c174d9336a748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164358809143e6" /><Relationship Type="http://schemas.openxmlformats.org/officeDocument/2006/relationships/notesSlide" Target="/ppt/notesSlides/notesSlide2.xml" Id="R4830f881737044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ac7b439dc84c4d" /><Relationship Type="http://schemas.openxmlformats.org/officeDocument/2006/relationships/notesSlide" Target="/ppt/notesSlides/notesSlide3.xml" Id="R0fe351e6c0f844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1ed253d4264c71" /><Relationship Type="http://schemas.openxmlformats.org/officeDocument/2006/relationships/notesSlide" Target="/ppt/notesSlides/notesSlide4.xml" Id="R7cfdeec886f545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ad9a76c2924ad8" /><Relationship Type="http://schemas.openxmlformats.org/officeDocument/2006/relationships/notesSlide" Target="/ppt/notesSlides/notesSlide5.xml" Id="Rf6349830b26e40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5ed4411db94bbf" /><Relationship Type="http://schemas.openxmlformats.org/officeDocument/2006/relationships/notesSlide" Target="/ppt/notesSlides/notesSlide6.xml" Id="R1ed0ffd7f19042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FA727063-41B3-403A-A979-193293D744D6}"/>
              </a:ext>
            </a:extLst>
          </p:cNvPr>
          <p:cNvSpPr>
            <a:spLocks xmlns:a="http://schemas.openxmlformats.org/drawingml/2006/main" noGrp="1"/>
          </p:cNvSpPr>
          <p:nvPr/>
        </p:nvSpPr>
        <p:spPr>
          <a:xfrm xmlns:a="http://schemas.openxmlformats.org/drawingml/2006/main">
            <a:off x="762000" y="7620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334A68"/>
                </a:solidFill>
                <a:latin typeface="Helvetica Neue"/>
                <a:ea typeface="Helvetica Neue"/>
                <a:cs typeface="Helvetica Neue"/>
              </a:defRPr>
            </a:pPr>
            <a:r>
              <a:rPr sz="2175" b="0">
                <a:solidFill>
                  <a:srgbClr val="334A68"/>
                </a:solidFill>
                <a:latin typeface="Helvetica Neue"/>
                <a:ea typeface="Helvetica Neue"/>
                <a:cs typeface="Helvetica Neue"/>
              </a:rPr>
              <a:t>self_mcp</a:t>
            </a:r>
          </a:p>
        </p:txBody>
      </p:sp>
      <p:sp>
        <p:nvSpPr>
          <p:cNvPr id="2" name="cover-title">
            <a:extLst xmlns:a="http://schemas.openxmlformats.org/drawingml/2006/main">
              <a:ext uri="{FF2B5EF4-FFF2-40B4-BE49-F238E27FC236}">
                <a16:creationId xmlns:a16="http://schemas.microsoft.com/office/drawing/2014/main" id="{F6737C28-84FC-467E-A7FB-E983750CD6E9}"/>
              </a:ext>
            </a:extLst>
          </p:cNvPr>
          <p:cNvSpPr>
            <a:spLocks xmlns:a="http://schemas.openxmlformats.org/drawingml/2006/main" noGrp="1"/>
          </p:cNvSpPr>
          <p:nvPr/>
        </p:nvSpPr>
        <p:spPr>
          <a:xfrm xmlns:a="http://schemas.openxmlformats.org/drawingml/2006/main">
            <a:off x="762000" y="21145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30343B"/>
                </a:solidFill>
                <a:latin typeface="Helvetica Neue"/>
                <a:ea typeface="Helvetica Neue"/>
                <a:cs typeface="Helvetica Neue"/>
              </a:defRPr>
            </a:pPr>
            <a:r>
              <a:rPr sz="3900" b="1">
                <a:solidFill>
                  <a:srgbClr val="30343B"/>
                </a:solidFill>
                <a:latin typeface="Helvetica Neue"/>
                <a:ea typeface="Helvetica Neue"/>
                <a:cs typeface="Helvetica Neue"/>
              </a:rPr>
              <a:t>Shared project knowledge</a:t>
            </a:r>
          </a:p>
          <a:p xmlns:a="http://schemas.openxmlformats.org/drawingml/2006/main">
            <a:pPr>
              <a:defRPr sz="3900" b="1">
                <a:solidFill>
                  <a:srgbClr val="30343B"/>
                </a:solidFill>
                <a:latin typeface="Helvetica Neue"/>
                <a:ea typeface="Helvetica Neue"/>
                <a:cs typeface="Helvetica Neue"/>
              </a:defRPr>
            </a:pPr>
            <a:r>
              <a:rPr sz="3900" b="1">
                <a:solidFill>
                  <a:srgbClr val="30343B"/>
                </a:solidFill>
                <a:latin typeface="Helvetica Neue"/>
                <a:ea typeface="Helvetica Neue"/>
                <a:cs typeface="Helvetica Neue"/>
              </a:rPr>
              <a:t>for AI-assisted research</a:t>
            </a:r>
          </a:p>
        </p:txBody>
      </p:sp>
      <p:sp>
        <p:nvSpPr>
          <p:cNvPr id="3" name="text">
            <a:extLst xmlns:a="http://schemas.openxmlformats.org/drawingml/2006/main">
              <a:ext uri="{FF2B5EF4-FFF2-40B4-BE49-F238E27FC236}">
                <a16:creationId xmlns:a16="http://schemas.microsoft.com/office/drawing/2014/main" id="{7DE7435B-3BD7-49B9-8339-E3BE04B527A5}"/>
              </a:ext>
            </a:extLst>
          </p:cNvPr>
          <p:cNvSpPr>
            <a:spLocks xmlns:a="http://schemas.openxmlformats.org/drawingml/2006/main" noGrp="1"/>
          </p:cNvSpPr>
          <p:nvPr/>
        </p:nvSpPr>
        <p:spPr>
          <a:xfrm xmlns:a="http://schemas.openxmlformats.org/drawingml/2006/main">
            <a:off x="762000" y="39909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626970"/>
                </a:solidFill>
                <a:latin typeface="Helvetica Neue"/>
                <a:ea typeface="Helvetica Neue"/>
                <a:cs typeface="Helvetica Neue"/>
              </a:defRPr>
            </a:pPr>
            <a:r>
              <a:rPr sz="2250" b="0">
                <a:solidFill>
                  <a:srgbClr val="626970"/>
                </a:solidFill>
                <a:latin typeface="Helvetica Neue"/>
                <a:ea typeface="Helvetica Neue"/>
                <a:cs typeface="Helvetica Neue"/>
              </a:rPr>
              <a:t>Using the same project context across models and tools</a:t>
            </a:r>
          </a:p>
        </p:txBody>
      </p:sp>
      <p:sp>
        <p:nvSpPr>
          <p:cNvPr id="4" name="text">
            <a:extLst xmlns:a="http://schemas.openxmlformats.org/drawingml/2006/main">
              <a:ext uri="{FF2B5EF4-FFF2-40B4-BE49-F238E27FC236}">
                <a16:creationId xmlns:a16="http://schemas.microsoft.com/office/drawing/2014/main" id="{AC32914B-A813-43C8-91F1-F004F3C91317}"/>
              </a:ext>
            </a:extLst>
          </p:cNvPr>
          <p:cNvSpPr>
            <a:spLocks xmlns:a="http://schemas.openxmlformats.org/drawingml/2006/main" noGrp="1"/>
          </p:cNvSpPr>
          <p:nvPr/>
        </p:nvSpPr>
        <p:spPr>
          <a:xfrm xmlns:a="http://schemas.openxmlformats.org/drawingml/2006/main">
            <a:off x="762000" y="5610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343B"/>
                </a:solidFill>
                <a:latin typeface="Helvetica Neue"/>
                <a:ea typeface="Helvetica Neue"/>
                <a:cs typeface="Helvetica Neue"/>
              </a:defRPr>
            </a:pPr>
            <a:r>
              <a:rPr sz="2025" b="0">
                <a:solidFill>
                  <a:srgbClr val="30343B"/>
                </a:solidFill>
                <a:latin typeface="Helvetica Neue"/>
                <a:ea typeface="Helvetica Neue"/>
                <a:cs typeface="Helvetica Neue"/>
              </a:rPr>
              <a:t>Can previous work stay useful when the model or tool changes?</a:t>
            </a:r>
          </a:p>
        </p:txBody>
      </p:sp>
    </p:spTree>
    <p:extLst>
      <p:ext uri="{BB962C8B-B14F-4D97-AF65-F5344CB8AC3E}">
        <p14:creationId xmlns:p14="http://schemas.microsoft.com/office/powerpoint/2010/main" val="1972402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47A4A31-BB0C-4A39-A063-E9650A8DAD5C}"/>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Why project context matters</a:t>
            </a:r>
          </a:p>
        </p:txBody>
      </p:sp>
      <p:sp>
        <p:nvSpPr>
          <p:cNvPr id="2" name="page-number">
            <a:extLst xmlns:a="http://schemas.openxmlformats.org/drawingml/2006/main">
              <a:ext uri="{FF2B5EF4-FFF2-40B4-BE49-F238E27FC236}">
                <a16:creationId xmlns:a16="http://schemas.microsoft.com/office/drawing/2014/main" id="{4CB3D4E1-3A15-46ED-87F2-183B8811D6B7}"/>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2</a:t>
            </a:r>
          </a:p>
        </p:txBody>
      </p:sp>
      <p:sp>
        <p:nvSpPr>
          <p:cNvPr id="3" name="text">
            <a:extLst xmlns:a="http://schemas.openxmlformats.org/drawingml/2006/main">
              <a:ext uri="{FF2B5EF4-FFF2-40B4-BE49-F238E27FC236}">
                <a16:creationId xmlns:a16="http://schemas.microsoft.com/office/drawing/2014/main" id="{3960DC4C-654F-497D-ADA6-531D451496D3}"/>
              </a:ext>
            </a:extLst>
          </p:cNvPr>
          <p:cNvSpPr>
            <a:spLocks xmlns:a="http://schemas.openxmlformats.org/drawingml/2006/main" noGrp="1"/>
          </p:cNvSpPr>
          <p:nvPr/>
        </p:nvSpPr>
        <p:spPr>
          <a:xfrm xmlns:a="http://schemas.openxmlformats.org/drawingml/2006/main">
            <a:off x="762000" y="13906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6970"/>
                </a:solidFill>
                <a:latin typeface="Helvetica Neue"/>
                <a:ea typeface="Helvetica Neue"/>
                <a:cs typeface="Helvetica Neue"/>
              </a:defRPr>
            </a:pPr>
            <a:r>
              <a:rPr sz="2100" b="0">
                <a:solidFill>
                  <a:srgbClr val="626970"/>
                </a:solidFill>
                <a:latin typeface="Helvetica Neue"/>
                <a:ea typeface="Helvetica Neue"/>
                <a:cs typeface="Helvetica Neue"/>
              </a:rPr>
              <a:t>A research question usually develops over several rounds of work.</a:t>
            </a:r>
          </a:p>
        </p:txBody>
      </p:sp>
      <p:graphicFrame>
        <p:nvGraphicFramePr>
          <p:cNvPr id="9" name=""/>
          <p:cNvGraphicFramePr/>
          <p:nvPr/>
        </p:nvGraphicFramePr>
        <p:xfrm>
          <a:off xmlns:a="http://schemas.openxmlformats.org/drawingml/2006/main" x="762000" y="2181225"/>
          <a:ext xmlns:a="http://schemas.openxmlformats.org/drawingml/2006/main" cx="10668000" cy="3143250"/>
        </p:xfrm>
        <a:graphic xmlns:a="http://schemas.openxmlformats.org/drawingml/2006/main">
          <a:graphicData uri="http://schemas.openxmlformats.org/drawingml/2006/table">
            <a:tbl>
              <a:tblPr firstRow="0" bandRow="0"/>
              <a:tblGrid>
                <a:gridCol w="5105400"/>
                <a:gridCol w="5562600"/>
              </a:tblGrid>
              <a:tr h="628650">
                <a:tc>
                  <a:txBody>
                    <a:bodyPr lIns="152400" tIns="114300" rIns="152400" bIns="114300">
                      <a:noAutofit/>
                    </a:bodyPr>
                    <a:lstStyle/>
                    <a:p>
                      <a:r>
                        <a:rPr sz="1800" b="1">
                          <a:solidFill>
                            <a:srgbClr val="30343B"/>
                          </a:solidFill>
                          <a:latin typeface="Helvetica Neue"/>
                          <a:ea typeface="Helvetica Neue"/>
                          <a:cs typeface="Helvetica Neue"/>
                        </a:rPr>
                        <a:t>Common difficulty</a:t>
                      </a:r>
                    </a:p>
                  </a:txBody>
                  <a:tcPr marL="91440" marR="91440" marT="45720" marB="45720" anchor="ctr">
                    <a:solidFill>
                      <a:srgbClr val="F0F2F4"/>
                    </a:solidFill>
                  </a:tcPr>
                </a:tc>
                <a:tc>
                  <a:txBody>
                    <a:bodyPr lIns="152400" tIns="114300" rIns="152400" bIns="114300">
                      <a:noAutofit/>
                    </a:bodyPr>
                    <a:lstStyle/>
                    <a:p>
                      <a:r>
                        <a:rPr sz="1800" b="1">
                          <a:solidFill>
                            <a:srgbClr val="30343B"/>
                          </a:solidFill>
                          <a:latin typeface="Helvetica Neue"/>
                          <a:ea typeface="Helvetica Neue"/>
                          <a:cs typeface="Helvetica Neue"/>
                        </a:rPr>
                        <a:t>Approach in self_mcp</a:t>
                      </a:r>
                    </a:p>
                  </a:txBody>
                  <a:tcPr marL="91440" marR="91440" marT="45720" marB="45720" anchor="ctr">
                    <a:solidFill>
                      <a:srgbClr val="F0F2F4"/>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Repeating the same background</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Retrieve relevant project notes</a:t>
                      </a:r>
                    </a:p>
                  </a:txBody>
                  <a:tcPr marL="91440" marR="91440" marT="45720" marB="45720" anchor="ctr">
                    <a:solidFill>
                      <a:srgbClr val="FFFFFF"/>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Moving work between models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Share drafts and review feedback</a:t>
                      </a:r>
                    </a:p>
                  </a:txBody>
                  <a:tcPr marL="91440" marR="91440" marT="45720" marB="45720" anchor="ctr">
                    <a:solidFill>
                      <a:srgbClr val="FFFFFF"/>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Keeping track of earlier answers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Retain source and version information</a:t>
                      </a:r>
                    </a:p>
                  </a:txBody>
                  <a:tcPr marL="91440" marR="91440" marT="45720" marB="45720" anchor="ctr">
                    <a:solidFill>
                      <a:srgbClr val="FFFFFF"/>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Pasting large collections of notes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Retrieve passages within a token budget</a:t>
                      </a:r>
                    </a:p>
                  </a:txBody>
                  <a:tcPr marL="91440" marR="91440" marT="45720" marB="45720" anchor="ctr">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2A02E3C7-2A80-4CA6-BB8F-9B0105380CE7}"/>
              </a:ext>
            </a:extLst>
          </p:cNvPr>
          <p:cNvSpPr>
            <a:spLocks xmlns:a="http://schemas.openxmlformats.org/drawingml/2006/main" noGrp="1"/>
          </p:cNvSpPr>
          <p:nvPr/>
        </p:nvSpPr>
        <p:spPr>
          <a:xfrm xmlns:a="http://schemas.openxmlformats.org/drawingml/2006/main">
            <a:off x="762000" y="5762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Keeping assumptions and methods visible helps researchers check the work.</a:t>
            </a:r>
          </a:p>
        </p:txBody>
      </p:sp>
    </p:spTree>
    <p:extLst>
      <p:ext uri="{BB962C8B-B14F-4D97-AF65-F5344CB8AC3E}">
        <p14:creationId xmlns:p14="http://schemas.microsoft.com/office/powerpoint/2010/main" val="10094872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BE16732-A379-4524-8A4D-D5C8F78B55B0}"/>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How the workflow fits together</a:t>
            </a:r>
          </a:p>
        </p:txBody>
      </p:sp>
      <p:sp>
        <p:nvSpPr>
          <p:cNvPr id="2" name="page-number">
            <a:extLst xmlns:a="http://schemas.openxmlformats.org/drawingml/2006/main">
              <a:ext uri="{FF2B5EF4-FFF2-40B4-BE49-F238E27FC236}">
                <a16:creationId xmlns:a16="http://schemas.microsoft.com/office/drawing/2014/main" id="{12DA2D7B-92FF-4078-8822-0D1C0C3BE8D2}"/>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3</a:t>
            </a:r>
          </a:p>
        </p:txBody>
      </p:sp>
      <p:sp>
        <p:nvSpPr>
          <p:cNvPr id="3" name="text">
            <a:extLst xmlns:a="http://schemas.openxmlformats.org/drawingml/2006/main">
              <a:ext uri="{FF2B5EF4-FFF2-40B4-BE49-F238E27FC236}">
                <a16:creationId xmlns:a16="http://schemas.microsoft.com/office/drawing/2014/main" id="{335F84B2-BDDB-428A-966A-E5076BCBD979}"/>
              </a:ext>
            </a:extLst>
          </p:cNvPr>
          <p:cNvSpPr>
            <a:spLocks xmlns:a="http://schemas.openxmlformats.org/drawingml/2006/main" noGrp="1"/>
          </p:cNvSpPr>
          <p:nvPr/>
        </p:nvSpPr>
        <p:spPr>
          <a:xfrm xmlns:a="http://schemas.openxmlformats.org/drawingml/2006/main">
            <a:off x="857250" y="1790700"/>
            <a:ext cx="10363200" cy="300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Retrieve relevant context from the current project.</a:t>
            </a:r>
          </a:p>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Assign parts of the request to configured models.</a:t>
            </a:r>
          </a:p>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Pass drafts and review feedback between agents.</a:t>
            </a:r>
          </a:p>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Save the outputs so the next request can reuse them.</a:t>
            </a:r>
          </a:p>
        </p:txBody>
      </p:sp>
      <p:sp>
        <p:nvSpPr>
          <p:cNvPr id="4" name="text">
            <a:extLst xmlns:a="http://schemas.openxmlformats.org/drawingml/2006/main">
              <a:ext uri="{FF2B5EF4-FFF2-40B4-BE49-F238E27FC236}">
                <a16:creationId xmlns:a16="http://schemas.microsoft.com/office/drawing/2014/main" id="{93AC197E-94B2-4209-A1C7-4D044FD3F4B7}"/>
              </a:ext>
            </a:extLst>
          </p:cNvPr>
          <p:cNvSpPr>
            <a:spLocks xmlns:a="http://schemas.openxmlformats.org/drawingml/2006/main" noGrp="1"/>
          </p:cNvSpPr>
          <p:nvPr/>
        </p:nvSpPr>
        <p:spPr>
          <a:xfrm xmlns:a="http://schemas.openxmlformats.org/drawingml/2006/main">
            <a:off x="762000" y="5038725"/>
            <a:ext cx="10620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343B"/>
                </a:solidFill>
                <a:latin typeface="Helvetica Neue"/>
                <a:ea typeface="Helvetica Neue"/>
                <a:cs typeface="Helvetica Neue"/>
              </a:defRPr>
            </a:pPr>
            <a:r>
              <a:rPr sz="2025" b="0">
                <a:solidFill>
                  <a:srgbClr val="30343B"/>
                </a:solidFill>
                <a:latin typeface="Helvetica Neue"/>
                <a:ea typeface="Helvetica Neue"/>
                <a:cs typeface="Helvetica Neue"/>
              </a:rPr>
              <a:t>MCP (Model Context Protocol) lets other tools access the same project knowledge.</a:t>
            </a:r>
          </a:p>
        </p:txBody>
      </p:sp>
      <p:sp>
        <p:nvSpPr>
          <p:cNvPr id="5" name="text">
            <a:extLst xmlns:a="http://schemas.openxmlformats.org/drawingml/2006/main">
              <a:ext uri="{FF2B5EF4-FFF2-40B4-BE49-F238E27FC236}">
                <a16:creationId xmlns:a16="http://schemas.microsoft.com/office/drawing/2014/main" id="{74FC3359-AA57-4728-BCD0-79F4FF985E6A}"/>
              </a:ext>
            </a:extLst>
          </p:cNvPr>
          <p:cNvSpPr>
            <a:spLocks xmlns:a="http://schemas.openxmlformats.org/drawingml/2006/main" noGrp="1"/>
          </p:cNvSpPr>
          <p:nvPr/>
        </p:nvSpPr>
        <p:spPr>
          <a:xfrm xmlns:a="http://schemas.openxmlformats.org/drawingml/2006/main">
            <a:off x="762000" y="6038850"/>
            <a:ext cx="1038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Current retrieval uses keyword ranking and adds up to 1,500 context tokens per model call.</a:t>
            </a:r>
          </a:p>
        </p:txBody>
      </p:sp>
    </p:spTree>
    <p:extLst>
      <p:ext uri="{BB962C8B-B14F-4D97-AF65-F5344CB8AC3E}">
        <p14:creationId xmlns:p14="http://schemas.microsoft.com/office/powerpoint/2010/main" val="17717169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2CBA1A4-FE0D-4ACB-9870-9974F39B9A1B}"/>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How knowledge builds up during a project</a:t>
            </a:r>
          </a:p>
        </p:txBody>
      </p:sp>
      <p:sp>
        <p:nvSpPr>
          <p:cNvPr id="2" name="page-number">
            <a:extLst xmlns:a="http://schemas.openxmlformats.org/drawingml/2006/main">
              <a:ext uri="{FF2B5EF4-FFF2-40B4-BE49-F238E27FC236}">
                <a16:creationId xmlns:a16="http://schemas.microsoft.com/office/drawing/2014/main" id="{4CA2D094-CE33-4074-99BF-05DC52300255}"/>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4</a:t>
            </a:r>
          </a:p>
        </p:txBody>
      </p:sp>
      <p:sp>
        <p:nvSpPr>
          <p:cNvPr id="3" name="text">
            <a:extLst xmlns:a="http://schemas.openxmlformats.org/drawingml/2006/main">
              <a:ext uri="{FF2B5EF4-FFF2-40B4-BE49-F238E27FC236}">
                <a16:creationId xmlns:a16="http://schemas.microsoft.com/office/drawing/2014/main" id="{0828FE44-4B0A-4B78-B380-9B0A77ED4452}"/>
              </a:ext>
            </a:extLst>
          </p:cNvPr>
          <p:cNvSpPr>
            <a:spLocks xmlns:a="http://schemas.openxmlformats.org/drawingml/2006/main" noGrp="1"/>
          </p:cNvSpPr>
          <p:nvPr/>
        </p:nvSpPr>
        <p:spPr>
          <a:xfrm xmlns:a="http://schemas.openxmlformats.org/drawingml/2006/main">
            <a:off x="762000" y="14097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6970"/>
                </a:solidFill>
                <a:latin typeface="Helvetica Neue"/>
                <a:ea typeface="Helvetica Neue"/>
                <a:cs typeface="Helvetica Neue"/>
              </a:defRPr>
            </a:pPr>
            <a:r>
              <a:rPr sz="2100" b="0">
                <a:solidFill>
                  <a:srgbClr val="626970"/>
                </a:solidFill>
                <a:latin typeface="Helvetica Neue"/>
                <a:ea typeface="Helvetica Neue"/>
                <a:cs typeface="Helvetica Neue"/>
              </a:rPr>
              <a:t>Example: exploring a sampling strategy</a:t>
            </a:r>
          </a:p>
        </p:txBody>
      </p:sp>
      <p:sp>
        <p:nvSpPr>
          <p:cNvPr id="4" name="text">
            <a:extLst xmlns:a="http://schemas.openxmlformats.org/drawingml/2006/main">
              <a:ext uri="{FF2B5EF4-FFF2-40B4-BE49-F238E27FC236}">
                <a16:creationId xmlns:a16="http://schemas.microsoft.com/office/drawing/2014/main" id="{98DB4437-DFDE-4992-AA6A-4D282697A9ED}"/>
              </a:ext>
            </a:extLst>
          </p:cNvPr>
          <p:cNvSpPr>
            <a:spLocks xmlns:a="http://schemas.openxmlformats.org/drawingml/2006/main" noGrp="1"/>
          </p:cNvSpPr>
          <p:nvPr/>
        </p:nvSpPr>
        <p:spPr>
          <a:xfrm xmlns:a="http://schemas.openxmlformats.org/drawingml/2006/main">
            <a:off x="762000" y="2314575"/>
            <a:ext cx="2914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0343B"/>
                </a:solidFill>
                <a:latin typeface="Helvetica Neue"/>
                <a:ea typeface="Helvetica Neue"/>
                <a:cs typeface="Helvetica Neue"/>
              </a:defRPr>
            </a:pPr>
            <a:r>
              <a:rPr sz="2175" b="1">
                <a:solidFill>
                  <a:srgbClr val="30343B"/>
                </a:solidFill>
                <a:latin typeface="Helvetica Neue"/>
                <a:ea typeface="Helvetica Neue"/>
                <a:cs typeface="Helvetica Neue"/>
              </a:rPr>
              <a:t>Initial question</a:t>
            </a:r>
          </a:p>
        </p:txBody>
      </p:sp>
      <p:sp>
        <p:nvSpPr>
          <p:cNvPr id="5" name="text">
            <a:extLst xmlns:a="http://schemas.openxmlformats.org/drawingml/2006/main">
              <a:ext uri="{FF2B5EF4-FFF2-40B4-BE49-F238E27FC236}">
                <a16:creationId xmlns:a16="http://schemas.microsoft.com/office/drawing/2014/main" id="{B96FD787-C105-4B27-B88C-D1BB76EA8F63}"/>
              </a:ext>
            </a:extLst>
          </p:cNvPr>
          <p:cNvSpPr>
            <a:spLocks xmlns:a="http://schemas.openxmlformats.org/drawingml/2006/main" noGrp="1"/>
          </p:cNvSpPr>
          <p:nvPr/>
        </p:nvSpPr>
        <p:spPr>
          <a:xfrm xmlns:a="http://schemas.openxmlformats.org/drawingml/2006/main">
            <a:off x="4010025" y="2314575"/>
            <a:ext cx="7419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Save the sampling goal, constraints and baseline.</a:t>
            </a:r>
          </a:p>
        </p:txBody>
      </p:sp>
      <p:sp>
        <p:nvSpPr>
          <p:cNvPr id="6" name="text">
            <a:extLst xmlns:a="http://schemas.openxmlformats.org/drawingml/2006/main">
              <a:ext uri="{FF2B5EF4-FFF2-40B4-BE49-F238E27FC236}">
                <a16:creationId xmlns:a16="http://schemas.microsoft.com/office/drawing/2014/main" id="{619694EC-A571-435B-A11B-01944CF6ED59}"/>
              </a:ext>
            </a:extLst>
          </p:cNvPr>
          <p:cNvSpPr>
            <a:spLocks xmlns:a="http://schemas.openxmlformats.org/drawingml/2006/main" noGrp="1"/>
          </p:cNvSpPr>
          <p:nvPr/>
        </p:nvSpPr>
        <p:spPr>
          <a:xfrm xmlns:a="http://schemas.openxmlformats.org/drawingml/2006/main">
            <a:off x="762000" y="3314700"/>
            <a:ext cx="2914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0343B"/>
                </a:solidFill>
                <a:latin typeface="Helvetica Neue"/>
                <a:ea typeface="Helvetica Neue"/>
                <a:cs typeface="Helvetica Neue"/>
              </a:defRPr>
            </a:pPr>
            <a:r>
              <a:rPr sz="2175" b="1">
                <a:solidFill>
                  <a:srgbClr val="30343B"/>
                </a:solidFill>
                <a:latin typeface="Helvetica Neue"/>
                <a:ea typeface="Helvetica Neue"/>
                <a:cs typeface="Helvetica Neue"/>
              </a:rPr>
              <a:t>Draft and review</a:t>
            </a:r>
          </a:p>
        </p:txBody>
      </p:sp>
      <p:sp>
        <p:nvSpPr>
          <p:cNvPr id="7" name="text">
            <a:extLst xmlns:a="http://schemas.openxmlformats.org/drawingml/2006/main">
              <a:ext uri="{FF2B5EF4-FFF2-40B4-BE49-F238E27FC236}">
                <a16:creationId xmlns:a16="http://schemas.microsoft.com/office/drawing/2014/main" id="{34055C87-81DA-4CFC-A0BF-19D74645204C}"/>
              </a:ext>
            </a:extLst>
          </p:cNvPr>
          <p:cNvSpPr>
            <a:spLocks xmlns:a="http://schemas.openxmlformats.org/drawingml/2006/main" noGrp="1"/>
          </p:cNvSpPr>
          <p:nvPr/>
        </p:nvSpPr>
        <p:spPr>
          <a:xfrm xmlns:a="http://schemas.openxmlformats.org/drawingml/2006/main">
            <a:off x="4010025" y="3314700"/>
            <a:ext cx="7419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Keep the proposed method and feedback from other agents.</a:t>
            </a:r>
          </a:p>
        </p:txBody>
      </p:sp>
      <p:sp>
        <p:nvSpPr>
          <p:cNvPr id="8" name="text">
            <a:extLst xmlns:a="http://schemas.openxmlformats.org/drawingml/2006/main">
              <a:ext uri="{FF2B5EF4-FFF2-40B4-BE49-F238E27FC236}">
                <a16:creationId xmlns:a16="http://schemas.microsoft.com/office/drawing/2014/main" id="{2F234C5A-50EE-4709-8901-EDB02049B999}"/>
              </a:ext>
            </a:extLst>
          </p:cNvPr>
          <p:cNvSpPr>
            <a:spLocks xmlns:a="http://schemas.openxmlformats.org/drawingml/2006/main" noGrp="1"/>
          </p:cNvSpPr>
          <p:nvPr/>
        </p:nvSpPr>
        <p:spPr>
          <a:xfrm xmlns:a="http://schemas.openxmlformats.org/drawingml/2006/main">
            <a:off x="762000" y="4314825"/>
            <a:ext cx="2914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0343B"/>
                </a:solidFill>
                <a:latin typeface="Helvetica Neue"/>
                <a:ea typeface="Helvetica Neue"/>
                <a:cs typeface="Helvetica Neue"/>
              </a:defRPr>
            </a:pPr>
            <a:r>
              <a:rPr sz="2175" b="1">
                <a:solidFill>
                  <a:srgbClr val="30343B"/>
                </a:solidFill>
                <a:latin typeface="Helvetica Neue"/>
                <a:ea typeface="Helvetica Neue"/>
                <a:cs typeface="Helvetica Neue"/>
              </a:rPr>
              <a:t>Follow-up work</a:t>
            </a:r>
          </a:p>
        </p:txBody>
      </p:sp>
      <p:sp>
        <p:nvSpPr>
          <p:cNvPr id="9" name="text">
            <a:extLst xmlns:a="http://schemas.openxmlformats.org/drawingml/2006/main">
              <a:ext uri="{FF2B5EF4-FFF2-40B4-BE49-F238E27FC236}">
                <a16:creationId xmlns:a16="http://schemas.microsoft.com/office/drawing/2014/main" id="{8D07308F-8A26-47F5-A9E0-1C14E5878F0B}"/>
              </a:ext>
            </a:extLst>
          </p:cNvPr>
          <p:cNvSpPr>
            <a:spLocks xmlns:a="http://schemas.openxmlformats.org/drawingml/2006/main" noGrp="1"/>
          </p:cNvSpPr>
          <p:nvPr/>
        </p:nvSpPr>
        <p:spPr>
          <a:xfrm xmlns:a="http://schemas.openxmlformats.org/drawingml/2006/main">
            <a:off x="4010025" y="4314825"/>
            <a:ext cx="7419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Reuse those records when revising the method or asking a new question.</a:t>
            </a:r>
          </a:p>
        </p:txBody>
      </p:sp>
      <p:sp>
        <p:nvSpPr>
          <p:cNvPr id="10" name="text">
            <a:extLst xmlns:a="http://schemas.openxmlformats.org/drawingml/2006/main">
              <a:ext uri="{FF2B5EF4-FFF2-40B4-BE49-F238E27FC236}">
                <a16:creationId xmlns:a16="http://schemas.microsoft.com/office/drawing/2014/main" id="{FFD111B2-4359-4F60-B4DA-E21165E20A2E}"/>
              </a:ext>
            </a:extLst>
          </p:cNvPr>
          <p:cNvSpPr>
            <a:spLocks xmlns:a="http://schemas.openxmlformats.org/drawingml/2006/main" noGrp="1"/>
          </p:cNvSpPr>
          <p:nvPr/>
        </p:nvSpPr>
        <p:spPr>
          <a:xfrm xmlns:a="http://schemas.openxmlformats.org/drawingml/2006/main">
            <a:off x="762000" y="5572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34A68"/>
                </a:solidFill>
                <a:latin typeface="Helvetica Neue"/>
                <a:ea typeface="Helvetica Neue"/>
                <a:cs typeface="Helvetica Neue"/>
              </a:defRPr>
            </a:pPr>
            <a:r>
              <a:rPr sz="2025" b="0">
                <a:solidFill>
                  <a:srgbClr val="334A68"/>
                </a:solidFill>
                <a:latin typeface="Helvetica Neue"/>
                <a:ea typeface="Helvetica Neue"/>
                <a:cs typeface="Helvetica Neue"/>
              </a:rPr>
              <a:t>Saved outputs remain searchable through the project’s MCP connection.</a:t>
            </a:r>
          </a:p>
        </p:txBody>
      </p:sp>
      <p:sp>
        <p:nvSpPr>
          <p:cNvPr id="11" name="text">
            <a:extLst xmlns:a="http://schemas.openxmlformats.org/drawingml/2006/main">
              <a:ext uri="{FF2B5EF4-FFF2-40B4-BE49-F238E27FC236}">
                <a16:creationId xmlns:a16="http://schemas.microsoft.com/office/drawing/2014/main" id="{54CFBC4D-8BC7-41A8-99D4-E6A392821E7C}"/>
              </a:ext>
            </a:extLst>
          </p:cNvPr>
          <p:cNvSpPr>
            <a:spLocks xmlns:a="http://schemas.openxmlformats.org/drawingml/2006/main" noGrp="1"/>
          </p:cNvSpPr>
          <p:nvPr/>
        </p:nvSpPr>
        <p:spPr>
          <a:xfrm xmlns:a="http://schemas.openxmlformats.org/drawingml/2006/main">
            <a:off x="762000" y="6315075"/>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26970"/>
                </a:solidFill>
                <a:latin typeface="Helvetica Neue"/>
                <a:ea typeface="Helvetica Neue"/>
                <a:cs typeface="Helvetica Neue"/>
              </a:defRPr>
            </a:pPr>
            <a:r>
              <a:rPr sz="1575" b="0">
                <a:solidFill>
                  <a:srgbClr val="626970"/>
                </a:solidFill>
                <a:latin typeface="Helvetica Neue"/>
                <a:ea typeface="Helvetica Neue"/>
                <a:cs typeface="Helvetica Neue"/>
              </a:rPr>
              <a:t>Generated work still needs researcher review and experimental validation.</a:t>
            </a:r>
          </a:p>
        </p:txBody>
      </p:sp>
    </p:spTree>
    <p:extLst>
      <p:ext uri="{BB962C8B-B14F-4D97-AF65-F5344CB8AC3E}">
        <p14:creationId xmlns:p14="http://schemas.microsoft.com/office/powerpoint/2010/main" val="12284442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B8F580F-63D7-4411-A41C-56059EF6B9D4}"/>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Related tools and the project’s focus</a:t>
            </a:r>
          </a:p>
        </p:txBody>
      </p:sp>
      <p:sp>
        <p:nvSpPr>
          <p:cNvPr id="2" name="page-number">
            <a:extLst xmlns:a="http://schemas.openxmlformats.org/drawingml/2006/main">
              <a:ext uri="{FF2B5EF4-FFF2-40B4-BE49-F238E27FC236}">
                <a16:creationId xmlns:a16="http://schemas.microsoft.com/office/drawing/2014/main" id="{3573A943-E540-403C-BC12-F34B0FDAA785}"/>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5</a:t>
            </a:r>
          </a:p>
        </p:txBody>
      </p:sp>
      <p:graphicFrame>
        <p:nvGraphicFramePr>
          <p:cNvPr id="8" name=""/>
          <p:cNvGraphicFramePr/>
          <p:nvPr/>
        </p:nvGraphicFramePr>
        <p:xfrm>
          <a:off xmlns:a="http://schemas.openxmlformats.org/drawingml/2006/main" x="762000" y="1752600"/>
          <a:ext xmlns:a="http://schemas.openxmlformats.org/drawingml/2006/main" cx="10668000" cy="2867025"/>
        </p:xfrm>
        <a:graphic xmlns:a="http://schemas.openxmlformats.org/drawingml/2006/main">
          <a:graphicData uri="http://schemas.openxmlformats.org/drawingml/2006/table">
            <a:tbl>
              <a:tblPr firstRow="0" bandRow="0"/>
              <a:tblGrid>
                <a:gridCol w="2190750"/>
                <a:gridCol w="8477250"/>
              </a:tblGrid>
              <a:tr h="716756">
                <a:tc>
                  <a:txBody>
                    <a:bodyPr lIns="152400" tIns="114300" rIns="152400" bIns="114300">
                      <a:noAutofit/>
                    </a:bodyPr>
                    <a:lstStyle/>
                    <a:p>
                      <a:r>
                        <a:rPr sz="1800" b="1">
                          <a:solidFill>
                            <a:srgbClr val="30343B"/>
                          </a:solidFill>
                          <a:latin typeface="Helvetica Neue"/>
                          <a:ea typeface="Helvetica Neue"/>
                          <a:cs typeface="Helvetica Neue"/>
                        </a:rPr>
                        <a:t>Tool</a:t>
                      </a:r>
                    </a:p>
                  </a:txBody>
                  <a:tcPr marL="91440" marR="91440" marT="45720" marB="45720" anchor="ctr">
                    <a:solidFill>
                      <a:srgbClr val="F0F2F4"/>
                    </a:solidFill>
                  </a:tcPr>
                </a:tc>
                <a:tc>
                  <a:txBody>
                    <a:bodyPr lIns="152400" tIns="114300" rIns="152400" bIns="114300">
                      <a:noAutofit/>
                    </a:bodyPr>
                    <a:lstStyle/>
                    <a:p>
                      <a:r>
                        <a:rPr sz="1800" b="1">
                          <a:solidFill>
                            <a:srgbClr val="30343B"/>
                          </a:solidFill>
                          <a:latin typeface="Helvetica Neue"/>
                          <a:ea typeface="Helvetica Neue"/>
                          <a:cs typeface="Helvetica Neue"/>
                        </a:rPr>
                        <a:t>Typical focus in its documentation</a:t>
                      </a:r>
                    </a:p>
                  </a:txBody>
                  <a:tcPr marL="91440" marR="91440" marT="45720" marB="45720" anchor="ctr">
                    <a:solidFill>
                      <a:srgbClr val="F0F2F4"/>
                    </a:solidFill>
                  </a:tcPr>
                </a:tc>
              </a:tr>
              <a:tr h="716756">
                <a:tc>
                  <a:txBody>
                    <a:bodyPr lIns="152400" tIns="114300" rIns="152400" bIns="114300">
                      <a:noAutofit/>
                    </a:bodyPr>
                    <a:lstStyle/>
                    <a:p>
                      <a:r>
                        <a:rPr sz="1875" b="0">
                          <a:solidFill>
                            <a:srgbClr val="30343B"/>
                          </a:solidFill>
                          <a:latin typeface="Helvetica Neue"/>
                          <a:ea typeface="Helvetica Neue"/>
                          <a:cs typeface="Helvetica Neue"/>
                        </a:rPr>
                        <a:t>Dust</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Shared company knowledge and collaborative agents</a:t>
                      </a:r>
                    </a:p>
                  </a:txBody>
                  <a:tcPr marL="91440" marR="91440" marT="45720" marB="45720" anchor="ctr">
                    <a:solidFill>
                      <a:srgbClr val="FFFFFF"/>
                    </a:solidFill>
                  </a:tcPr>
                </a:tc>
              </a:tr>
              <a:tr h="716756">
                <a:tc>
                  <a:txBody>
                    <a:bodyPr lIns="152400" tIns="114300" rIns="152400" bIns="114300">
                      <a:noAutofit/>
                    </a:bodyPr>
                    <a:lstStyle/>
                    <a:p>
                      <a:r>
                        <a:rPr sz="1875" b="0">
                          <a:solidFill>
                            <a:srgbClr val="30343B"/>
                          </a:solidFill>
                          <a:latin typeface="Helvetica Neue"/>
                          <a:ea typeface="Helvetica Neue"/>
                          <a:cs typeface="Helvetica Neue"/>
                        </a:rPr>
                        <a:t>Agno / AgentOS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Agent orchestration, runtime and MCP services</a:t>
                      </a:r>
                    </a:p>
                  </a:txBody>
                  <a:tcPr marL="91440" marR="91440" marT="45720" marB="45720" anchor="ctr">
                    <a:solidFill>
                      <a:srgbClr val="FFFFFF"/>
                    </a:solidFill>
                  </a:tcPr>
                </a:tc>
              </a:tr>
              <a:tr h="716756">
                <a:tc>
                  <a:txBody>
                    <a:bodyPr lIns="152400" tIns="114300" rIns="152400" bIns="114300">
                      <a:noAutofit/>
                    </a:bodyPr>
                    <a:lstStyle/>
                    <a:p>
                      <a:r>
                        <a:rPr sz="1875" b="0">
                          <a:solidFill>
                            <a:srgbClr val="30343B"/>
                          </a:solidFill>
                          <a:latin typeface="Helvetica Neue"/>
                          <a:ea typeface="Helvetica Neue"/>
                          <a:cs typeface="Helvetica Neue"/>
                        </a:rPr>
                        <a:t>Dify</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Visual AI workflows with knowledge retrieval and tools</a:t>
                      </a:r>
                    </a:p>
                  </a:txBody>
                  <a:tcPr marL="91440" marR="91440" marT="45720" marB="45720" anchor="ctr">
                    <a:solidFill>
                      <a:srgbClr val="FFFFFF"/>
                    </a:solidFill>
                  </a:tcPr>
                </a:tc>
              </a:tr>
            </a:tbl>
          </a:graphicData>
        </a:graphic>
      </p:graphicFrame>
      <p:sp>
        <p:nvSpPr>
          <p:cNvPr id="4" name="text">
            <a:extLst xmlns:a="http://schemas.openxmlformats.org/drawingml/2006/main">
              <a:ext uri="{FF2B5EF4-FFF2-40B4-BE49-F238E27FC236}">
                <a16:creationId xmlns:a16="http://schemas.microsoft.com/office/drawing/2014/main" id="{A19C23DC-A8C7-49CF-A95F-C34EF80BC870}"/>
              </a:ext>
            </a:extLst>
          </p:cNvPr>
          <p:cNvSpPr>
            <a:spLocks xmlns:a="http://schemas.openxmlformats.org/drawingml/2006/main" noGrp="1"/>
          </p:cNvSpPr>
          <p:nvPr/>
        </p:nvSpPr>
        <p:spPr>
          <a:xfrm xmlns:a="http://schemas.openxmlformats.org/drawingml/2006/main">
            <a:off x="762000" y="5172075"/>
            <a:ext cx="1052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The focus here is a continuing research project: shared context, versioned outputs and retrieval through MCP.</a:t>
            </a:r>
          </a:p>
        </p:txBody>
      </p:sp>
      <p:sp>
        <p:nvSpPr>
          <p:cNvPr id="5" name="text">
            <a:extLst xmlns:a="http://schemas.openxmlformats.org/drawingml/2006/main">
              <a:ext uri="{FF2B5EF4-FFF2-40B4-BE49-F238E27FC236}">
                <a16:creationId xmlns:a16="http://schemas.microsoft.com/office/drawing/2014/main" id="{676E0E45-3457-4738-BB9C-9E5546C90C5E}"/>
              </a:ext>
            </a:extLst>
          </p:cNvPr>
          <p:cNvSpPr>
            <a:spLocks xmlns:a="http://schemas.openxmlformats.org/drawingml/2006/main" noGrp="1"/>
          </p:cNvSpPr>
          <p:nvPr/>
        </p:nvSpPr>
        <p:spPr>
          <a:xfrm xmlns:a="http://schemas.openxmlformats.org/drawingml/2006/main">
            <a:off x="762000" y="62579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26970"/>
                </a:solidFill>
                <a:latin typeface="Helvetica Neue"/>
                <a:ea typeface="Helvetica Neue"/>
                <a:cs typeface="Helvetica Neue"/>
              </a:defRPr>
            </a:pPr>
            <a:r>
              <a:rPr sz="1650" b="0">
                <a:solidFill>
                  <a:srgbClr val="626970"/>
                </a:solidFill>
                <a:latin typeface="Helvetica Neue"/>
                <a:ea typeface="Helvetica Neue"/>
                <a:cs typeface="Helvetica Neue"/>
              </a:rPr>
              <a:t>These capabilities overlap with existing tools. Comparative benefits need evaluation.</a:t>
            </a:r>
          </a:p>
        </p:txBody>
      </p:sp>
    </p:spTree>
    <p:extLst>
      <p:ext uri="{BB962C8B-B14F-4D97-AF65-F5344CB8AC3E}">
        <p14:creationId xmlns:p14="http://schemas.microsoft.com/office/powerpoint/2010/main" val="17383164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99EBD95-B3BF-4AFC-96EE-5C2CD77729F1}"/>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Potential features in the workflow</a:t>
            </a:r>
          </a:p>
        </p:txBody>
      </p:sp>
      <p:sp>
        <p:nvSpPr>
          <p:cNvPr id="2" name="page-number">
            <a:extLst xmlns:a="http://schemas.openxmlformats.org/drawingml/2006/main">
              <a:ext uri="{FF2B5EF4-FFF2-40B4-BE49-F238E27FC236}">
                <a16:creationId xmlns:a16="http://schemas.microsoft.com/office/drawing/2014/main" id="{82D854C1-59BD-4F73-A5CC-68B8F332475B}"/>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6</a:t>
            </a:r>
          </a:p>
        </p:txBody>
      </p:sp>
      <p:sp>
        <p:nvSpPr>
          <p:cNvPr id="3" name="text">
            <a:extLst xmlns:a="http://schemas.openxmlformats.org/drawingml/2006/main">
              <a:ext uri="{FF2B5EF4-FFF2-40B4-BE49-F238E27FC236}">
                <a16:creationId xmlns:a16="http://schemas.microsoft.com/office/drawing/2014/main" id="{AEF07DA4-EBA2-4B07-9747-C3FDF7882307}"/>
              </a:ext>
            </a:extLst>
          </p:cNvPr>
          <p:cNvSpPr>
            <a:spLocks xmlns:a="http://schemas.openxmlformats.org/drawingml/2006/main" noGrp="1"/>
          </p:cNvSpPr>
          <p:nvPr/>
        </p:nvSpPr>
        <p:spPr>
          <a:xfrm xmlns:a="http://schemas.openxmlformats.org/drawingml/2006/main">
            <a:off x="762000" y="139065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6970"/>
                </a:solidFill>
                <a:latin typeface="Helvetica Neue"/>
                <a:ea typeface="Helvetica Neue"/>
                <a:cs typeface="Helvetica Neue"/>
              </a:defRPr>
            </a:pPr>
            <a:r>
              <a:rPr sz="2100" b="0">
                <a:solidFill>
                  <a:srgbClr val="626970"/>
                </a:solidFill>
                <a:latin typeface="Helvetica Neue"/>
                <a:ea typeface="Helvetica Neue"/>
                <a:cs typeface="Helvetica Neue"/>
              </a:rPr>
              <a:t>Possible extensions to the current approach</a:t>
            </a:r>
          </a:p>
        </p:txBody>
      </p:sp>
      <p:sp>
        <p:nvSpPr>
          <p:cNvPr id="4" name="text">
            <a:extLst xmlns:a="http://schemas.openxmlformats.org/drawingml/2006/main">
              <a:ext uri="{FF2B5EF4-FFF2-40B4-BE49-F238E27FC236}">
                <a16:creationId xmlns:a16="http://schemas.microsoft.com/office/drawing/2014/main" id="{76F48983-339B-4E6C-B9D1-A62220D57C30}"/>
              </a:ext>
            </a:extLst>
          </p:cNvPr>
          <p:cNvSpPr>
            <a:spLocks xmlns:a="http://schemas.openxmlformats.org/drawingml/2006/main" noGrp="1"/>
          </p:cNvSpPr>
          <p:nvPr/>
        </p:nvSpPr>
        <p:spPr>
          <a:xfrm xmlns:a="http://schemas.openxmlformats.org/drawingml/2006/main">
            <a:off x="857250" y="2276475"/>
            <a:ext cx="103632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Semantic retrieval could find useful notes even when the wording changes.</a:t>
            </a:r>
          </a:p>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Knowledge graphs could connect hypotheses and methods to supporting sources.</a:t>
            </a:r>
          </a:p>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Controlled sharing could let collaborators reuse selected project knowledge.</a:t>
            </a:r>
          </a:p>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Experiment records could link proposed ideas to data and validation results.</a:t>
            </a:r>
          </a:p>
        </p:txBody>
      </p:sp>
      <p:sp>
        <p:nvSpPr>
          <p:cNvPr id="5" name="text">
            <a:extLst xmlns:a="http://schemas.openxmlformats.org/drawingml/2006/main">
              <a:ext uri="{FF2B5EF4-FFF2-40B4-BE49-F238E27FC236}">
                <a16:creationId xmlns:a16="http://schemas.microsoft.com/office/drawing/2014/main" id="{A1A908B9-650F-4D0B-844C-3F24D454692E}"/>
              </a:ext>
            </a:extLst>
          </p:cNvPr>
          <p:cNvSpPr>
            <a:spLocks xmlns:a="http://schemas.openxmlformats.org/drawingml/2006/main" noGrp="1"/>
          </p:cNvSpPr>
          <p:nvPr/>
        </p:nvSpPr>
        <p:spPr>
          <a:xfrm xmlns:a="http://schemas.openxmlformats.org/drawingml/2006/main">
            <a:off x="762000" y="58388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0343B"/>
                </a:solidFill>
                <a:latin typeface="Helvetica Neue"/>
                <a:ea typeface="Helvetica Neue"/>
                <a:cs typeface="Helvetica Neue"/>
              </a:defRPr>
            </a:pPr>
            <a:r>
              <a:rPr sz="1950" b="0">
                <a:solidFill>
                  <a:srgbClr val="30343B"/>
                </a:solidFill>
                <a:latin typeface="Helvetica Neue"/>
                <a:ea typeface="Helvetica Neue"/>
                <a:cs typeface="Helvetica Neue"/>
              </a:rPr>
              <a:t>Evaluation could compare retrieval accuracy, context setup time and token use.</a:t>
            </a:r>
          </a:p>
        </p:txBody>
      </p:sp>
    </p:spTree>
    <p:extLst>
      <p:ext uri="{BB962C8B-B14F-4D97-AF65-F5344CB8AC3E}">
        <p14:creationId xmlns:p14="http://schemas.microsoft.com/office/powerpoint/2010/main" val="570687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2026-10-13T09:24:49.5210000Z</dcterms:created>
  <dcterms:modified xsi:type="dcterms:W3CDTF">2026-10-13T09:24:49.5210000Z</dcterms:modified>
</coreProperties>
</file>