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ed529fe3cf4f28" /><Relationship Type="http://schemas.openxmlformats.org/officeDocument/2006/relationships/extended-properties" Target="/docProps/app.xml" Id="R728228eae2d449d4" /><Relationship Type="http://schemas.openxmlformats.org/officeDocument/2006/relationships/officeDocument" Target="/ppt/presentation.xml" Id="Re251501b01a34724" /></Relationships>
</file>

<file path=ppt/presentation.xml><?xml version="1.0" encoding="utf-8"?>
<p:presentation xmlns:p="http://schemas.openxmlformats.org/presentationml/2006/main">
  <p:sldMasterIdLst>
    <p:sldMasterId xmlns:r="http://schemas.openxmlformats.org/officeDocument/2006/relationships" id="2147483648" r:id="Ra4430423abc2488d"/>
  </p:sldMasterIdLst>
  <p:notesMasterIdLst>
    <p:notesMasterId xmlns:r="http://schemas.openxmlformats.org/officeDocument/2006/relationships" r:id="R037e9d530d4743ec"/>
  </p:notesMasterIdLst>
  <p:sldIdLst>
    <p:sldId xmlns:r="http://schemas.openxmlformats.org/officeDocument/2006/relationships" id="256" r:id="Ra5b8c202fd4a4cbf"/>
    <p:sldId xmlns:r="http://schemas.openxmlformats.org/officeDocument/2006/relationships" id="257" r:id="R75c7ed639485400c"/>
    <p:sldId xmlns:r="http://schemas.openxmlformats.org/officeDocument/2006/relationships" id="258" r:id="R23fc63594fd84da9"/>
    <p:sldId xmlns:r="http://schemas.openxmlformats.org/officeDocument/2006/relationships" id="259" r:id="R5c7c0818b7b74dd1"/>
    <p:sldId xmlns:r="http://schemas.openxmlformats.org/officeDocument/2006/relationships" id="260" r:id="Rf05c835406874ce4"/>
    <p:sldId xmlns:r="http://schemas.openxmlformats.org/officeDocument/2006/relationships" id="261" r:id="R14777132039547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ac8795f9914a51" /><Relationship Type="http://schemas.openxmlformats.org/officeDocument/2006/relationships/slideMaster" Target="/ppt/slideMasters/slideMaster1.xml" Id="Ra4430423abc2488d" /><Relationship Type="http://schemas.openxmlformats.org/officeDocument/2006/relationships/notesMaster" Target="/ppt/notesMasters/notesMaster1.xml" Id="R037e9d530d4743ec" /><Relationship Type="http://schemas.openxmlformats.org/officeDocument/2006/relationships/presProps" Target="/ppt/presProps.xml" Id="R1f77e45af9914d17" /><Relationship Type="http://schemas.openxmlformats.org/officeDocument/2006/relationships/tableStyles" Target="/ppt/tableStyles.xml" Id="Reee8bc07a251446c" /><Relationship Type="http://schemas.openxmlformats.org/officeDocument/2006/relationships/slide" Target="/ppt/slides/slide1.xml" Id="Ra5b8c202fd4a4cbf" /><Relationship Type="http://schemas.openxmlformats.org/officeDocument/2006/relationships/slide" Target="/ppt/slides/slide2.xml" Id="R75c7ed639485400c" /><Relationship Type="http://schemas.openxmlformats.org/officeDocument/2006/relationships/slide" Target="/ppt/slides/slide3.xml" Id="R23fc63594fd84da9" /><Relationship Type="http://schemas.openxmlformats.org/officeDocument/2006/relationships/slide" Target="/ppt/slides/slide4.xml" Id="R5c7c0818b7b74dd1" /><Relationship Type="http://schemas.openxmlformats.org/officeDocument/2006/relationships/slide" Target="/ppt/slides/slide5.xml" Id="Rf05c835406874ce4" /><Relationship Type="http://schemas.openxmlformats.org/officeDocument/2006/relationships/slide" Target="/ppt/slides/slide6.xml" Id="R14777132039547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aa53e5bb0e4f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64e530af034b3c" /><Relationship Type="http://schemas.openxmlformats.org/officeDocument/2006/relationships/notesMaster" Target="/ppt/notesMasters/notesMaster1.xml" Id="R35eb02512ca640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c2cef87a624acf" /><Relationship Type="http://schemas.openxmlformats.org/officeDocument/2006/relationships/notesMaster" Target="/ppt/notesMasters/notesMaster1.xml" Id="Rc874a0c6a66c42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7e0ec071374a69" /><Relationship Type="http://schemas.openxmlformats.org/officeDocument/2006/relationships/notesMaster" Target="/ppt/notesMasters/notesMaster1.xml" Id="R45e0797e04694e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f184aca9354fac" /><Relationship Type="http://schemas.openxmlformats.org/officeDocument/2006/relationships/notesMaster" Target="/ppt/notesMasters/notesMaster1.xml" Id="R00a95cd8e77e4a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d98a28208c436c" /><Relationship Type="http://schemas.openxmlformats.org/officeDocument/2006/relationships/notesMaster" Target="/ppt/notesMasters/notesMaster1.xml" Id="R5c70de79c00547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bb1982f24f45d3" /><Relationship Type="http://schemas.openxmlformats.org/officeDocument/2006/relationships/notesMaster" Target="/ppt/notesMasters/notesMaster1.xml" Id="Rf8661a729bd94d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addresses a practical research problem: useful context becomes fragmented across model conversations and tools. self_mcp keeps a project record and makes selected evidence available to agents and external MCP clients. The aim is to reduce repeated context setup while preserving the source of previous work. This is a working local prototype, not a claim of autonomous scientific discovery.</a:t>
            </a:r>
          </a:p>
          <a:p xmlns:a="http://schemas.openxmlformats.org/drawingml/2006/main">
            <a:r>
              <a:t/>
            </a:r>
          </a:p>
          <a:p xmlns:a="http://schemas.openxmlformats.org/drawingml/2006/main">
            <a:r>
              <a:t>Sources and scope</a:t>
            </a:r>
          </a:p>
          <a:p xmlns:a="http://schemas.openxmlformats.org/drawingml/2006/main">
            <a:r>
              <a:t>Implementation: README.md; docs/TASKS.md; src/project_knowledge.py; src/mcp_knowledge.py.</a:t>
            </a:r>
          </a:p>
          <a:p xmlns:a="http://schemas.openxmlformats.org/drawingml/2006/main">
            <a:r>
              <a:t>Cover art: original conceptual illustration generated with the built-in ImageGen tool, 13 October 2026. It depicts no real experiment or measured scientific structure.</a:t>
            </a:r>
          </a:p>
          <a:p xmlns:a="http://schemas.openxmlformats.org/drawingml/2006/main">
            <a:r>
              <a:t>Image prompt: A sophisticated editorial scientific illustration for a widescreen presentation cover. Midnight navy background with clean negative space on the left. Translucent sheets and delicate turquoise threads on the right suggest scientific notes becoming a coherent body of knowledge. Restrained ivory points, soft light, no words, logos, interfaces or charts.</a:t>
            </a:r>
          </a:p>
          <a:p xmlns:a="http://schemas.openxmlformats.org/drawingml/2006/main">
            <a:r>
              <a:t>Embedded source asset: presentations/ai-for-science/.build/cover.png.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workflow problems identified during development, not population-wide measurements. For science, a missing assumption or an outdated method can be more consequential than an awkward answer. We aim to keep the relevant project evidence available across follow-ups and model handoffs. Google’s AI co-scientist work provides a public example of multi-agent scientific ideation and critique, but it does not validate our product or its benefits.</a:t>
            </a:r>
          </a:p>
          <a:p xmlns:a="http://schemas.openxmlformats.org/drawingml/2006/main">
            <a:r>
              <a:t/>
            </a:r>
          </a:p>
          <a:p xmlns:a="http://schemas.openxmlformats.org/drawingml/2006/main">
            <a:r>
              <a:t>Sources and scope</a:t>
            </a:r>
          </a:p>
          <a:p xmlns:a="http://schemas.openxmlformats.org/drawingml/2006/main">
            <a:r>
              <a:t>Project evidence: docs/TASKS.md, sections Shared project retrieval and Attached task history; src/task_runner.py; src/task_history.py.</a:t>
            </a:r>
          </a:p>
          <a:p xmlns:a="http://schemas.openxmlformats.org/drawingml/2006/main">
            <a:r>
              <a:t>Scientific context: Google Research, “Accelerating scientific breakthroughs with an AI co-scientist”, https://research.google/blog/accelerating-scientific-breakthroughs-with-an-ai-co-scientist/ (accessed 13 October 2026).</a:t>
            </a:r>
          </a:p>
          <a:p xmlns:a="http://schemas.openxmlformats.org/drawingml/2006/main">
            <a:r>
              <a:t>Time savings and improved scientific outcomes remain hypotheses for a research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the system uses existing JSON persistence and an in-memory lexical index. It makes no embedding or summarization calls for retrieval. Project knowledge is optional and uses a maximum 1,500-token evidence budget per model call, reduced when the model has less room. Mandatory current-task dependencies remain intact. MCP clients and internal agents use the same project-scoped retrieval service. This is drafting and review; the application does not execute scientific experiments.</a:t>
            </a:r>
          </a:p>
          <a:p xmlns:a="http://schemas.openxmlformats.org/drawingml/2006/main">
            <a:r>
              <a:t/>
            </a:r>
          </a:p>
          <a:p xmlns:a="http://schemas.openxmlformats.org/drawingml/2006/main">
            <a:r>
              <a:t>Sources and scope</a:t>
            </a:r>
          </a:p>
          <a:p xmlns:a="http://schemas.openxmlformats.org/drawingml/2006/main">
            <a:r>
              <a:t>Implementation: src/project_knowledge.py; src/task_runner.py; src/knowledge_sources.py; src/mcp_knowledge.py.</a:t>
            </a:r>
          </a:p>
          <a:p xmlns:a="http://schemas.openxmlformats.org/drawingml/2006/main">
            <a:r>
              <a:t>Benchmark recorded during implementation, October 2026: 1,500 synthetic documents, 3,163,500 source characters, 40 exact-identifier queries. Cold 834.85 ms; warm p50 9.67 ms; warm p95 24.47 ms. Reproduce with .venv/bin/python tests/benchmark_project_knowledge.py.</a:t>
            </a:r>
          </a:p>
          <a:p xmlns:a="http://schemas.openxmlformats.org/drawingml/2006/main">
            <a:r>
              <a:t>These measurements describe local retrieval, not end-to-end model response latency, a production SLA, or scientific answer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workflow, not a completed sampling experiment. Start with a proposed scientific question and its baseline. Models can draft an approach and critique it. The next request can reuse the saved output and review status through the same project MCP, without a manual export. The knowledge collection grows as source records accumulate; the model weights do not learn automatically. Saved links are references unless their contents are supplied. Project isolation applies to retrieval; selected remote model providers receive the evidence sent to them. Scientific correctness still requires experiments and researcher judgment.</a:t>
            </a:r>
          </a:p>
          <a:p xmlns:a="http://schemas.openxmlformats.org/drawingml/2006/main">
            <a:r>
              <a:t/>
            </a:r>
          </a:p>
          <a:p xmlns:a="http://schemas.openxmlformats.org/drawingml/2006/main">
            <a:r>
              <a:t>Sources and scope</a:t>
            </a:r>
          </a:p>
          <a:p xmlns:a="http://schemas.openxmlformats.org/drawingml/2006/main">
            <a:r>
              <a:t>Implementation: src/knowledge_sources.py; src/project_knowledge.py; src/task_runner.py; docs/TASKS.md.</a:t>
            </a:r>
          </a:p>
          <a:p xmlns:a="http://schemas.openxmlformats.org/drawingml/2006/main">
            <a:r>
              <a:t>Illustrative scientific scenario based on the project discussion about reward-based, non-random sampling. No experimental outcome or performance gain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meaningful competition. Dust already combines shared company knowledge, model choice and human-agent collaboration. Agno provides an agent platform and runtime with MCP exposure. Dify combines visual workflows, retrieval, tools and other execution steps. Our differentiation hypothesis is the focused experience around one continuing scientific project and its evolving evidence record. The individual building blocks are not unique. We have not benchmarked setup time, answer quality, cost or latency against these products. Hosted collaboration and enterprise governance are future work for us.</a:t>
            </a:r>
          </a:p>
          <a:p xmlns:a="http://schemas.openxmlformats.org/drawingml/2006/main">
            <a:r>
              <a:t/>
            </a:r>
          </a:p>
          <a:p xmlns:a="http://schemas.openxmlformats.org/drawingml/2006/main">
            <a:r>
              <a:t>Sources and scope</a:t>
            </a:r>
          </a:p>
          <a:p xmlns:a="http://schemas.openxmlformats.org/drawingml/2006/main">
            <a:r>
              <a:t>Dust: https://dust.tt/ (accessed 13 October 2026).</a:t>
            </a:r>
          </a:p>
          <a:p xmlns:a="http://schemas.openxmlformats.org/drawingml/2006/main">
            <a:r>
              <a:t>Agno: https://docs.agno.com/ (accessed 13 October 2026).</a:t>
            </a:r>
          </a:p>
          <a:p xmlns:a="http://schemas.openxmlformats.org/drawingml/2006/main">
            <a:r>
              <a:t>Dify Workflow Studio: https://www.dify.ai/workflows (accessed 13 October 2026).</a:t>
            </a:r>
          </a:p>
          <a:p xmlns:a="http://schemas.openxmlformats.org/drawingml/2006/main">
            <a:r>
              <a:t>self_mcp implementation: README.md; docs/TASKS.md. Product positioning is our proposal, not a verified competitor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roadmap is proposed, without committed delivery dates. First measure retrieval on real research questions and add semantic retrieval where lexical search misses evidence. Knowledge graphs could connect hypotheses, methods, claims and source versions. Collaboration needs identities, permission checks and explicit sharing boundaries. Scientific execution requires controlled environments, dataset versions and traceable logs. Database migration can follow actual scale needs. Reinforcement learning is a later experiment after we collect reliable outcome data, not a prerequisite. A small pilot should measure evidence quality and work saved rather than assume that fewer tokens always improves outcomes.</a:t>
            </a:r>
          </a:p>
          <a:p xmlns:a="http://schemas.openxmlformats.org/drawingml/2006/main">
            <a:r>
              <a:t/>
            </a:r>
          </a:p>
          <a:p xmlns:a="http://schemas.openxmlformats.org/drawingml/2006/main">
            <a:r>
              <a:t>Sources and scope</a:t>
            </a:r>
          </a:p>
          <a:p xmlns:a="http://schemas.openxmlformats.org/drawingml/2006/main">
            <a:r>
              <a:t>Current boundaries: docs/TASKS.md, Shared project retrieval; src/task_runner.py.</a:t>
            </a:r>
          </a:p>
          <a:p xmlns:a="http://schemas.openxmlformats.org/drawingml/2006/main">
            <a:r>
              <a:t>Roadmap items are proposals. Knowledge graphs, embeddings, hosted multi-user sharing and experiment execution are not implemented in the current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e2c3c5379045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86595959fa4f2e" /><Relationship Type="http://schemas.openxmlformats.org/officeDocument/2006/relationships/slideLayout" Target="/ppt/slideLayouts/slideLayout1.xml" Id="R8f4d8447392b43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4d8447392b43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2c005b190442f2" /><Relationship Type="http://schemas.openxmlformats.org/officeDocument/2006/relationships/image" Target="/ppt/media/image.png" Id="R4481aed882d54b9c" /><Relationship Type="http://schemas.openxmlformats.org/officeDocument/2006/relationships/notesSlide" Target="/ppt/notesSlides/notesSlide1.xml" Id="R0e7a135c55374e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e2edc5514940ef" /><Relationship Type="http://schemas.openxmlformats.org/officeDocument/2006/relationships/notesSlide" Target="/ppt/notesSlides/notesSlide2.xml" Id="R09ee79fb8a544f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efcfe730c94847" /><Relationship Type="http://schemas.openxmlformats.org/officeDocument/2006/relationships/notesSlide" Target="/ppt/notesSlides/notesSlide3.xml" Id="R1d8ba9418f5648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55d8e18d9d450a" /><Relationship Type="http://schemas.openxmlformats.org/officeDocument/2006/relationships/notesSlide" Target="/ppt/notesSlides/notesSlide4.xml" Id="R4a92ff02d7504b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f0ebb84de74de1" /><Relationship Type="http://schemas.openxmlformats.org/officeDocument/2006/relationships/notesSlide" Target="/ppt/notesSlides/notesSlide5.xml" Id="Rb265a9b783cd47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57c5caa7ed4c98" /><Relationship Type="http://schemas.openxmlformats.org/officeDocument/2006/relationships/notesSlide" Target="/ppt/notesSlides/notesSlide6.xml" Id="R940f05ff68c2495a" /></Relationships>
</file>

<file path=ppt/slides/slide1.xml><?xml version="1.0" encoding="utf-8"?>
<p:sld xmlns:p="http://schemas.openxmlformats.org/presentationml/2006/main">
  <p:cSld>
    <p:bg>
      <p:bgPr>
        <a:solidFill xmlns:a="http://schemas.openxmlformats.org/drawingml/2006/main">
          <a:srgbClr val="071E3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481aed882d54b9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ject-name">
            <a:extLst xmlns:a="http://schemas.openxmlformats.org/drawingml/2006/main">
              <a:ext uri="{FF2B5EF4-FFF2-40B4-BE49-F238E27FC236}">
                <a16:creationId xmlns:a16="http://schemas.microsoft.com/office/drawing/2014/main" id="{BB135C8B-3899-47D5-9574-0316466366E7}"/>
              </a:ext>
            </a:extLst>
          </p:cNvPr>
          <p:cNvSpPr>
            <a:spLocks xmlns:a="http://schemas.openxmlformats.org/drawingml/2006/main" noGrp="1"/>
          </p:cNvSpPr>
          <p:nvPr/>
        </p:nvSpPr>
        <p:spPr>
          <a:xfrm xmlns:a="http://schemas.openxmlformats.org/drawingml/2006/main">
            <a:off x="685800" y="6667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88DED5"/>
                </a:solidFill>
                <a:latin typeface="Helvetica Neue"/>
                <a:ea typeface="Helvetica Neue"/>
                <a:cs typeface="Helvetica Neue"/>
              </a:defRPr>
            </a:pPr>
            <a:r>
              <a:rPr sz="2250" b="1">
                <a:solidFill>
                  <a:srgbClr val="88DED5"/>
                </a:solidFill>
                <a:latin typeface="Helvetica Neue"/>
                <a:ea typeface="Helvetica Neue"/>
                <a:cs typeface="Helvetica Neue"/>
              </a:rPr>
              <a:t>self_mcp</a:t>
            </a:r>
          </a:p>
        </p:txBody>
      </p:sp>
      <p:sp>
        <p:nvSpPr>
          <p:cNvPr id="3" name="cover-title">
            <a:extLst xmlns:a="http://schemas.openxmlformats.org/drawingml/2006/main">
              <a:ext uri="{FF2B5EF4-FFF2-40B4-BE49-F238E27FC236}">
                <a16:creationId xmlns:a16="http://schemas.microsoft.com/office/drawing/2014/main" id="{549939E3-3DB5-4DD5-AFF8-7A72CE5EDB8B}"/>
              </a:ext>
            </a:extLst>
          </p:cNvPr>
          <p:cNvSpPr>
            <a:spLocks xmlns:a="http://schemas.openxmlformats.org/drawingml/2006/main" noGrp="1"/>
          </p:cNvSpPr>
          <p:nvPr/>
        </p:nvSpPr>
        <p:spPr>
          <a:xfrm xmlns:a="http://schemas.openxmlformats.org/drawingml/2006/main">
            <a:off x="685800" y="2038350"/>
            <a:ext cx="67627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Shared project memory</a:t>
            </a:r>
          </a:p>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for AI-assisted science</a:t>
            </a:r>
          </a:p>
        </p:txBody>
      </p:sp>
      <p:sp>
        <p:nvSpPr>
          <p:cNvPr id="4" name="cover-subtitle">
            <a:extLst xmlns:a="http://schemas.openxmlformats.org/drawingml/2006/main">
              <a:ext uri="{FF2B5EF4-FFF2-40B4-BE49-F238E27FC236}">
                <a16:creationId xmlns:a16="http://schemas.microsoft.com/office/drawing/2014/main" id="{12694A12-B0FC-4129-85B6-B3CFFB16F71E}"/>
              </a:ext>
            </a:extLst>
          </p:cNvPr>
          <p:cNvSpPr>
            <a:spLocks xmlns:a="http://schemas.openxmlformats.org/drawingml/2006/main" noGrp="1"/>
          </p:cNvSpPr>
          <p:nvPr/>
        </p:nvSpPr>
        <p:spPr>
          <a:xfrm xmlns:a="http://schemas.openxmlformats.org/drawingml/2006/main">
            <a:off x="723900" y="40957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D6E8EB"/>
                </a:solidFill>
                <a:latin typeface="Helvetica Neue"/>
                <a:ea typeface="Helvetica Neue"/>
                <a:cs typeface="Helvetica Neue"/>
              </a:defRPr>
            </a:pPr>
            <a:r>
              <a:rPr sz="2250" b="0">
                <a:solidFill>
                  <a:srgbClr val="D6E8EB"/>
                </a:solidFill>
                <a:latin typeface="Helvetica Neue"/>
                <a:ea typeface="Helvetica Neue"/>
                <a:cs typeface="Helvetica Neue"/>
              </a:rPr>
              <a:t>Keep useful work available</a:t>
            </a:r>
          </a:p>
          <a:p xmlns:a="http://schemas.openxmlformats.org/drawingml/2006/main">
            <a:pPr>
              <a:defRPr sz="2250" b="0">
                <a:solidFill>
                  <a:srgbClr val="D6E8EB"/>
                </a:solidFill>
                <a:latin typeface="Helvetica Neue"/>
                <a:ea typeface="Helvetica Neue"/>
                <a:cs typeface="Helvetica Neue"/>
              </a:defRPr>
            </a:pPr>
            <a:r>
              <a:rPr sz="2250" b="0">
                <a:solidFill>
                  <a:srgbClr val="D6E8EB"/>
                </a:solidFill>
                <a:latin typeface="Helvetica Neue"/>
                <a:ea typeface="Helvetica Neue"/>
                <a:cs typeface="Helvetica Neue"/>
              </a:rPr>
              <a:t>across models and tools.</a:t>
            </a:r>
          </a:p>
        </p:txBody>
      </p:sp>
      <p:sp>
        <p:nvSpPr>
          <p:cNvPr id="5" name="cover-caption">
            <a:extLst xmlns:a="http://schemas.openxmlformats.org/drawingml/2006/main">
              <a:ext uri="{FF2B5EF4-FFF2-40B4-BE49-F238E27FC236}">
                <a16:creationId xmlns:a16="http://schemas.microsoft.com/office/drawing/2014/main" id="{7D63E115-4A2B-4936-B40A-2741F0126DE7}"/>
              </a:ext>
            </a:extLst>
          </p:cNvPr>
          <p:cNvSpPr>
            <a:spLocks xmlns:a="http://schemas.openxmlformats.org/drawingml/2006/main" noGrp="1"/>
          </p:cNvSpPr>
          <p:nvPr/>
        </p:nvSpPr>
        <p:spPr>
          <a:xfrm xmlns:a="http://schemas.openxmlformats.org/drawingml/2006/main">
            <a:off x="723900" y="61341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C3D5DD"/>
                </a:solidFill>
                <a:latin typeface="Helvetica Neue"/>
                <a:ea typeface="Helvetica Neue"/>
                <a:cs typeface="Helvetica Neue"/>
              </a:defRPr>
            </a:pPr>
            <a:r>
              <a:rPr sz="1575" b="0">
                <a:solidFill>
                  <a:srgbClr val="C3D5DD"/>
                </a:solidFill>
                <a:latin typeface="Helvetica Neue"/>
                <a:ea typeface="Helvetica Neue"/>
                <a:cs typeface="Helvetica Neue"/>
              </a:rPr>
              <a:t>A local prototype for continuing scientific work</a:t>
            </a:r>
          </a:p>
        </p:txBody>
      </p:sp>
    </p:spTree>
    <p:extLst>
      <p:ext uri="{BB962C8B-B14F-4D97-AF65-F5344CB8AC3E}">
        <p14:creationId xmlns:p14="http://schemas.microsoft.com/office/powerpoint/2010/main" val="2076478986"/>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2A44A3F-B3F3-45D2-ABDD-97E17E4E6B64}"/>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02C38"/>
                </a:solidFill>
                <a:latin typeface="Helvetica Neue"/>
                <a:ea typeface="Helvetica Neue"/>
                <a:cs typeface="Helvetica Neue"/>
              </a:defRPr>
            </a:pPr>
            <a:r>
              <a:rPr sz="3450" b="1">
                <a:solidFill>
                  <a:srgbClr val="102C38"/>
                </a:solidFill>
                <a:latin typeface="Helvetica Neue"/>
                <a:ea typeface="Helvetica Neue"/>
                <a:cs typeface="Helvetica Neue"/>
              </a:rPr>
              <a:t>The friction in AI-assisted research</a:t>
            </a:r>
          </a:p>
        </p:txBody>
      </p:sp>
      <p:sp>
        <p:nvSpPr>
          <p:cNvPr id="2" name="page-number">
            <a:extLst xmlns:a="http://schemas.openxmlformats.org/drawingml/2006/main">
              <a:ext uri="{FF2B5EF4-FFF2-40B4-BE49-F238E27FC236}">
                <a16:creationId xmlns:a16="http://schemas.microsoft.com/office/drawing/2014/main" id="{7CEB6726-FFB0-4567-B94C-544A00CDB704}"/>
              </a:ext>
            </a:extLst>
          </p:cNvPr>
          <p:cNvSpPr>
            <a:spLocks xmlns:a="http://schemas.openxmlformats.org/drawingml/2006/main" noGrp="1"/>
          </p:cNvSpPr>
          <p:nvPr/>
        </p:nvSpPr>
        <p:spPr>
          <a:xfrm xmlns:a="http://schemas.openxmlformats.org/drawingml/2006/main">
            <a:off x="11296650" y="6343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671"/>
                </a:solidFill>
                <a:latin typeface="Helvetica Neue"/>
                <a:ea typeface="Helvetica Neue"/>
                <a:cs typeface="Helvetica Neue"/>
              </a:defRPr>
            </a:pPr>
            <a:r>
              <a:rPr sz="1350" b="0">
                <a:solidFill>
                  <a:srgbClr val="506671"/>
                </a:solidFill>
                <a:latin typeface="Helvetica Neue"/>
                <a:ea typeface="Helvetica Neue"/>
                <a:cs typeface="Helvetica Neue"/>
              </a:rPr>
              <a:t>02</a:t>
            </a:r>
          </a:p>
        </p:txBody>
      </p:sp>
      <p:sp>
        <p:nvSpPr>
          <p:cNvPr id="3" name="text">
            <a:extLst xmlns:a="http://schemas.openxmlformats.org/drawingml/2006/main">
              <a:ext uri="{FF2B5EF4-FFF2-40B4-BE49-F238E27FC236}">
                <a16:creationId xmlns:a16="http://schemas.microsoft.com/office/drawing/2014/main" id="{422C4D1E-A7EE-45B3-91F5-F4785F8480B2}"/>
              </a:ext>
            </a:extLst>
          </p:cNvPr>
          <p:cNvSpPr>
            <a:spLocks xmlns:a="http://schemas.openxmlformats.org/drawingml/2006/main" noGrp="1"/>
          </p:cNvSpPr>
          <p:nvPr/>
        </p:nvSpPr>
        <p:spPr>
          <a:xfrm xmlns:a="http://schemas.openxmlformats.org/drawingml/2006/main">
            <a:off x="685800" y="12763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06671"/>
                </a:solidFill>
                <a:latin typeface="Helvetica Neue"/>
                <a:ea typeface="Helvetica Neue"/>
                <a:cs typeface="Helvetica Neue"/>
              </a:defRPr>
            </a:pPr>
            <a:r>
              <a:rPr sz="2025" b="0">
                <a:solidFill>
                  <a:srgbClr val="506671"/>
                </a:solidFill>
                <a:latin typeface="Helvetica Neue"/>
                <a:ea typeface="Helvetica Neue"/>
                <a:cs typeface="Helvetica Neue"/>
              </a:rPr>
              <a:t>Scientific work needs continuity of assumptions, methods and evidence.</a:t>
            </a:r>
          </a:p>
        </p:txBody>
      </p:sp>
      <p:graphicFrame>
        <p:nvGraphicFramePr>
          <p:cNvPr id="9" name=""/>
          <p:cNvGraphicFramePr/>
          <p:nvPr/>
        </p:nvGraphicFramePr>
        <p:xfrm>
          <a:off xmlns:a="http://schemas.openxmlformats.org/drawingml/2006/main" x="685800" y="2038350"/>
          <a:ext xmlns:a="http://schemas.openxmlformats.org/drawingml/2006/main" cx="10820400" cy="3238500"/>
        </p:xfrm>
        <a:graphic xmlns:a="http://schemas.openxmlformats.org/drawingml/2006/main">
          <a:graphicData uri="http://schemas.openxmlformats.org/drawingml/2006/table">
            <a:tbl>
              <a:tblPr firstRow="0" bandRow="0"/>
              <a:tblGrid>
                <a:gridCol w="5410200"/>
                <a:gridCol w="5410200"/>
              </a:tblGrid>
              <a:tr h="647700">
                <a:tc>
                  <a:txBody>
                    <a:bodyPr lIns="171450" tIns="114300" rIns="171450" bIns="114300">
                      <a:noAutofit/>
                    </a:bodyPr>
                    <a:lstStyle/>
                    <a:p>
                      <a:r>
                        <a:rPr sz="1575" b="1">
                          <a:solidFill>
                            <a:srgbClr val="FFFFFF"/>
                          </a:solidFill>
                          <a:latin typeface="Helvetica Neue"/>
                          <a:ea typeface="Helvetica Neue"/>
                          <a:cs typeface="Helvetica Neue"/>
                        </a:rPr>
                        <a:t>REPEATED WORK</a:t>
                      </a:r>
                    </a:p>
                  </a:txBody>
                  <a:tcPr marL="91440" marR="91440" marT="45720" marB="45720" anchor="ctr">
                    <a:solidFill>
                      <a:srgbClr val="102C38"/>
                    </a:solidFill>
                  </a:tcPr>
                </a:tc>
                <a:tc>
                  <a:txBody>
                    <a:bodyPr lIns="171450" tIns="114300" rIns="171450" bIns="114300">
                      <a:noAutofit/>
                    </a:bodyPr>
                    <a:lstStyle/>
                    <a:p>
                      <a:r>
                        <a:rPr sz="1575" b="1">
                          <a:solidFill>
                            <a:srgbClr val="FFFFFF"/>
                          </a:solidFill>
                          <a:latin typeface="Helvetica Neue"/>
                          <a:ea typeface="Helvetica Neue"/>
                          <a:cs typeface="Helvetica Neue"/>
                        </a:rPr>
                        <a:t>WHAT SELF_MCP CHANGES</a:t>
                      </a:r>
                    </a:p>
                  </a:txBody>
                  <a:tcPr marL="91440" marR="91440" marT="45720" marB="45720" anchor="ctr">
                    <a:solidFill>
                      <a:srgbClr val="102C38"/>
                    </a:solidFill>
                  </a:tcPr>
                </a:tc>
              </a:tr>
              <a:tr h="647700">
                <a:tc>
                  <a:txBody>
                    <a:bodyPr lIns="171450" tIns="114300" rIns="171450" bIns="114300">
                      <a:noAutofit/>
                    </a:bodyPr>
                    <a:lstStyle/>
                    <a:p>
                      <a:r>
                        <a:rPr sz="1875" b="1">
                          <a:solidFill>
                            <a:srgbClr val="102C38"/>
                          </a:solidFill>
                          <a:latin typeface="Helvetica Neue"/>
                          <a:ea typeface="Helvetica Neue"/>
                          <a:cs typeface="Helvetica Neue"/>
                        </a:rPr>
                        <a:t>Re-explaining methods and constraints</a:t>
                      </a:r>
                    </a:p>
                  </a:txBody>
                  <a:tcPr marL="91440" marR="91440" marT="45720" marB="45720" anchor="ctr">
                    <a:solidFill>
                      <a:srgbClr val="FAF9F5"/>
                    </a:solidFill>
                  </a:tcPr>
                </a:tc>
                <a:tc>
                  <a:txBody>
                    <a:bodyPr lIns="171450" tIns="114300" rIns="171450" bIns="114300">
                      <a:noAutofit/>
                    </a:bodyPr>
                    <a:lstStyle/>
                    <a:p>
                      <a:r>
                        <a:rPr sz="1875" b="0">
                          <a:solidFill>
                            <a:srgbClr val="102C38"/>
                          </a:solidFill>
                          <a:latin typeface="Helvetica Neue"/>
                          <a:ea typeface="Helvetica Neue"/>
                          <a:cs typeface="Helvetica Neue"/>
                        </a:rPr>
                        <a:t>Retrieve relevant project context</a:t>
                      </a:r>
                    </a:p>
                  </a:txBody>
                  <a:tcPr marL="91440" marR="91440" marT="45720" marB="45720" anchor="ctr">
                    <a:solidFill>
                      <a:srgbClr val="FAF9F5"/>
                    </a:solidFill>
                  </a:tcPr>
                </a:tc>
              </a:tr>
              <a:tr h="647700">
                <a:tc>
                  <a:txBody>
                    <a:bodyPr lIns="171450" tIns="114300" rIns="171450" bIns="114300">
                      <a:noAutofit/>
                    </a:bodyPr>
                    <a:lstStyle/>
                    <a:p>
                      <a:r>
                        <a:rPr sz="1875" b="1">
                          <a:solidFill>
                            <a:srgbClr val="102C38"/>
                          </a:solidFill>
                          <a:latin typeface="Helvetica Neue"/>
                          <a:ea typeface="Helvetica Neue"/>
                          <a:cs typeface="Helvetica Neue"/>
                        </a:rPr>
                        <a:t>Copying outputs between models</a:t>
                      </a:r>
                    </a:p>
                  </a:txBody>
                  <a:tcPr marL="91440" marR="91440" marT="45720" marB="45720" anchor="ctr">
                    <a:solidFill>
                      <a:srgbClr val="FAF9F5"/>
                    </a:solidFill>
                  </a:tcPr>
                </a:tc>
                <a:tc>
                  <a:txBody>
                    <a:bodyPr lIns="171450" tIns="114300" rIns="171450" bIns="114300">
                      <a:noAutofit/>
                    </a:bodyPr>
                    <a:lstStyle/>
                    <a:p>
                      <a:r>
                        <a:rPr sz="1875" b="0">
                          <a:solidFill>
                            <a:srgbClr val="102C38"/>
                          </a:solidFill>
                          <a:latin typeface="Helvetica Neue"/>
                          <a:ea typeface="Helvetica Neue"/>
                          <a:cs typeface="Helvetica Neue"/>
                        </a:rPr>
                        <a:t>Pass drafts and review feedback directly</a:t>
                      </a:r>
                    </a:p>
                  </a:txBody>
                  <a:tcPr marL="91440" marR="91440" marT="45720" marB="45720" anchor="ctr">
                    <a:solidFill>
                      <a:srgbClr val="FAF9F5"/>
                    </a:solidFill>
                  </a:tcPr>
                </a:tc>
              </a:tr>
              <a:tr h="647700">
                <a:tc>
                  <a:txBody>
                    <a:bodyPr lIns="171450" tIns="114300" rIns="171450" bIns="114300">
                      <a:noAutofit/>
                    </a:bodyPr>
                    <a:lstStyle/>
                    <a:p>
                      <a:r>
                        <a:rPr sz="1875" b="1">
                          <a:solidFill>
                            <a:srgbClr val="102C38"/>
                          </a:solidFill>
                          <a:latin typeface="Helvetica Neue"/>
                          <a:ea typeface="Helvetica Neue"/>
                          <a:cs typeface="Helvetica Neue"/>
                        </a:rPr>
                        <a:t>Finding which version to trust</a:t>
                      </a:r>
                    </a:p>
                  </a:txBody>
                  <a:tcPr marL="91440" marR="91440" marT="45720" marB="45720" anchor="ctr">
                    <a:solidFill>
                      <a:srgbClr val="FAF9F5"/>
                    </a:solidFill>
                  </a:tcPr>
                </a:tc>
                <a:tc>
                  <a:txBody>
                    <a:bodyPr lIns="171450" tIns="114300" rIns="171450" bIns="114300">
                      <a:noAutofit/>
                    </a:bodyPr>
                    <a:lstStyle/>
                    <a:p>
                      <a:r>
                        <a:rPr sz="1875" b="0">
                          <a:solidFill>
                            <a:srgbClr val="102C38"/>
                          </a:solidFill>
                          <a:latin typeface="Helvetica Neue"/>
                          <a:ea typeface="Helvetica Neue"/>
                          <a:cs typeface="Helvetica Neue"/>
                        </a:rPr>
                        <a:t>Keep source, version and review status</a:t>
                      </a:r>
                    </a:p>
                  </a:txBody>
                  <a:tcPr marL="91440" marR="91440" marT="45720" marB="45720" anchor="ctr">
                    <a:solidFill>
                      <a:srgbClr val="FAF9F5"/>
                    </a:solidFill>
                  </a:tcPr>
                </a:tc>
              </a:tr>
              <a:tr h="647700">
                <a:tc>
                  <a:txBody>
                    <a:bodyPr lIns="171450" tIns="114300" rIns="171450" bIns="114300">
                      <a:noAutofit/>
                    </a:bodyPr>
                    <a:lstStyle/>
                    <a:p>
                      <a:r>
                        <a:rPr sz="1875" b="1">
                          <a:solidFill>
                            <a:srgbClr val="102C38"/>
                          </a:solidFill>
                          <a:latin typeface="Helvetica Neue"/>
                          <a:ea typeface="Helvetica Neue"/>
                          <a:cs typeface="Helvetica Neue"/>
                        </a:rPr>
                        <a:t>Pasting large collections of notes</a:t>
                      </a:r>
                    </a:p>
                  </a:txBody>
                  <a:tcPr marL="91440" marR="91440" marT="45720" marB="45720" anchor="ctr">
                    <a:solidFill>
                      <a:srgbClr val="FAF9F5"/>
                    </a:solidFill>
                  </a:tcPr>
                </a:tc>
                <a:tc>
                  <a:txBody>
                    <a:bodyPr lIns="171450" tIns="114300" rIns="171450" bIns="114300">
                      <a:noAutofit/>
                    </a:bodyPr>
                    <a:lstStyle/>
                    <a:p>
                      <a:r>
                        <a:rPr sz="1875" b="0">
                          <a:solidFill>
                            <a:srgbClr val="102C38"/>
                          </a:solidFill>
                          <a:latin typeface="Helvetica Neue"/>
                          <a:ea typeface="Helvetica Neue"/>
                          <a:cs typeface="Helvetica Neue"/>
                        </a:rPr>
                        <a:t>Retrieve relevant passages within a token budget</a:t>
                      </a:r>
                    </a:p>
                  </a:txBody>
                  <a:tcPr marL="91440" marR="91440" marT="45720" marB="45720" anchor="ctr">
                    <a:solidFill>
                      <a:srgbClr val="FAF9F5"/>
                    </a:solidFill>
                  </a:tcPr>
                </a:tc>
              </a:tr>
            </a:tbl>
          </a:graphicData>
        </a:graphic>
      </p:graphicFrame>
      <p:sp>
        <p:nvSpPr>
          <p:cNvPr id="5" name="text">
            <a:extLst xmlns:a="http://schemas.openxmlformats.org/drawingml/2006/main">
              <a:ext uri="{FF2B5EF4-FFF2-40B4-BE49-F238E27FC236}">
                <a16:creationId xmlns:a16="http://schemas.microsoft.com/office/drawing/2014/main" id="{02C6F934-07BD-4F2A-86AD-E8F4FAB65352}"/>
              </a:ext>
            </a:extLst>
          </p:cNvPr>
          <p:cNvSpPr>
            <a:spLocks xmlns:a="http://schemas.openxmlformats.org/drawingml/2006/main" noGrp="1"/>
          </p:cNvSpPr>
          <p:nvPr/>
        </p:nvSpPr>
        <p:spPr>
          <a:xfrm xmlns:a="http://schemas.openxmlformats.org/drawingml/2006/main">
            <a:off x="685800" y="56864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The goal: more time evaluating ideas, less time reconstructing context.</a:t>
            </a:r>
          </a:p>
        </p:txBody>
      </p:sp>
    </p:spTree>
    <p:extLst>
      <p:ext uri="{BB962C8B-B14F-4D97-AF65-F5344CB8AC3E}">
        <p14:creationId xmlns:p14="http://schemas.microsoft.com/office/powerpoint/2010/main" val="798907589"/>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C0F1F69D-B471-414A-A080-13C55936EE9A}"/>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02C38"/>
                </a:solidFill>
                <a:latin typeface="Helvetica Neue"/>
                <a:ea typeface="Helvetica Neue"/>
                <a:cs typeface="Helvetica Neue"/>
              </a:defRPr>
            </a:pPr>
            <a:r>
              <a:rPr sz="3450" b="1">
                <a:solidFill>
                  <a:srgbClr val="102C38"/>
                </a:solidFill>
                <a:latin typeface="Helvetica Neue"/>
                <a:ea typeface="Helvetica Neue"/>
                <a:cs typeface="Helvetica Neue"/>
              </a:rPr>
              <a:t>How the project works</a:t>
            </a:r>
          </a:p>
        </p:txBody>
      </p:sp>
      <p:sp>
        <p:nvSpPr>
          <p:cNvPr id="2" name="page-number">
            <a:extLst xmlns:a="http://schemas.openxmlformats.org/drawingml/2006/main">
              <a:ext uri="{FF2B5EF4-FFF2-40B4-BE49-F238E27FC236}">
                <a16:creationId xmlns:a16="http://schemas.microsoft.com/office/drawing/2014/main" id="{A51ED9E4-B27E-4521-A67F-AC69EA9FECB2}"/>
              </a:ext>
            </a:extLst>
          </p:cNvPr>
          <p:cNvSpPr>
            <a:spLocks xmlns:a="http://schemas.openxmlformats.org/drawingml/2006/main" noGrp="1"/>
          </p:cNvSpPr>
          <p:nvPr/>
        </p:nvSpPr>
        <p:spPr>
          <a:xfrm xmlns:a="http://schemas.openxmlformats.org/drawingml/2006/main">
            <a:off x="11296650" y="6343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671"/>
                </a:solidFill>
                <a:latin typeface="Helvetica Neue"/>
                <a:ea typeface="Helvetica Neue"/>
                <a:cs typeface="Helvetica Neue"/>
              </a:defRPr>
            </a:pPr>
            <a:r>
              <a:rPr sz="1350" b="0">
                <a:solidFill>
                  <a:srgbClr val="506671"/>
                </a:solidFill>
                <a:latin typeface="Helvetica Neue"/>
                <a:ea typeface="Helvetica Neue"/>
                <a:cs typeface="Helvetica Neue"/>
              </a:rPr>
              <a:t>03</a:t>
            </a:r>
          </a:p>
        </p:txBody>
      </p:sp>
      <p:sp>
        <p:nvSpPr>
          <p:cNvPr id="3" name="text">
            <a:extLst xmlns:a="http://schemas.openxmlformats.org/drawingml/2006/main">
              <a:ext uri="{FF2B5EF4-FFF2-40B4-BE49-F238E27FC236}">
                <a16:creationId xmlns:a16="http://schemas.microsoft.com/office/drawing/2014/main" id="{1DF22972-0679-4758-9311-95C07F4868B8}"/>
              </a:ext>
            </a:extLst>
          </p:cNvPr>
          <p:cNvSpPr>
            <a:spLocks xmlns:a="http://schemas.openxmlformats.org/drawingml/2006/main" noGrp="1"/>
          </p:cNvSpPr>
          <p:nvPr/>
        </p:nvSpPr>
        <p:spPr>
          <a:xfrm xmlns:a="http://schemas.openxmlformats.org/drawingml/2006/main">
            <a:off x="685800" y="12573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06671"/>
                </a:solidFill>
                <a:latin typeface="Helvetica Neue"/>
                <a:ea typeface="Helvetica Neue"/>
                <a:cs typeface="Helvetica Neue"/>
              </a:defRPr>
            </a:pPr>
            <a:r>
              <a:rPr sz="2175" b="0">
                <a:solidFill>
                  <a:srgbClr val="506671"/>
                </a:solidFill>
                <a:latin typeface="Helvetica Neue"/>
                <a:ea typeface="Helvetica Neue"/>
                <a:cs typeface="Helvetica Neue"/>
              </a:rPr>
              <a:t>One project supplies evidence to every stage</a:t>
            </a:r>
          </a:p>
        </p:txBody>
      </p:sp>
      <p:sp>
        <p:nvSpPr>
          <p:cNvPr id="4" name="text">
            <a:extLst xmlns:a="http://schemas.openxmlformats.org/drawingml/2006/main">
              <a:ext uri="{FF2B5EF4-FFF2-40B4-BE49-F238E27FC236}">
                <a16:creationId xmlns:a16="http://schemas.microsoft.com/office/drawing/2014/main" id="{3EE6D7A0-5995-4711-A1D5-34A90D0A71EA}"/>
              </a:ext>
            </a:extLst>
          </p:cNvPr>
          <p:cNvSpPr>
            <a:spLocks xmlns:a="http://schemas.openxmlformats.org/drawingml/2006/main" noGrp="1"/>
          </p:cNvSpPr>
          <p:nvPr/>
        </p:nvSpPr>
        <p:spPr>
          <a:xfrm xmlns:a="http://schemas.openxmlformats.org/drawingml/2006/main">
            <a:off x="685800" y="20859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087E83"/>
                </a:solidFill>
                <a:latin typeface="Helvetica Neue"/>
                <a:ea typeface="Helvetica Neue"/>
                <a:cs typeface="Helvetica Neue"/>
              </a:defRPr>
            </a:pPr>
            <a:r>
              <a:rPr sz="3900" b="1">
                <a:solidFill>
                  <a:srgbClr val="087E83"/>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EB8DE3E0-6690-48CE-A3E5-D3F857801F5B}"/>
              </a:ext>
            </a:extLst>
          </p:cNvPr>
          <p:cNvSpPr>
            <a:spLocks xmlns:a="http://schemas.openxmlformats.org/drawingml/2006/main" noGrp="1"/>
          </p:cNvSpPr>
          <p:nvPr/>
        </p:nvSpPr>
        <p:spPr>
          <a:xfrm xmlns:a="http://schemas.openxmlformats.org/drawingml/2006/main">
            <a:off x="685800" y="27717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C38"/>
                </a:solidFill>
                <a:latin typeface="Helvetica Neue"/>
                <a:ea typeface="Helvetica Neue"/>
                <a:cs typeface="Helvetica Neue"/>
              </a:defRPr>
            </a:pPr>
            <a:r>
              <a:rPr sz="2250" b="1">
                <a:solidFill>
                  <a:srgbClr val="102C38"/>
                </a:solidFill>
                <a:latin typeface="Helvetica Neue"/>
                <a:ea typeface="Helvetica Neue"/>
                <a:cs typeface="Helvetica Neue"/>
              </a:rPr>
              <a:t>Retrieve</a:t>
            </a:r>
          </a:p>
        </p:txBody>
      </p:sp>
      <p:sp>
        <p:nvSpPr>
          <p:cNvPr id="6" name="text">
            <a:extLst xmlns:a="http://schemas.openxmlformats.org/drawingml/2006/main">
              <a:ext uri="{FF2B5EF4-FFF2-40B4-BE49-F238E27FC236}">
                <a16:creationId xmlns:a16="http://schemas.microsoft.com/office/drawing/2014/main" id="{309EC31E-31B6-44C4-995A-EC736976DB62}"/>
              </a:ext>
            </a:extLst>
          </p:cNvPr>
          <p:cNvSpPr>
            <a:spLocks xmlns:a="http://schemas.openxmlformats.org/drawingml/2006/main" noGrp="1"/>
          </p:cNvSpPr>
          <p:nvPr/>
        </p:nvSpPr>
        <p:spPr>
          <a:xfrm xmlns:a="http://schemas.openxmlformats.org/drawingml/2006/main">
            <a:off x="685800" y="3314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Find relevant passages</a:t>
            </a:r>
          </a:p>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inside this project.</a:t>
            </a:r>
          </a:p>
        </p:txBody>
      </p:sp>
      <p:sp>
        <p:nvSpPr>
          <p:cNvPr id="7" name="text">
            <a:extLst xmlns:a="http://schemas.openxmlformats.org/drawingml/2006/main">
              <a:ext uri="{FF2B5EF4-FFF2-40B4-BE49-F238E27FC236}">
                <a16:creationId xmlns:a16="http://schemas.microsoft.com/office/drawing/2014/main" id="{7B3EBAFD-B857-433F-AEE1-DF295975315A}"/>
              </a:ext>
            </a:extLst>
          </p:cNvPr>
          <p:cNvSpPr>
            <a:spLocks xmlns:a="http://schemas.openxmlformats.org/drawingml/2006/main" noGrp="1"/>
          </p:cNvSpPr>
          <p:nvPr/>
        </p:nvSpPr>
        <p:spPr>
          <a:xfrm xmlns:a="http://schemas.openxmlformats.org/drawingml/2006/main">
            <a:off x="3429000" y="20859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087E83"/>
                </a:solidFill>
                <a:latin typeface="Helvetica Neue"/>
                <a:ea typeface="Helvetica Neue"/>
                <a:cs typeface="Helvetica Neue"/>
              </a:defRPr>
            </a:pPr>
            <a:r>
              <a:rPr sz="3900" b="1">
                <a:solidFill>
                  <a:srgbClr val="087E83"/>
                </a:solidFill>
                <a:latin typeface="Helvetica Neue"/>
                <a:ea typeface="Helvetica Neue"/>
                <a:cs typeface="Helvetica Neue"/>
              </a:rPr>
              <a:t>02</a:t>
            </a:r>
          </a:p>
        </p:txBody>
      </p:sp>
      <p:sp>
        <p:nvSpPr>
          <p:cNvPr id="8" name="text">
            <a:extLst xmlns:a="http://schemas.openxmlformats.org/drawingml/2006/main">
              <a:ext uri="{FF2B5EF4-FFF2-40B4-BE49-F238E27FC236}">
                <a16:creationId xmlns:a16="http://schemas.microsoft.com/office/drawing/2014/main" id="{3CA0B73D-61C3-423E-8B18-8B28B615AC40}"/>
              </a:ext>
            </a:extLst>
          </p:cNvPr>
          <p:cNvSpPr>
            <a:spLocks xmlns:a="http://schemas.openxmlformats.org/drawingml/2006/main" noGrp="1"/>
          </p:cNvSpPr>
          <p:nvPr/>
        </p:nvSpPr>
        <p:spPr>
          <a:xfrm xmlns:a="http://schemas.openxmlformats.org/drawingml/2006/main">
            <a:off x="3429000" y="27717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C38"/>
                </a:solidFill>
                <a:latin typeface="Helvetica Neue"/>
                <a:ea typeface="Helvetica Neue"/>
                <a:cs typeface="Helvetica Neue"/>
              </a:defRPr>
            </a:pPr>
            <a:r>
              <a:rPr sz="2250" b="1">
                <a:solidFill>
                  <a:srgbClr val="102C38"/>
                </a:solidFill>
                <a:latin typeface="Helvetica Neue"/>
                <a:ea typeface="Helvetica Neue"/>
                <a:cs typeface="Helvetica Neue"/>
              </a:rPr>
              <a:t>Plan</a:t>
            </a:r>
          </a:p>
        </p:txBody>
      </p:sp>
      <p:sp>
        <p:nvSpPr>
          <p:cNvPr id="9" name="text">
            <a:extLst xmlns:a="http://schemas.openxmlformats.org/drawingml/2006/main">
              <a:ext uri="{FF2B5EF4-FFF2-40B4-BE49-F238E27FC236}">
                <a16:creationId xmlns:a16="http://schemas.microsoft.com/office/drawing/2014/main" id="{5DB9F506-5137-4238-9FA4-8C97AF3D0E8B}"/>
              </a:ext>
            </a:extLst>
          </p:cNvPr>
          <p:cNvSpPr>
            <a:spLocks xmlns:a="http://schemas.openxmlformats.org/drawingml/2006/main" noGrp="1"/>
          </p:cNvSpPr>
          <p:nvPr/>
        </p:nvSpPr>
        <p:spPr>
          <a:xfrm xmlns:a="http://schemas.openxmlformats.org/drawingml/2006/main">
            <a:off x="3429000" y="3314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Assign clear tasks to</a:t>
            </a:r>
          </a:p>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configured models.</a:t>
            </a:r>
          </a:p>
        </p:txBody>
      </p:sp>
      <p:sp>
        <p:nvSpPr>
          <p:cNvPr id="10" name="text">
            <a:extLst xmlns:a="http://schemas.openxmlformats.org/drawingml/2006/main">
              <a:ext uri="{FF2B5EF4-FFF2-40B4-BE49-F238E27FC236}">
                <a16:creationId xmlns:a16="http://schemas.microsoft.com/office/drawing/2014/main" id="{8A8549F9-E67D-49AF-B566-7C8AA11D5490}"/>
              </a:ext>
            </a:extLst>
          </p:cNvPr>
          <p:cNvSpPr>
            <a:spLocks xmlns:a="http://schemas.openxmlformats.org/drawingml/2006/main" noGrp="1"/>
          </p:cNvSpPr>
          <p:nvPr/>
        </p:nvSpPr>
        <p:spPr>
          <a:xfrm xmlns:a="http://schemas.openxmlformats.org/drawingml/2006/main">
            <a:off x="6172200" y="20859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087E83"/>
                </a:solidFill>
                <a:latin typeface="Helvetica Neue"/>
                <a:ea typeface="Helvetica Neue"/>
                <a:cs typeface="Helvetica Neue"/>
              </a:defRPr>
            </a:pPr>
            <a:r>
              <a:rPr sz="3900" b="1">
                <a:solidFill>
                  <a:srgbClr val="087E83"/>
                </a:solidFill>
                <a:latin typeface="Helvetica Neue"/>
                <a:ea typeface="Helvetica Neue"/>
                <a:cs typeface="Helvetica Neue"/>
              </a:rPr>
              <a:t>03</a:t>
            </a:r>
          </a:p>
        </p:txBody>
      </p:sp>
      <p:sp>
        <p:nvSpPr>
          <p:cNvPr id="11" name="text">
            <a:extLst xmlns:a="http://schemas.openxmlformats.org/drawingml/2006/main">
              <a:ext uri="{FF2B5EF4-FFF2-40B4-BE49-F238E27FC236}">
                <a16:creationId xmlns:a16="http://schemas.microsoft.com/office/drawing/2014/main" id="{C791B48C-CEEB-4358-BF8F-7A5ACF6CC045}"/>
              </a:ext>
            </a:extLst>
          </p:cNvPr>
          <p:cNvSpPr>
            <a:spLocks xmlns:a="http://schemas.openxmlformats.org/drawingml/2006/main" noGrp="1"/>
          </p:cNvSpPr>
          <p:nvPr/>
        </p:nvSpPr>
        <p:spPr>
          <a:xfrm xmlns:a="http://schemas.openxmlformats.org/drawingml/2006/main">
            <a:off x="6172200" y="27717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C38"/>
                </a:solidFill>
                <a:latin typeface="Helvetica Neue"/>
                <a:ea typeface="Helvetica Neue"/>
                <a:cs typeface="Helvetica Neue"/>
              </a:defRPr>
            </a:pPr>
            <a:r>
              <a:rPr sz="2250" b="1">
                <a:solidFill>
                  <a:srgbClr val="102C38"/>
                </a:solidFill>
                <a:latin typeface="Helvetica Neue"/>
                <a:ea typeface="Helvetica Neue"/>
                <a:cs typeface="Helvetica Neue"/>
              </a:rPr>
              <a:t>Draft and review</a:t>
            </a:r>
          </a:p>
        </p:txBody>
      </p:sp>
      <p:sp>
        <p:nvSpPr>
          <p:cNvPr id="12" name="text">
            <a:extLst xmlns:a="http://schemas.openxmlformats.org/drawingml/2006/main">
              <a:ext uri="{FF2B5EF4-FFF2-40B4-BE49-F238E27FC236}">
                <a16:creationId xmlns:a16="http://schemas.microsoft.com/office/drawing/2014/main" id="{BDDF6536-F155-445C-8A50-EDBDA4AD9648}"/>
              </a:ext>
            </a:extLst>
          </p:cNvPr>
          <p:cNvSpPr>
            <a:spLocks xmlns:a="http://schemas.openxmlformats.org/drawingml/2006/main" noGrp="1"/>
          </p:cNvSpPr>
          <p:nvPr/>
        </p:nvSpPr>
        <p:spPr>
          <a:xfrm xmlns:a="http://schemas.openxmlformats.org/drawingml/2006/main">
            <a:off x="6172200" y="3314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Share drafts and</a:t>
            </a:r>
          </a:p>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targeted feedback.</a:t>
            </a:r>
          </a:p>
        </p:txBody>
      </p:sp>
      <p:sp>
        <p:nvSpPr>
          <p:cNvPr id="13" name="text">
            <a:extLst xmlns:a="http://schemas.openxmlformats.org/drawingml/2006/main">
              <a:ext uri="{FF2B5EF4-FFF2-40B4-BE49-F238E27FC236}">
                <a16:creationId xmlns:a16="http://schemas.microsoft.com/office/drawing/2014/main" id="{CE123E8A-9C97-49F5-8EDF-66F2A86FD17D}"/>
              </a:ext>
            </a:extLst>
          </p:cNvPr>
          <p:cNvSpPr>
            <a:spLocks xmlns:a="http://schemas.openxmlformats.org/drawingml/2006/main" noGrp="1"/>
          </p:cNvSpPr>
          <p:nvPr/>
        </p:nvSpPr>
        <p:spPr>
          <a:xfrm xmlns:a="http://schemas.openxmlformats.org/drawingml/2006/main">
            <a:off x="8915400" y="20859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087E83"/>
                </a:solidFill>
                <a:latin typeface="Helvetica Neue"/>
                <a:ea typeface="Helvetica Neue"/>
                <a:cs typeface="Helvetica Neue"/>
              </a:defRPr>
            </a:pPr>
            <a:r>
              <a:rPr sz="3900" b="1">
                <a:solidFill>
                  <a:srgbClr val="087E83"/>
                </a:solidFill>
                <a:latin typeface="Helvetica Neue"/>
                <a:ea typeface="Helvetica Neue"/>
                <a:cs typeface="Helvetica Neue"/>
              </a:rPr>
              <a:t>04</a:t>
            </a:r>
          </a:p>
        </p:txBody>
      </p:sp>
      <p:sp>
        <p:nvSpPr>
          <p:cNvPr id="14" name="text">
            <a:extLst xmlns:a="http://schemas.openxmlformats.org/drawingml/2006/main">
              <a:ext uri="{FF2B5EF4-FFF2-40B4-BE49-F238E27FC236}">
                <a16:creationId xmlns:a16="http://schemas.microsoft.com/office/drawing/2014/main" id="{B505D5DD-1802-433D-8404-BA9030D6F914}"/>
              </a:ext>
            </a:extLst>
          </p:cNvPr>
          <p:cNvSpPr>
            <a:spLocks xmlns:a="http://schemas.openxmlformats.org/drawingml/2006/main" noGrp="1"/>
          </p:cNvSpPr>
          <p:nvPr/>
        </p:nvSpPr>
        <p:spPr>
          <a:xfrm xmlns:a="http://schemas.openxmlformats.org/drawingml/2006/main">
            <a:off x="8915400" y="2771775"/>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C38"/>
                </a:solidFill>
                <a:latin typeface="Helvetica Neue"/>
                <a:ea typeface="Helvetica Neue"/>
                <a:cs typeface="Helvetica Neue"/>
              </a:defRPr>
            </a:pPr>
            <a:r>
              <a:rPr sz="2250" b="1">
                <a:solidFill>
                  <a:srgbClr val="102C38"/>
                </a:solidFill>
                <a:latin typeface="Helvetica Neue"/>
                <a:ea typeface="Helvetica Neue"/>
                <a:cs typeface="Helvetica Neue"/>
              </a:rPr>
              <a:t>Save</a:t>
            </a:r>
          </a:p>
        </p:txBody>
      </p:sp>
      <p:sp>
        <p:nvSpPr>
          <p:cNvPr id="15" name="text">
            <a:extLst xmlns:a="http://schemas.openxmlformats.org/drawingml/2006/main">
              <a:ext uri="{FF2B5EF4-FFF2-40B4-BE49-F238E27FC236}">
                <a16:creationId xmlns:a16="http://schemas.microsoft.com/office/drawing/2014/main" id="{A3525435-7D89-433B-BDD0-602511F0FBBB}"/>
              </a:ext>
            </a:extLst>
          </p:cNvPr>
          <p:cNvSpPr>
            <a:spLocks xmlns:a="http://schemas.openxmlformats.org/drawingml/2006/main" noGrp="1"/>
          </p:cNvSpPr>
          <p:nvPr/>
        </p:nvSpPr>
        <p:spPr>
          <a:xfrm xmlns:a="http://schemas.openxmlformats.org/drawingml/2006/main">
            <a:off x="8915400" y="3314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Keep versioned results</a:t>
            </a:r>
          </a:p>
          <a:p xmlns:a="http://schemas.openxmlformats.org/drawingml/2006/main">
            <a:pPr>
              <a:defRPr sz="1800" b="0">
                <a:solidFill>
                  <a:srgbClr val="506671"/>
                </a:solidFill>
                <a:latin typeface="Helvetica Neue"/>
                <a:ea typeface="Helvetica Neue"/>
                <a:cs typeface="Helvetica Neue"/>
              </a:defRPr>
            </a:pPr>
            <a:r>
              <a:rPr sz="1800" b="0">
                <a:solidFill>
                  <a:srgbClr val="506671"/>
                </a:solidFill>
                <a:latin typeface="Helvetica Neue"/>
                <a:ea typeface="Helvetica Neue"/>
                <a:cs typeface="Helvetica Neue"/>
              </a:rPr>
              <a:t>searchable through MCP.</a:t>
            </a:r>
          </a:p>
        </p:txBody>
      </p:sp>
      <p:sp>
        <p:nvSpPr>
          <p:cNvPr id="16" name="text">
            <a:extLst xmlns:a="http://schemas.openxmlformats.org/drawingml/2006/main">
              <a:ext uri="{FF2B5EF4-FFF2-40B4-BE49-F238E27FC236}">
                <a16:creationId xmlns:a16="http://schemas.microsoft.com/office/drawing/2014/main" id="{C87033A2-0C8B-41AD-BA3F-7F3AAA11B30D}"/>
              </a:ext>
            </a:extLst>
          </p:cNvPr>
          <p:cNvSpPr>
            <a:spLocks xmlns:a="http://schemas.openxmlformats.org/drawingml/2006/main" noGrp="1"/>
          </p:cNvSpPr>
          <p:nvPr/>
        </p:nvSpPr>
        <p:spPr>
          <a:xfrm xmlns:a="http://schemas.openxmlformats.org/drawingml/2006/main">
            <a:off x="685800" y="4581525"/>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E83"/>
                </a:solidFill>
                <a:latin typeface="Helvetica Neue"/>
                <a:ea typeface="Helvetica Neue"/>
                <a:cs typeface="Helvetica Neue"/>
              </a:defRPr>
            </a:pPr>
            <a:r>
              <a:rPr sz="3600" b="1">
                <a:solidFill>
                  <a:srgbClr val="087E83"/>
                </a:solidFill>
                <a:latin typeface="Helvetica Neue"/>
                <a:ea typeface="Helvetica Neue"/>
                <a:cs typeface="Helvetica Neue"/>
              </a:rPr>
              <a:t>~10 ms</a:t>
            </a:r>
          </a:p>
        </p:txBody>
      </p:sp>
      <p:sp>
        <p:nvSpPr>
          <p:cNvPr id="17" name="text">
            <a:extLst xmlns:a="http://schemas.openxmlformats.org/drawingml/2006/main">
              <a:ext uri="{FF2B5EF4-FFF2-40B4-BE49-F238E27FC236}">
                <a16:creationId xmlns:a16="http://schemas.microsoft.com/office/drawing/2014/main" id="{02697432-4FD5-4538-95E6-E06738E2FFCC}"/>
              </a:ext>
            </a:extLst>
          </p:cNvPr>
          <p:cNvSpPr>
            <a:spLocks xmlns:a="http://schemas.openxmlformats.org/drawingml/2006/main" noGrp="1"/>
          </p:cNvSpPr>
          <p:nvPr/>
        </p:nvSpPr>
        <p:spPr>
          <a:xfrm xmlns:a="http://schemas.openxmlformats.org/drawingml/2006/main">
            <a:off x="685800" y="5305425"/>
            <a:ext cx="335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38"/>
                </a:solidFill>
                <a:latin typeface="Helvetica Neue"/>
                <a:ea typeface="Helvetica Neue"/>
                <a:cs typeface="Helvetica Neue"/>
              </a:defRPr>
            </a:pPr>
            <a:r>
              <a:rPr sz="1725" b="0">
                <a:solidFill>
                  <a:srgbClr val="102C38"/>
                </a:solidFill>
                <a:latin typeface="Helvetica Neue"/>
                <a:ea typeface="Helvetica Neue"/>
                <a:cs typeface="Helvetica Neue"/>
              </a:rPr>
              <a:t>median cached retrieval</a:t>
            </a:r>
          </a:p>
        </p:txBody>
      </p:sp>
      <p:sp>
        <p:nvSpPr>
          <p:cNvPr id="18" name="text">
            <a:extLst xmlns:a="http://schemas.openxmlformats.org/drawingml/2006/main">
              <a:ext uri="{FF2B5EF4-FFF2-40B4-BE49-F238E27FC236}">
                <a16:creationId xmlns:a16="http://schemas.microsoft.com/office/drawing/2014/main" id="{CD1749E9-B353-418E-81C6-0F06C3C5046B}"/>
              </a:ext>
            </a:extLst>
          </p:cNvPr>
          <p:cNvSpPr>
            <a:spLocks xmlns:a="http://schemas.openxmlformats.org/drawingml/2006/main" noGrp="1"/>
          </p:cNvSpPr>
          <p:nvPr/>
        </p:nvSpPr>
        <p:spPr>
          <a:xfrm xmlns:a="http://schemas.openxmlformats.org/drawingml/2006/main">
            <a:off x="4352925" y="4581525"/>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E83"/>
                </a:solidFill>
                <a:latin typeface="Helvetica Neue"/>
                <a:ea typeface="Helvetica Neue"/>
                <a:cs typeface="Helvetica Neue"/>
              </a:defRPr>
            </a:pPr>
            <a:r>
              <a:rPr sz="3600" b="1">
                <a:solidFill>
                  <a:srgbClr val="087E83"/>
                </a:solidFill>
                <a:latin typeface="Helvetica Neue"/>
                <a:ea typeface="Helvetica Neue"/>
                <a:cs typeface="Helvetica Neue"/>
              </a:rPr>
              <a:t>Up to 1,500</a:t>
            </a:r>
          </a:p>
        </p:txBody>
      </p:sp>
      <p:sp>
        <p:nvSpPr>
          <p:cNvPr id="19" name="text">
            <a:extLst xmlns:a="http://schemas.openxmlformats.org/drawingml/2006/main">
              <a:ext uri="{FF2B5EF4-FFF2-40B4-BE49-F238E27FC236}">
                <a16:creationId xmlns:a16="http://schemas.microsoft.com/office/drawing/2014/main" id="{6A06B4A9-F714-482C-8DAD-D4645199C59C}"/>
              </a:ext>
            </a:extLst>
          </p:cNvPr>
          <p:cNvSpPr>
            <a:spLocks xmlns:a="http://schemas.openxmlformats.org/drawingml/2006/main" noGrp="1"/>
          </p:cNvSpPr>
          <p:nvPr/>
        </p:nvSpPr>
        <p:spPr>
          <a:xfrm xmlns:a="http://schemas.openxmlformats.org/drawingml/2006/main">
            <a:off x="4352925" y="5305425"/>
            <a:ext cx="335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38"/>
                </a:solidFill>
                <a:latin typeface="Helvetica Neue"/>
                <a:ea typeface="Helvetica Neue"/>
                <a:cs typeface="Helvetica Neue"/>
              </a:defRPr>
            </a:pPr>
            <a:r>
              <a:rPr sz="1725" b="0">
                <a:solidFill>
                  <a:srgbClr val="102C38"/>
                </a:solidFill>
                <a:latin typeface="Helvetica Neue"/>
                <a:ea typeface="Helvetica Neue"/>
                <a:cs typeface="Helvetica Neue"/>
              </a:rPr>
              <a:t>extra context tokens per call</a:t>
            </a:r>
          </a:p>
        </p:txBody>
      </p:sp>
      <p:sp>
        <p:nvSpPr>
          <p:cNvPr id="20" name="text">
            <a:extLst xmlns:a="http://schemas.openxmlformats.org/drawingml/2006/main">
              <a:ext uri="{FF2B5EF4-FFF2-40B4-BE49-F238E27FC236}">
                <a16:creationId xmlns:a16="http://schemas.microsoft.com/office/drawing/2014/main" id="{34BDA571-FFD9-4E80-83D4-8A5D14DADDE0}"/>
              </a:ext>
            </a:extLst>
          </p:cNvPr>
          <p:cNvSpPr>
            <a:spLocks xmlns:a="http://schemas.openxmlformats.org/drawingml/2006/main" noGrp="1"/>
          </p:cNvSpPr>
          <p:nvPr/>
        </p:nvSpPr>
        <p:spPr>
          <a:xfrm xmlns:a="http://schemas.openxmlformats.org/drawingml/2006/main">
            <a:off x="8020050" y="4581525"/>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E83"/>
                </a:solidFill>
                <a:latin typeface="Helvetica Neue"/>
                <a:ea typeface="Helvetica Neue"/>
                <a:cs typeface="Helvetica Neue"/>
              </a:defRPr>
            </a:pPr>
            <a:r>
              <a:rPr sz="3600" b="1">
                <a:solidFill>
                  <a:srgbClr val="087E83"/>
                </a:solidFill>
                <a:latin typeface="Helvetica Neue"/>
                <a:ea typeface="Helvetica Neue"/>
                <a:cs typeface="Helvetica Neue"/>
              </a:rPr>
              <a:t>0</a:t>
            </a:r>
          </a:p>
        </p:txBody>
      </p:sp>
      <p:sp>
        <p:nvSpPr>
          <p:cNvPr id="21" name="text">
            <a:extLst xmlns:a="http://schemas.openxmlformats.org/drawingml/2006/main">
              <a:ext uri="{FF2B5EF4-FFF2-40B4-BE49-F238E27FC236}">
                <a16:creationId xmlns:a16="http://schemas.microsoft.com/office/drawing/2014/main" id="{6FF048F5-3831-4A25-B2F2-A6BDD9A4780B}"/>
              </a:ext>
            </a:extLst>
          </p:cNvPr>
          <p:cNvSpPr>
            <a:spLocks xmlns:a="http://schemas.openxmlformats.org/drawingml/2006/main" noGrp="1"/>
          </p:cNvSpPr>
          <p:nvPr/>
        </p:nvSpPr>
        <p:spPr>
          <a:xfrm xmlns:a="http://schemas.openxmlformats.org/drawingml/2006/main">
            <a:off x="8020050" y="5305425"/>
            <a:ext cx="335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C38"/>
                </a:solidFill>
                <a:latin typeface="Helvetica Neue"/>
                <a:ea typeface="Helvetica Neue"/>
                <a:cs typeface="Helvetica Neue"/>
              </a:defRPr>
            </a:pPr>
            <a:r>
              <a:rPr sz="1725" b="0">
                <a:solidFill>
                  <a:srgbClr val="102C38"/>
                </a:solidFill>
                <a:latin typeface="Helvetica Neue"/>
                <a:ea typeface="Helvetica Neue"/>
                <a:cs typeface="Helvetica Neue"/>
              </a:rPr>
              <a:t>model calls for retrieval</a:t>
            </a:r>
          </a:p>
        </p:txBody>
      </p:sp>
      <p:sp>
        <p:nvSpPr>
          <p:cNvPr id="22" name="text">
            <a:extLst xmlns:a="http://schemas.openxmlformats.org/drawingml/2006/main">
              <a:ext uri="{FF2B5EF4-FFF2-40B4-BE49-F238E27FC236}">
                <a16:creationId xmlns:a16="http://schemas.microsoft.com/office/drawing/2014/main" id="{6A889EB1-5C86-490C-AC54-A7BF2BF2D7D6}"/>
              </a:ext>
            </a:extLst>
          </p:cNvPr>
          <p:cNvSpPr>
            <a:spLocks xmlns:a="http://schemas.openxmlformats.org/drawingml/2006/main" noGrp="1"/>
          </p:cNvSpPr>
          <p:nvPr/>
        </p:nvSpPr>
        <p:spPr>
          <a:xfrm xmlns:a="http://schemas.openxmlformats.org/drawingml/2006/main">
            <a:off x="685800" y="6067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06671"/>
                </a:solidFill>
                <a:latin typeface="Helvetica Neue"/>
                <a:ea typeface="Helvetica Neue"/>
                <a:cs typeface="Helvetica Neue"/>
              </a:defRPr>
            </a:pPr>
            <a:r>
              <a:rPr sz="1275" b="0">
                <a:solidFill>
                  <a:srgbClr val="506671"/>
                </a:solidFill>
                <a:latin typeface="Helvetica Neue"/>
                <a:ea typeface="Helvetica Neue"/>
                <a:cs typeface="Helvetica Neue"/>
              </a:rPr>
              <a:t>Prototype benchmark: 1,500 synthetic documents. P95 ~24 ms. Initial indexing ~0.8 s.</a:t>
            </a:r>
          </a:p>
          <a:p xmlns:a="http://schemas.openxmlformats.org/drawingml/2006/main">
            <a:pPr>
              <a:defRPr sz="1275" b="0">
                <a:solidFill>
                  <a:srgbClr val="506671"/>
                </a:solidFill>
                <a:latin typeface="Helvetica Neue"/>
                <a:ea typeface="Helvetica Neue"/>
                <a:cs typeface="Helvetica Neue"/>
              </a:defRPr>
            </a:pPr>
            <a:r>
              <a:rPr sz="1275" b="0">
                <a:solidFill>
                  <a:srgbClr val="506671"/>
                </a:solidFill>
                <a:latin typeface="Helvetica Neue"/>
                <a:ea typeface="Helvetica Neue"/>
                <a:cs typeface="Helvetica Neue"/>
              </a:rPr>
              <a:t>The token cap covers additional retrieved evidence. Timings vary with project size.</a:t>
            </a:r>
          </a:p>
        </p:txBody>
      </p:sp>
    </p:spTree>
    <p:extLst>
      <p:ext uri="{BB962C8B-B14F-4D97-AF65-F5344CB8AC3E}">
        <p14:creationId xmlns:p14="http://schemas.microsoft.com/office/powerpoint/2010/main" val="1209996343"/>
      </p:ext>
    </p:extLst>
  </p:cSld>
</p:sld>
</file>

<file path=ppt/slides/slide4.xml><?xml version="1.0" encoding="utf-8"?>
<p:sld xmlns:p="http://schemas.openxmlformats.org/presentationml/2006/main">
  <p:cSld>
    <p:bg>
      <p:bgPr>
        <a:solidFill xmlns:a="http://schemas.openxmlformats.org/drawingml/2006/main">
          <a:srgbClr val="071E31"/>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62718518-80F0-4283-9FD5-8CFC31287066}"/>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The MCP grows with the project</a:t>
            </a:r>
          </a:p>
        </p:txBody>
      </p:sp>
      <p:sp>
        <p:nvSpPr>
          <p:cNvPr id="2" name="page-number">
            <a:extLst xmlns:a="http://schemas.openxmlformats.org/drawingml/2006/main">
              <a:ext uri="{FF2B5EF4-FFF2-40B4-BE49-F238E27FC236}">
                <a16:creationId xmlns:a16="http://schemas.microsoft.com/office/drawing/2014/main" id="{720A0982-1866-4E39-8D9E-52239BC09C43}"/>
              </a:ext>
            </a:extLst>
          </p:cNvPr>
          <p:cNvSpPr>
            <a:spLocks xmlns:a="http://schemas.openxmlformats.org/drawingml/2006/main" noGrp="1"/>
          </p:cNvSpPr>
          <p:nvPr/>
        </p:nvSpPr>
        <p:spPr>
          <a:xfrm xmlns:a="http://schemas.openxmlformats.org/drawingml/2006/main">
            <a:off x="11296650" y="6343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88DED5"/>
                </a:solidFill>
                <a:latin typeface="Helvetica Neue"/>
                <a:ea typeface="Helvetica Neue"/>
                <a:cs typeface="Helvetica Neue"/>
              </a:defRPr>
            </a:pPr>
            <a:r>
              <a:rPr sz="1350" b="0">
                <a:solidFill>
                  <a:srgbClr val="88DED5"/>
                </a:solidFill>
                <a:latin typeface="Helvetica Neue"/>
                <a:ea typeface="Helvetica Neue"/>
                <a:cs typeface="Helvetica Neue"/>
              </a:rPr>
              <a:t>04</a:t>
            </a:r>
          </a:p>
        </p:txBody>
      </p:sp>
      <p:sp>
        <p:nvSpPr>
          <p:cNvPr id="3" name="text">
            <a:extLst xmlns:a="http://schemas.openxmlformats.org/drawingml/2006/main">
              <a:ext uri="{FF2B5EF4-FFF2-40B4-BE49-F238E27FC236}">
                <a16:creationId xmlns:a16="http://schemas.microsoft.com/office/drawing/2014/main" id="{0C1D1BD6-2FF0-473F-BD2A-9C2A16FB6F17}"/>
              </a:ext>
            </a:extLst>
          </p:cNvPr>
          <p:cNvSpPr>
            <a:spLocks xmlns:a="http://schemas.openxmlformats.org/drawingml/2006/main" noGrp="1"/>
          </p:cNvSpPr>
          <p:nvPr/>
        </p:nvSpPr>
        <p:spPr>
          <a:xfrm xmlns:a="http://schemas.openxmlformats.org/drawingml/2006/main">
            <a:off x="685800" y="12954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C3D5DD"/>
                </a:solidFill>
                <a:latin typeface="Helvetica Neue"/>
                <a:ea typeface="Helvetica Neue"/>
                <a:cs typeface="Helvetica Neue"/>
              </a:defRPr>
            </a:pPr>
            <a:r>
              <a:rPr sz="2100" b="0">
                <a:solidFill>
                  <a:srgbClr val="C3D5DD"/>
                </a:solidFill>
                <a:latin typeface="Helvetica Neue"/>
                <a:ea typeface="Helvetica Neue"/>
                <a:cs typeface="Helvetica Neue"/>
              </a:rPr>
              <a:t>Example: exploring a non-random sampling strategy</a:t>
            </a:r>
          </a:p>
        </p:txBody>
      </p:sp>
      <p:sp>
        <p:nvSpPr>
          <p:cNvPr id="4" name="text">
            <a:extLst xmlns:a="http://schemas.openxmlformats.org/drawingml/2006/main">
              <a:ext uri="{FF2B5EF4-FFF2-40B4-BE49-F238E27FC236}">
                <a16:creationId xmlns:a16="http://schemas.microsoft.com/office/drawing/2014/main" id="{96427DC4-6B35-446A-AFC9-783686366614}"/>
              </a:ext>
            </a:extLst>
          </p:cNvPr>
          <p:cNvSpPr>
            <a:spLocks xmlns:a="http://schemas.openxmlformats.org/drawingml/2006/main" noGrp="1"/>
          </p:cNvSpPr>
          <p:nvPr/>
        </p:nvSpPr>
        <p:spPr>
          <a:xfrm xmlns:a="http://schemas.openxmlformats.org/drawingml/2006/main">
            <a:off x="685800" y="213360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88DED5"/>
                </a:solidFill>
                <a:latin typeface="Helvetica Neue"/>
                <a:ea typeface="Helvetica Neue"/>
                <a:cs typeface="Helvetica Neue"/>
              </a:defRPr>
            </a:pPr>
            <a:r>
              <a:rPr sz="3150" b="1">
                <a:solidFill>
                  <a:srgbClr val="88DED5"/>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CA7CB9D7-BB45-432E-9A2C-9E97180B4E63}"/>
              </a:ext>
            </a:extLst>
          </p:cNvPr>
          <p:cNvSpPr>
            <a:spLocks xmlns:a="http://schemas.openxmlformats.org/drawingml/2006/main" noGrp="1"/>
          </p:cNvSpPr>
          <p:nvPr/>
        </p:nvSpPr>
        <p:spPr>
          <a:xfrm xmlns:a="http://schemas.openxmlformats.org/drawingml/2006/main">
            <a:off x="1733550" y="2143125"/>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Define the question</a:t>
            </a:r>
          </a:p>
        </p:txBody>
      </p:sp>
      <p:sp>
        <p:nvSpPr>
          <p:cNvPr id="6" name="text">
            <a:extLst xmlns:a="http://schemas.openxmlformats.org/drawingml/2006/main">
              <a:ext uri="{FF2B5EF4-FFF2-40B4-BE49-F238E27FC236}">
                <a16:creationId xmlns:a16="http://schemas.microsoft.com/office/drawing/2014/main" id="{145F0F98-E7F0-46E0-BDF8-C99233DD2B8C}"/>
              </a:ext>
            </a:extLst>
          </p:cNvPr>
          <p:cNvSpPr>
            <a:spLocks xmlns:a="http://schemas.openxmlformats.org/drawingml/2006/main" noGrp="1"/>
          </p:cNvSpPr>
          <p:nvPr/>
        </p:nvSpPr>
        <p:spPr>
          <a:xfrm xmlns:a="http://schemas.openxmlformats.org/drawingml/2006/main">
            <a:off x="5924550" y="2143125"/>
            <a:ext cx="547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1E2E7"/>
                </a:solidFill>
                <a:latin typeface="Helvetica Neue"/>
                <a:ea typeface="Helvetica Neue"/>
                <a:cs typeface="Helvetica Neue"/>
              </a:defRPr>
            </a:pPr>
            <a:r>
              <a:rPr sz="1875" b="0">
                <a:solidFill>
                  <a:srgbClr val="D1E2E7"/>
                </a:solidFill>
                <a:latin typeface="Helvetica Neue"/>
                <a:ea typeface="Helvetica Neue"/>
                <a:cs typeface="Helvetica Neue"/>
              </a:rPr>
              <a:t>Save the sampling goal, constraints and baseline.</a:t>
            </a:r>
          </a:p>
        </p:txBody>
      </p:sp>
      <p:sp>
        <p:nvSpPr>
          <p:cNvPr id="7" name="text">
            <a:extLst xmlns:a="http://schemas.openxmlformats.org/drawingml/2006/main">
              <a:ext uri="{FF2B5EF4-FFF2-40B4-BE49-F238E27FC236}">
                <a16:creationId xmlns:a16="http://schemas.microsoft.com/office/drawing/2014/main" id="{448F71A7-9A83-491C-AF5E-C4B3EB1960A4}"/>
              </a:ext>
            </a:extLst>
          </p:cNvPr>
          <p:cNvSpPr>
            <a:spLocks xmlns:a="http://schemas.openxmlformats.org/drawingml/2006/main" noGrp="1"/>
          </p:cNvSpPr>
          <p:nvPr/>
        </p:nvSpPr>
        <p:spPr>
          <a:xfrm xmlns:a="http://schemas.openxmlformats.org/drawingml/2006/main">
            <a:off x="685800" y="3228975"/>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88DED5"/>
                </a:solidFill>
                <a:latin typeface="Helvetica Neue"/>
                <a:ea typeface="Helvetica Neue"/>
                <a:cs typeface="Helvetica Neue"/>
              </a:defRPr>
            </a:pPr>
            <a:r>
              <a:rPr sz="3150" b="1">
                <a:solidFill>
                  <a:srgbClr val="88DED5"/>
                </a:solidFill>
                <a:latin typeface="Helvetica Neue"/>
                <a:ea typeface="Helvetica Neue"/>
                <a:cs typeface="Helvetica Neue"/>
              </a:rPr>
              <a:t>02</a:t>
            </a:r>
          </a:p>
        </p:txBody>
      </p:sp>
      <p:sp>
        <p:nvSpPr>
          <p:cNvPr id="8" name="text">
            <a:extLst xmlns:a="http://schemas.openxmlformats.org/drawingml/2006/main">
              <a:ext uri="{FF2B5EF4-FFF2-40B4-BE49-F238E27FC236}">
                <a16:creationId xmlns:a16="http://schemas.microsoft.com/office/drawing/2014/main" id="{8972F4DF-AB76-4F66-A69B-68560614A53B}"/>
              </a:ext>
            </a:extLst>
          </p:cNvPr>
          <p:cNvSpPr>
            <a:spLocks xmlns:a="http://schemas.openxmlformats.org/drawingml/2006/main" noGrp="1"/>
          </p:cNvSpPr>
          <p:nvPr/>
        </p:nvSpPr>
        <p:spPr>
          <a:xfrm xmlns:a="http://schemas.openxmlformats.org/drawingml/2006/main">
            <a:off x="1733550" y="323850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Develop the approach</a:t>
            </a:r>
          </a:p>
        </p:txBody>
      </p:sp>
      <p:sp>
        <p:nvSpPr>
          <p:cNvPr id="9" name="text">
            <a:extLst xmlns:a="http://schemas.openxmlformats.org/drawingml/2006/main">
              <a:ext uri="{FF2B5EF4-FFF2-40B4-BE49-F238E27FC236}">
                <a16:creationId xmlns:a16="http://schemas.microsoft.com/office/drawing/2014/main" id="{6600EAE8-C17F-45A7-B03B-537C9B389D5D}"/>
              </a:ext>
            </a:extLst>
          </p:cNvPr>
          <p:cNvSpPr>
            <a:spLocks xmlns:a="http://schemas.openxmlformats.org/drawingml/2006/main" noGrp="1"/>
          </p:cNvSpPr>
          <p:nvPr/>
        </p:nvSpPr>
        <p:spPr>
          <a:xfrm xmlns:a="http://schemas.openxmlformats.org/drawingml/2006/main">
            <a:off x="5924550" y="3238500"/>
            <a:ext cx="547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1E2E7"/>
                </a:solidFill>
                <a:latin typeface="Helvetica Neue"/>
                <a:ea typeface="Helvetica Neue"/>
                <a:cs typeface="Helvetica Neue"/>
              </a:defRPr>
            </a:pPr>
            <a:r>
              <a:rPr sz="1875" b="0">
                <a:solidFill>
                  <a:srgbClr val="D1E2E7"/>
                </a:solidFill>
                <a:latin typeface="Helvetica Neue"/>
                <a:ea typeface="Helvetica Neue"/>
                <a:cs typeface="Helvetica Neue"/>
              </a:rPr>
              <a:t>Agents draft a reward function and comparison plan.</a:t>
            </a:r>
          </a:p>
        </p:txBody>
      </p:sp>
      <p:sp>
        <p:nvSpPr>
          <p:cNvPr id="10" name="text">
            <a:extLst xmlns:a="http://schemas.openxmlformats.org/drawingml/2006/main">
              <a:ext uri="{FF2B5EF4-FFF2-40B4-BE49-F238E27FC236}">
                <a16:creationId xmlns:a16="http://schemas.microsoft.com/office/drawing/2014/main" id="{7BCA646D-F964-42F8-A3C5-9C1B0AD6E017}"/>
              </a:ext>
            </a:extLst>
          </p:cNvPr>
          <p:cNvSpPr>
            <a:spLocks xmlns:a="http://schemas.openxmlformats.org/drawingml/2006/main" noGrp="1"/>
          </p:cNvSpPr>
          <p:nvPr/>
        </p:nvSpPr>
        <p:spPr>
          <a:xfrm xmlns:a="http://schemas.openxmlformats.org/drawingml/2006/main">
            <a:off x="685800" y="43243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88DED5"/>
                </a:solidFill>
                <a:latin typeface="Helvetica Neue"/>
                <a:ea typeface="Helvetica Neue"/>
                <a:cs typeface="Helvetica Neue"/>
              </a:defRPr>
            </a:pPr>
            <a:r>
              <a:rPr sz="3150" b="1">
                <a:solidFill>
                  <a:srgbClr val="88DED5"/>
                </a:solidFill>
                <a:latin typeface="Helvetica Neue"/>
                <a:ea typeface="Helvetica Neue"/>
                <a:cs typeface="Helvetica Neue"/>
              </a:rPr>
              <a:t>03</a:t>
            </a:r>
          </a:p>
        </p:txBody>
      </p:sp>
      <p:sp>
        <p:nvSpPr>
          <p:cNvPr id="11" name="text">
            <a:extLst xmlns:a="http://schemas.openxmlformats.org/drawingml/2006/main">
              <a:ext uri="{FF2B5EF4-FFF2-40B4-BE49-F238E27FC236}">
                <a16:creationId xmlns:a16="http://schemas.microsoft.com/office/drawing/2014/main" id="{183D7BEC-7DDA-4E21-A90F-9858C483D53C}"/>
              </a:ext>
            </a:extLst>
          </p:cNvPr>
          <p:cNvSpPr>
            <a:spLocks xmlns:a="http://schemas.openxmlformats.org/drawingml/2006/main" noGrp="1"/>
          </p:cNvSpPr>
          <p:nvPr/>
        </p:nvSpPr>
        <p:spPr>
          <a:xfrm xmlns:a="http://schemas.openxmlformats.org/drawingml/2006/main">
            <a:off x="1733550" y="4333875"/>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Build on the work</a:t>
            </a:r>
          </a:p>
        </p:txBody>
      </p:sp>
      <p:sp>
        <p:nvSpPr>
          <p:cNvPr id="12" name="text">
            <a:extLst xmlns:a="http://schemas.openxmlformats.org/drawingml/2006/main">
              <a:ext uri="{FF2B5EF4-FFF2-40B4-BE49-F238E27FC236}">
                <a16:creationId xmlns:a16="http://schemas.microsoft.com/office/drawing/2014/main" id="{6B7E5035-763E-4D00-954D-AD6B3BFD33E2}"/>
              </a:ext>
            </a:extLst>
          </p:cNvPr>
          <p:cNvSpPr>
            <a:spLocks xmlns:a="http://schemas.openxmlformats.org/drawingml/2006/main" noGrp="1"/>
          </p:cNvSpPr>
          <p:nvPr/>
        </p:nvSpPr>
        <p:spPr>
          <a:xfrm xmlns:a="http://schemas.openxmlformats.org/drawingml/2006/main">
            <a:off x="5924550" y="4333875"/>
            <a:ext cx="547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1E2E7"/>
                </a:solidFill>
                <a:latin typeface="Helvetica Neue"/>
                <a:ea typeface="Helvetica Neue"/>
                <a:cs typeface="Helvetica Neue"/>
              </a:defRPr>
            </a:pPr>
            <a:r>
              <a:rPr sz="1875" b="0">
                <a:solidFill>
                  <a:srgbClr val="D1E2E7"/>
                </a:solidFill>
                <a:latin typeface="Helvetica Neue"/>
                <a:ea typeface="Helvetica Neue"/>
                <a:cs typeface="Helvetica Neue"/>
              </a:rPr>
              <a:t>Retrieve earlier versions and unresolved review notes.</a:t>
            </a:r>
          </a:p>
        </p:txBody>
      </p:sp>
      <p:sp>
        <p:nvSpPr>
          <p:cNvPr id="13" name="text">
            <a:extLst xmlns:a="http://schemas.openxmlformats.org/drawingml/2006/main">
              <a:ext uri="{FF2B5EF4-FFF2-40B4-BE49-F238E27FC236}">
                <a16:creationId xmlns:a16="http://schemas.microsoft.com/office/drawing/2014/main" id="{692BCB91-5C2E-4730-BA39-7AB145C77746}"/>
              </a:ext>
            </a:extLst>
          </p:cNvPr>
          <p:cNvSpPr>
            <a:spLocks xmlns:a="http://schemas.openxmlformats.org/drawingml/2006/main" noGrp="1"/>
          </p:cNvSpPr>
          <p:nvPr/>
        </p:nvSpPr>
        <p:spPr>
          <a:xfrm xmlns:a="http://schemas.openxmlformats.org/drawingml/2006/main">
            <a:off x="685800" y="56388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88DED5"/>
                </a:solidFill>
                <a:latin typeface="Helvetica Neue"/>
                <a:ea typeface="Helvetica Neue"/>
                <a:cs typeface="Helvetica Neue"/>
              </a:defRPr>
            </a:pPr>
            <a:r>
              <a:rPr sz="2250" b="1">
                <a:solidFill>
                  <a:srgbClr val="88DED5"/>
                </a:solidFill>
                <a:latin typeface="Helvetica Neue"/>
                <a:ea typeface="Helvetica Neue"/>
                <a:cs typeface="Helvetica Neue"/>
              </a:rPr>
              <a:t>Each saved result becomes retrievable through the project’s MCP.</a:t>
            </a:r>
          </a:p>
        </p:txBody>
      </p:sp>
      <p:sp>
        <p:nvSpPr>
          <p:cNvPr id="14" name="text">
            <a:extLst xmlns:a="http://schemas.openxmlformats.org/drawingml/2006/main">
              <a:ext uri="{FF2B5EF4-FFF2-40B4-BE49-F238E27FC236}">
                <a16:creationId xmlns:a16="http://schemas.microsoft.com/office/drawing/2014/main" id="{CF10ED88-8A1F-4A8A-90E2-953C215B469E}"/>
              </a:ext>
            </a:extLst>
          </p:cNvPr>
          <p:cNvSpPr>
            <a:spLocks xmlns:a="http://schemas.openxmlformats.org/drawingml/2006/main" noGrp="1"/>
          </p:cNvSpPr>
          <p:nvPr/>
        </p:nvSpPr>
        <p:spPr>
          <a:xfrm xmlns:a="http://schemas.openxmlformats.org/drawingml/2006/main">
            <a:off x="685800" y="6343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3D5DD"/>
                </a:solidFill>
                <a:latin typeface="Helvetica Neue"/>
                <a:ea typeface="Helvetica Neue"/>
                <a:cs typeface="Helvetica Neue"/>
              </a:defRPr>
            </a:pPr>
            <a:r>
              <a:rPr sz="1350" b="0">
                <a:solidFill>
                  <a:srgbClr val="C3D5DD"/>
                </a:solidFill>
                <a:latin typeface="Helvetica Neue"/>
                <a:ea typeface="Helvetica Neue"/>
                <a:cs typeface="Helvetica Neue"/>
              </a:rPr>
              <a:t>Researchers run experiments and validate claims outside the current prototype.</a:t>
            </a:r>
          </a:p>
        </p:txBody>
      </p:sp>
    </p:spTree>
    <p:extLst>
      <p:ext uri="{BB962C8B-B14F-4D97-AF65-F5344CB8AC3E}">
        <p14:creationId xmlns:p14="http://schemas.microsoft.com/office/powerpoint/2010/main" val="733329816"/>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9E186CD-435E-4D22-AFBC-EF1ABB4DD37A}"/>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02C38"/>
                </a:solidFill>
                <a:latin typeface="Helvetica Neue"/>
                <a:ea typeface="Helvetica Neue"/>
                <a:cs typeface="Helvetica Neue"/>
              </a:defRPr>
            </a:pPr>
            <a:r>
              <a:rPr sz="3450" b="1">
                <a:solidFill>
                  <a:srgbClr val="102C38"/>
                </a:solidFill>
                <a:latin typeface="Helvetica Neue"/>
                <a:ea typeface="Helvetica Neue"/>
                <a:cs typeface="Helvetica Neue"/>
              </a:rPr>
              <a:t>Positioning in the current market</a:t>
            </a:r>
          </a:p>
        </p:txBody>
      </p:sp>
      <p:sp>
        <p:nvSpPr>
          <p:cNvPr id="2" name="page-number">
            <a:extLst xmlns:a="http://schemas.openxmlformats.org/drawingml/2006/main">
              <a:ext uri="{FF2B5EF4-FFF2-40B4-BE49-F238E27FC236}">
                <a16:creationId xmlns:a16="http://schemas.microsoft.com/office/drawing/2014/main" id="{FACC47C4-7181-4484-8165-13A2EA9E09E7}"/>
              </a:ext>
            </a:extLst>
          </p:cNvPr>
          <p:cNvSpPr>
            <a:spLocks xmlns:a="http://schemas.openxmlformats.org/drawingml/2006/main" noGrp="1"/>
          </p:cNvSpPr>
          <p:nvPr/>
        </p:nvSpPr>
        <p:spPr>
          <a:xfrm xmlns:a="http://schemas.openxmlformats.org/drawingml/2006/main">
            <a:off x="11296650" y="6343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671"/>
                </a:solidFill>
                <a:latin typeface="Helvetica Neue"/>
                <a:ea typeface="Helvetica Neue"/>
                <a:cs typeface="Helvetica Neue"/>
              </a:defRPr>
            </a:pPr>
            <a:r>
              <a:rPr sz="1350" b="0">
                <a:solidFill>
                  <a:srgbClr val="506671"/>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85800" y="1609725"/>
          <a:ext xmlns:a="http://schemas.openxmlformats.org/drawingml/2006/main" cx="6934200" cy="3019425"/>
        </p:xfrm>
        <a:graphic xmlns:a="http://schemas.openxmlformats.org/drawingml/2006/main">
          <a:graphicData uri="http://schemas.openxmlformats.org/drawingml/2006/table">
            <a:tbl>
              <a:tblPr firstRow="0" bandRow="0"/>
              <a:tblGrid>
                <a:gridCol w="1924050"/>
                <a:gridCol w="5010150"/>
              </a:tblGrid>
              <a:tr h="754856">
                <a:tc>
                  <a:txBody>
                    <a:bodyPr lIns="171450" tIns="114300" rIns="171450" bIns="114300">
                      <a:noAutofit/>
                    </a:bodyPr>
                    <a:lstStyle/>
                    <a:p>
                      <a:r>
                        <a:rPr sz="1575" b="1">
                          <a:solidFill>
                            <a:srgbClr val="FFFFFF"/>
                          </a:solidFill>
                          <a:latin typeface="Helvetica Neue"/>
                          <a:ea typeface="Helvetica Neue"/>
                          <a:cs typeface="Helvetica Neue"/>
                        </a:rPr>
                        <a:t>PRODUCT</a:t>
                      </a:r>
                    </a:p>
                  </a:txBody>
                  <a:tcPr marL="91440" marR="91440" marT="45720" marB="45720" anchor="ctr">
                    <a:solidFill>
                      <a:srgbClr val="102C38"/>
                    </a:solidFill>
                  </a:tcPr>
                </a:tc>
                <a:tc>
                  <a:txBody>
                    <a:bodyPr lIns="171450" tIns="114300" rIns="171450" bIns="114300">
                      <a:noAutofit/>
                    </a:bodyPr>
                    <a:lstStyle/>
                    <a:p>
                      <a:r>
                        <a:rPr sz="1575" b="1">
                          <a:solidFill>
                            <a:srgbClr val="FFFFFF"/>
                          </a:solidFill>
                          <a:latin typeface="Helvetica Neue"/>
                          <a:ea typeface="Helvetica Neue"/>
                          <a:cs typeface="Helvetica Neue"/>
                        </a:rPr>
                        <a:t>DOCUMENTED FOCUS</a:t>
                      </a:r>
                    </a:p>
                  </a:txBody>
                  <a:tcPr marL="91440" marR="91440" marT="45720" marB="45720" anchor="ctr">
                    <a:solidFill>
                      <a:srgbClr val="102C38"/>
                    </a:solidFill>
                  </a:tcPr>
                </a:tc>
              </a:tr>
              <a:tr h="754856">
                <a:tc>
                  <a:txBody>
                    <a:bodyPr lIns="171450" tIns="114300" rIns="171450" bIns="114300">
                      <a:noAutofit/>
                    </a:bodyPr>
                    <a:lstStyle/>
                    <a:p>
                      <a:r>
                        <a:rPr sz="1800" b="1">
                          <a:solidFill>
                            <a:srgbClr val="102C38"/>
                          </a:solidFill>
                          <a:latin typeface="Helvetica Neue"/>
                          <a:ea typeface="Helvetica Neue"/>
                          <a:cs typeface="Helvetica Neue"/>
                        </a:rPr>
                        <a:t>Dust</a:t>
                      </a:r>
                    </a:p>
                  </a:txBody>
                  <a:tcPr marL="91440" marR="91440" marT="45720" marB="45720" anchor="ctr">
                    <a:solidFill>
                      <a:srgbClr val="FAF9F5"/>
                    </a:solidFill>
                  </a:tcPr>
                </a:tc>
                <a:tc>
                  <a:txBody>
                    <a:bodyPr lIns="171450" tIns="114300" rIns="171450" bIns="114300">
                      <a:noAutofit/>
                    </a:bodyPr>
                    <a:lstStyle/>
                    <a:p>
                      <a:r>
                        <a:rPr sz="1800" b="0">
                          <a:solidFill>
                            <a:srgbClr val="102C38"/>
                          </a:solidFill>
                          <a:latin typeface="Helvetica Neue"/>
                          <a:ea typeface="Helvetica Neue"/>
                          <a:cs typeface="Helvetica Neue"/>
                        </a:rPr>
                        <a:t>Shared company knowledge and collaborative agents</a:t>
                      </a:r>
                    </a:p>
                  </a:txBody>
                  <a:tcPr marL="91440" marR="91440" marT="45720" marB="45720" anchor="ctr">
                    <a:solidFill>
                      <a:srgbClr val="FAF9F5"/>
                    </a:solidFill>
                  </a:tcPr>
                </a:tc>
              </a:tr>
              <a:tr h="754856">
                <a:tc>
                  <a:txBody>
                    <a:bodyPr lIns="171450" tIns="114300" rIns="171450" bIns="114300">
                      <a:noAutofit/>
                    </a:bodyPr>
                    <a:lstStyle/>
                    <a:p>
                      <a:r>
                        <a:rPr sz="1800" b="1">
                          <a:solidFill>
                            <a:srgbClr val="102C38"/>
                          </a:solidFill>
                          <a:latin typeface="Helvetica Neue"/>
                          <a:ea typeface="Helvetica Neue"/>
                          <a:cs typeface="Helvetica Neue"/>
                        </a:rPr>
                        <a:t>Agno / AgentOS</a:t>
                      </a:r>
                    </a:p>
                  </a:txBody>
                  <a:tcPr marL="91440" marR="91440" marT="45720" marB="45720" anchor="ctr">
                    <a:solidFill>
                      <a:srgbClr val="FAF9F5"/>
                    </a:solidFill>
                  </a:tcPr>
                </a:tc>
                <a:tc>
                  <a:txBody>
                    <a:bodyPr lIns="171450" tIns="114300" rIns="171450" bIns="114300">
                      <a:noAutofit/>
                    </a:bodyPr>
                    <a:lstStyle/>
                    <a:p>
                      <a:r>
                        <a:rPr sz="1800" b="0">
                          <a:solidFill>
                            <a:srgbClr val="102C38"/>
                          </a:solidFill>
                          <a:latin typeface="Helvetica Neue"/>
                          <a:ea typeface="Helvetica Neue"/>
                          <a:cs typeface="Helvetica Neue"/>
                        </a:rPr>
                        <a:t>Agent orchestration, runtime and MCP services</a:t>
                      </a:r>
                    </a:p>
                  </a:txBody>
                  <a:tcPr marL="91440" marR="91440" marT="45720" marB="45720" anchor="ctr">
                    <a:solidFill>
                      <a:srgbClr val="FAF9F5"/>
                    </a:solidFill>
                  </a:tcPr>
                </a:tc>
              </a:tr>
              <a:tr h="754856">
                <a:tc>
                  <a:txBody>
                    <a:bodyPr lIns="171450" tIns="114300" rIns="171450" bIns="114300">
                      <a:noAutofit/>
                    </a:bodyPr>
                    <a:lstStyle/>
                    <a:p>
                      <a:r>
                        <a:rPr sz="1800" b="1">
                          <a:solidFill>
                            <a:srgbClr val="102C38"/>
                          </a:solidFill>
                          <a:latin typeface="Helvetica Neue"/>
                          <a:ea typeface="Helvetica Neue"/>
                          <a:cs typeface="Helvetica Neue"/>
                        </a:rPr>
                        <a:t>Dify</a:t>
                      </a:r>
                    </a:p>
                  </a:txBody>
                  <a:tcPr marL="91440" marR="91440" marT="45720" marB="45720" anchor="ctr">
                    <a:solidFill>
                      <a:srgbClr val="FAF9F5"/>
                    </a:solidFill>
                  </a:tcPr>
                </a:tc>
                <a:tc>
                  <a:txBody>
                    <a:bodyPr lIns="171450" tIns="114300" rIns="171450" bIns="114300">
                      <a:noAutofit/>
                    </a:bodyPr>
                    <a:lstStyle/>
                    <a:p>
                      <a:r>
                        <a:rPr sz="1800" b="0">
                          <a:solidFill>
                            <a:srgbClr val="102C38"/>
                          </a:solidFill>
                          <a:latin typeface="Helvetica Neue"/>
                          <a:ea typeface="Helvetica Neue"/>
                          <a:cs typeface="Helvetica Neue"/>
                        </a:rPr>
                        <a:t>Visual AI workflows with knowledge retrieval and tools</a:t>
                      </a:r>
                    </a:p>
                  </a:txBody>
                  <a:tcPr marL="91440" marR="91440" marT="45720" marB="45720" anchor="ctr">
                    <a:solidFill>
                      <a:srgbClr val="FAF9F5"/>
                    </a:solidFill>
                  </a:tcPr>
                </a:tc>
              </a:tr>
            </a:tbl>
          </a:graphicData>
        </a:graphic>
      </p:graphicFrame>
      <p:sp>
        <p:nvSpPr>
          <p:cNvPr id="4" name="text">
            <a:extLst xmlns:a="http://schemas.openxmlformats.org/drawingml/2006/main">
              <a:ext uri="{FF2B5EF4-FFF2-40B4-BE49-F238E27FC236}">
                <a16:creationId xmlns:a16="http://schemas.microsoft.com/office/drawing/2014/main" id="{6F5C523E-2835-4308-A5ED-B82181197BBC}"/>
              </a:ext>
            </a:extLst>
          </p:cNvPr>
          <p:cNvSpPr>
            <a:spLocks xmlns:a="http://schemas.openxmlformats.org/drawingml/2006/main" noGrp="1"/>
          </p:cNvSpPr>
          <p:nvPr/>
        </p:nvSpPr>
        <p:spPr>
          <a:xfrm xmlns:a="http://schemas.openxmlformats.org/drawingml/2006/main">
            <a:off x="8201025" y="17145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Our focus</a:t>
            </a:r>
          </a:p>
        </p:txBody>
      </p:sp>
      <p:sp>
        <p:nvSpPr>
          <p:cNvPr id="5" name="text">
            <a:extLst xmlns:a="http://schemas.openxmlformats.org/drawingml/2006/main">
              <a:ext uri="{FF2B5EF4-FFF2-40B4-BE49-F238E27FC236}">
                <a16:creationId xmlns:a16="http://schemas.microsoft.com/office/drawing/2014/main" id="{6B96B2C5-FDD7-4EB1-B1CF-EAB3641E8ED2}"/>
              </a:ext>
            </a:extLst>
          </p:cNvPr>
          <p:cNvSpPr>
            <a:spLocks xmlns:a="http://schemas.openxmlformats.org/drawingml/2006/main" noGrp="1"/>
          </p:cNvSpPr>
          <p:nvPr/>
        </p:nvSpPr>
        <p:spPr>
          <a:xfrm xmlns:a="http://schemas.openxmlformats.org/drawingml/2006/main">
            <a:off x="8201025" y="2381250"/>
            <a:ext cx="3209925"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C38"/>
                </a:solidFill>
                <a:latin typeface="Helvetica Neue"/>
                <a:ea typeface="Helvetica Neue"/>
                <a:cs typeface="Helvetica Neue"/>
              </a:defRPr>
            </a:pPr>
            <a:r>
              <a:rPr sz="2100" b="0">
                <a:solidFill>
                  <a:srgbClr val="102C38"/>
                </a:solidFill>
                <a:latin typeface="Helvetica Neue"/>
                <a:ea typeface="Helvetica Neue"/>
                <a:cs typeface="Helvetica Neue"/>
              </a:rPr>
              <a:t>A lightweight local workspace for one research project, with versioned work available across models and MCP clients.</a:t>
            </a:r>
          </a:p>
        </p:txBody>
      </p:sp>
      <p:sp>
        <p:nvSpPr>
          <p:cNvPr id="6" name="text">
            <a:extLst xmlns:a="http://schemas.openxmlformats.org/drawingml/2006/main">
              <a:ext uri="{FF2B5EF4-FFF2-40B4-BE49-F238E27FC236}">
                <a16:creationId xmlns:a16="http://schemas.microsoft.com/office/drawing/2014/main" id="{71192065-30B1-48A8-A08B-7E16C5E9D6D9}"/>
              </a:ext>
            </a:extLst>
          </p:cNvPr>
          <p:cNvSpPr>
            <a:spLocks xmlns:a="http://schemas.openxmlformats.org/drawingml/2006/main" noGrp="1"/>
          </p:cNvSpPr>
          <p:nvPr/>
        </p:nvSpPr>
        <p:spPr>
          <a:xfrm xmlns:a="http://schemas.openxmlformats.org/drawingml/2006/main">
            <a:off x="685800" y="5048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E83"/>
                </a:solidFill>
                <a:latin typeface="Helvetica Neue"/>
                <a:ea typeface="Helvetica Neue"/>
                <a:cs typeface="Helvetica Neue"/>
              </a:defRPr>
            </a:pPr>
            <a:r>
              <a:rPr sz="2175" b="1">
                <a:solidFill>
                  <a:srgbClr val="087E83"/>
                </a:solidFill>
                <a:latin typeface="Helvetica Neue"/>
                <a:ea typeface="Helvetica Neue"/>
                <a:cs typeface="Helvetica Neue"/>
              </a:rPr>
              <a:t>Intended advantage</a:t>
            </a:r>
          </a:p>
        </p:txBody>
      </p:sp>
      <p:sp>
        <p:nvSpPr>
          <p:cNvPr id="7" name="text">
            <a:extLst xmlns:a="http://schemas.openxmlformats.org/drawingml/2006/main">
              <a:ext uri="{FF2B5EF4-FFF2-40B4-BE49-F238E27FC236}">
                <a16:creationId xmlns:a16="http://schemas.microsoft.com/office/drawing/2014/main" id="{A9B3391B-8489-4162-A885-B134BDF061DF}"/>
              </a:ext>
            </a:extLst>
          </p:cNvPr>
          <p:cNvSpPr>
            <a:spLocks xmlns:a="http://schemas.openxmlformats.org/drawingml/2006/main" noGrp="1"/>
          </p:cNvSpPr>
          <p:nvPr/>
        </p:nvSpPr>
        <p:spPr>
          <a:xfrm xmlns:a="http://schemas.openxmlformats.org/drawingml/2006/main">
            <a:off x="685800" y="55340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C38"/>
                </a:solidFill>
                <a:latin typeface="Helvetica Neue"/>
                <a:ea typeface="Helvetica Neue"/>
                <a:cs typeface="Helvetica Neue"/>
              </a:defRPr>
            </a:pPr>
            <a:r>
              <a:rPr sz="2100" b="0">
                <a:solidFill>
                  <a:srgbClr val="102C38"/>
                </a:solidFill>
                <a:latin typeface="Helvetica Neue"/>
                <a:ea typeface="Helvetica Neue"/>
                <a:cs typeface="Helvetica Neue"/>
              </a:rPr>
              <a:t>Less setup for a focused research workflow, with visible evidence and bounded context.</a:t>
            </a:r>
          </a:p>
        </p:txBody>
      </p:sp>
      <p:sp>
        <p:nvSpPr>
          <p:cNvPr id="8" name="text">
            <a:extLst xmlns:a="http://schemas.openxmlformats.org/drawingml/2006/main">
              <a:ext uri="{FF2B5EF4-FFF2-40B4-BE49-F238E27FC236}">
                <a16:creationId xmlns:a16="http://schemas.microsoft.com/office/drawing/2014/main" id="{3C6C894B-679D-47AA-9DE0-E7AE4F87CFE5}"/>
              </a:ext>
            </a:extLst>
          </p:cNvPr>
          <p:cNvSpPr>
            <a:spLocks xmlns:a="http://schemas.openxmlformats.org/drawingml/2006/main" noGrp="1"/>
          </p:cNvSpPr>
          <p:nvPr/>
        </p:nvSpPr>
        <p:spPr>
          <a:xfrm xmlns:a="http://schemas.openxmlformats.org/drawingml/2006/main">
            <a:off x="685800" y="63722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06671"/>
                </a:solidFill>
                <a:latin typeface="Helvetica Neue"/>
                <a:ea typeface="Helvetica Neue"/>
                <a:cs typeface="Helvetica Neue"/>
              </a:defRPr>
            </a:pPr>
            <a:r>
              <a:rPr sz="1275" b="0">
                <a:solidFill>
                  <a:srgbClr val="506671"/>
                </a:solidFill>
                <a:latin typeface="Helvetica Neue"/>
                <a:ea typeface="Helvetica Neue"/>
                <a:cs typeface="Helvetica Neue"/>
              </a:rPr>
              <a:t>Public product documentation, October 2026. Comparative superiority remains untested.</a:t>
            </a:r>
          </a:p>
        </p:txBody>
      </p:sp>
    </p:spTree>
    <p:extLst>
      <p:ext uri="{BB962C8B-B14F-4D97-AF65-F5344CB8AC3E}">
        <p14:creationId xmlns:p14="http://schemas.microsoft.com/office/powerpoint/2010/main" val="505797370"/>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1708E059-2EA3-40D7-BEC5-A434E1315D40}"/>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02C38"/>
                </a:solidFill>
                <a:latin typeface="Helvetica Neue"/>
                <a:ea typeface="Helvetica Neue"/>
                <a:cs typeface="Helvetica Neue"/>
              </a:defRPr>
            </a:pPr>
            <a:r>
              <a:rPr sz="3450" b="1">
                <a:solidFill>
                  <a:srgbClr val="102C38"/>
                </a:solidFill>
                <a:latin typeface="Helvetica Neue"/>
                <a:ea typeface="Helvetica Neue"/>
                <a:cs typeface="Helvetica Neue"/>
              </a:rPr>
              <a:t>What we build next</a:t>
            </a:r>
          </a:p>
        </p:txBody>
      </p:sp>
      <p:sp>
        <p:nvSpPr>
          <p:cNvPr id="2" name="page-number">
            <a:extLst xmlns:a="http://schemas.openxmlformats.org/drawingml/2006/main">
              <a:ext uri="{FF2B5EF4-FFF2-40B4-BE49-F238E27FC236}">
                <a16:creationId xmlns:a16="http://schemas.microsoft.com/office/drawing/2014/main" id="{094CC5D2-1B92-493C-89DC-581A289BE79E}"/>
              </a:ext>
            </a:extLst>
          </p:cNvPr>
          <p:cNvSpPr>
            <a:spLocks xmlns:a="http://schemas.openxmlformats.org/drawingml/2006/main" noGrp="1"/>
          </p:cNvSpPr>
          <p:nvPr/>
        </p:nvSpPr>
        <p:spPr>
          <a:xfrm xmlns:a="http://schemas.openxmlformats.org/drawingml/2006/main">
            <a:off x="11296650" y="6343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671"/>
                </a:solidFill>
                <a:latin typeface="Helvetica Neue"/>
                <a:ea typeface="Helvetica Neue"/>
                <a:cs typeface="Helvetica Neue"/>
              </a:defRPr>
            </a:pPr>
            <a:r>
              <a:rPr sz="1350" b="0">
                <a:solidFill>
                  <a:srgbClr val="506671"/>
                </a:solidFill>
                <a:latin typeface="Helvetica Neue"/>
                <a:ea typeface="Helvetica Neue"/>
                <a:cs typeface="Helvetica Neue"/>
              </a:rPr>
              <a:t>06</a:t>
            </a:r>
          </a:p>
        </p:txBody>
      </p:sp>
      <p:sp>
        <p:nvSpPr>
          <p:cNvPr id="3" name="text">
            <a:extLst xmlns:a="http://schemas.openxmlformats.org/drawingml/2006/main">
              <a:ext uri="{FF2B5EF4-FFF2-40B4-BE49-F238E27FC236}">
                <a16:creationId xmlns:a16="http://schemas.microsoft.com/office/drawing/2014/main" id="{7F1436C0-E0A7-49FF-B81D-58102F8F96D8}"/>
              </a:ext>
            </a:extLst>
          </p:cNvPr>
          <p:cNvSpPr>
            <a:spLocks xmlns:a="http://schemas.openxmlformats.org/drawingml/2006/main" noGrp="1"/>
          </p:cNvSpPr>
          <p:nvPr/>
        </p:nvSpPr>
        <p:spPr>
          <a:xfrm xmlns:a="http://schemas.openxmlformats.org/drawingml/2006/main">
            <a:off x="685800" y="12858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06671"/>
                </a:solidFill>
                <a:latin typeface="Helvetica Neue"/>
                <a:ea typeface="Helvetica Neue"/>
                <a:cs typeface="Helvetica Neue"/>
              </a:defRPr>
            </a:pPr>
            <a:r>
              <a:rPr sz="2175" b="0">
                <a:solidFill>
                  <a:srgbClr val="506671"/>
                </a:solidFill>
                <a:latin typeface="Helvetica Neue"/>
                <a:ea typeface="Helvetica Neue"/>
                <a:cs typeface="Helvetica Neue"/>
              </a:rPr>
              <a:t>Proposed roadmap for research teams</a:t>
            </a:r>
          </a:p>
        </p:txBody>
      </p:sp>
      <p:sp>
        <p:nvSpPr>
          <p:cNvPr id="4" name="text">
            <a:extLst xmlns:a="http://schemas.openxmlformats.org/drawingml/2006/main">
              <a:ext uri="{FF2B5EF4-FFF2-40B4-BE49-F238E27FC236}">
                <a16:creationId xmlns:a16="http://schemas.microsoft.com/office/drawing/2014/main" id="{FB0FC7AC-0443-4287-BB95-56B628D47DA4}"/>
              </a:ext>
            </a:extLst>
          </p:cNvPr>
          <p:cNvSpPr>
            <a:spLocks xmlns:a="http://schemas.openxmlformats.org/drawingml/2006/main" noGrp="1"/>
          </p:cNvSpPr>
          <p:nvPr/>
        </p:nvSpPr>
        <p:spPr>
          <a:xfrm xmlns:a="http://schemas.openxmlformats.org/drawingml/2006/main">
            <a:off x="685800" y="223837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Better retrieval</a:t>
            </a:r>
          </a:p>
        </p:txBody>
      </p:sp>
      <p:sp>
        <p:nvSpPr>
          <p:cNvPr id="5" name="text">
            <a:extLst xmlns:a="http://schemas.openxmlformats.org/drawingml/2006/main">
              <a:ext uri="{FF2B5EF4-FFF2-40B4-BE49-F238E27FC236}">
                <a16:creationId xmlns:a16="http://schemas.microsoft.com/office/drawing/2014/main" id="{373D800A-2C32-416B-8A78-95507EF63775}"/>
              </a:ext>
            </a:extLst>
          </p:cNvPr>
          <p:cNvSpPr>
            <a:spLocks xmlns:a="http://schemas.openxmlformats.org/drawingml/2006/main" noGrp="1"/>
          </p:cNvSpPr>
          <p:nvPr/>
        </p:nvSpPr>
        <p:spPr>
          <a:xfrm xmlns:a="http://schemas.openxmlformats.org/drawingml/2006/main">
            <a:off x="685800" y="286702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Combine keyword and semantic search.</a:t>
            </a:r>
          </a:p>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Improve ranking with relevance feedback.</a:t>
            </a:r>
          </a:p>
        </p:txBody>
      </p:sp>
      <p:sp>
        <p:nvSpPr>
          <p:cNvPr id="6" name="text">
            <a:extLst xmlns:a="http://schemas.openxmlformats.org/drawingml/2006/main">
              <a:ext uri="{FF2B5EF4-FFF2-40B4-BE49-F238E27FC236}">
                <a16:creationId xmlns:a16="http://schemas.microsoft.com/office/drawing/2014/main" id="{E7B74790-3FF2-4CBE-A373-5928088BAD80}"/>
              </a:ext>
            </a:extLst>
          </p:cNvPr>
          <p:cNvSpPr>
            <a:spLocks xmlns:a="http://schemas.openxmlformats.org/drawingml/2006/main" noGrp="1"/>
          </p:cNvSpPr>
          <p:nvPr/>
        </p:nvSpPr>
        <p:spPr>
          <a:xfrm xmlns:a="http://schemas.openxmlformats.org/drawingml/2006/main">
            <a:off x="6496050" y="223837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Knowledge graphs</a:t>
            </a:r>
          </a:p>
        </p:txBody>
      </p:sp>
      <p:sp>
        <p:nvSpPr>
          <p:cNvPr id="7" name="text">
            <a:extLst xmlns:a="http://schemas.openxmlformats.org/drawingml/2006/main">
              <a:ext uri="{FF2B5EF4-FFF2-40B4-BE49-F238E27FC236}">
                <a16:creationId xmlns:a16="http://schemas.microsoft.com/office/drawing/2014/main" id="{241BE5C2-1CBA-4C65-AC15-C417D90B774F}"/>
              </a:ext>
            </a:extLst>
          </p:cNvPr>
          <p:cNvSpPr>
            <a:spLocks xmlns:a="http://schemas.openxmlformats.org/drawingml/2006/main" noGrp="1"/>
          </p:cNvSpPr>
          <p:nvPr/>
        </p:nvSpPr>
        <p:spPr>
          <a:xfrm xmlns:a="http://schemas.openxmlformats.org/drawingml/2006/main">
            <a:off x="6496050" y="286702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Link hypotheses to methods, evidence</a:t>
            </a:r>
          </a:p>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and the versions that support them.</a:t>
            </a:r>
          </a:p>
        </p:txBody>
      </p:sp>
      <p:sp>
        <p:nvSpPr>
          <p:cNvPr id="8" name="text">
            <a:extLst xmlns:a="http://schemas.openxmlformats.org/drawingml/2006/main">
              <a:ext uri="{FF2B5EF4-FFF2-40B4-BE49-F238E27FC236}">
                <a16:creationId xmlns:a16="http://schemas.microsoft.com/office/drawing/2014/main" id="{8CBAF859-0C2C-472B-92E1-DB1D6F22A3DB}"/>
              </a:ext>
            </a:extLst>
          </p:cNvPr>
          <p:cNvSpPr>
            <a:spLocks xmlns:a="http://schemas.openxmlformats.org/drawingml/2006/main" noGrp="1"/>
          </p:cNvSpPr>
          <p:nvPr/>
        </p:nvSpPr>
        <p:spPr>
          <a:xfrm xmlns:a="http://schemas.openxmlformats.org/drawingml/2006/main">
            <a:off x="685800" y="399097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Permissioned sharing</a:t>
            </a:r>
          </a:p>
        </p:txBody>
      </p:sp>
      <p:sp>
        <p:nvSpPr>
          <p:cNvPr id="9" name="text">
            <a:extLst xmlns:a="http://schemas.openxmlformats.org/drawingml/2006/main">
              <a:ext uri="{FF2B5EF4-FFF2-40B4-BE49-F238E27FC236}">
                <a16:creationId xmlns:a16="http://schemas.microsoft.com/office/drawing/2014/main" id="{C72C7BEE-3F73-4C34-AC95-8DB09DD95CBA}"/>
              </a:ext>
            </a:extLst>
          </p:cNvPr>
          <p:cNvSpPr>
            <a:spLocks xmlns:a="http://schemas.openxmlformats.org/drawingml/2006/main" noGrp="1"/>
          </p:cNvSpPr>
          <p:nvPr/>
        </p:nvSpPr>
        <p:spPr>
          <a:xfrm xmlns:a="http://schemas.openxmlformats.org/drawingml/2006/main">
            <a:off x="685800" y="461962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Invite collaborators and share selected</a:t>
            </a:r>
          </a:p>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knowledge with explicit access controls.</a:t>
            </a:r>
          </a:p>
        </p:txBody>
      </p:sp>
      <p:sp>
        <p:nvSpPr>
          <p:cNvPr id="10" name="text">
            <a:extLst xmlns:a="http://schemas.openxmlformats.org/drawingml/2006/main">
              <a:ext uri="{FF2B5EF4-FFF2-40B4-BE49-F238E27FC236}">
                <a16:creationId xmlns:a16="http://schemas.microsoft.com/office/drawing/2014/main" id="{DD88C6AC-FA03-46C6-9F57-59BF13E8D330}"/>
              </a:ext>
            </a:extLst>
          </p:cNvPr>
          <p:cNvSpPr>
            <a:spLocks xmlns:a="http://schemas.openxmlformats.org/drawingml/2006/main" noGrp="1"/>
          </p:cNvSpPr>
          <p:nvPr/>
        </p:nvSpPr>
        <p:spPr>
          <a:xfrm xmlns:a="http://schemas.openxmlformats.org/drawingml/2006/main">
            <a:off x="6496050" y="399097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E83"/>
                </a:solidFill>
                <a:latin typeface="Helvetica Neue"/>
                <a:ea typeface="Helvetica Neue"/>
                <a:cs typeface="Helvetica Neue"/>
              </a:defRPr>
            </a:pPr>
            <a:r>
              <a:rPr sz="2400" b="1">
                <a:solidFill>
                  <a:srgbClr val="087E83"/>
                </a:solidFill>
                <a:latin typeface="Helvetica Neue"/>
                <a:ea typeface="Helvetica Neue"/>
                <a:cs typeface="Helvetica Neue"/>
              </a:rPr>
              <a:t>Experiment workflows</a:t>
            </a:r>
          </a:p>
        </p:txBody>
      </p:sp>
      <p:sp>
        <p:nvSpPr>
          <p:cNvPr id="11" name="text">
            <a:extLst xmlns:a="http://schemas.openxmlformats.org/drawingml/2006/main">
              <a:ext uri="{FF2B5EF4-FFF2-40B4-BE49-F238E27FC236}">
                <a16:creationId xmlns:a16="http://schemas.microsoft.com/office/drawing/2014/main" id="{C99175C4-013C-4A95-A99C-1EE9F90FFB06}"/>
              </a:ext>
            </a:extLst>
          </p:cNvPr>
          <p:cNvSpPr>
            <a:spLocks xmlns:a="http://schemas.openxmlformats.org/drawingml/2006/main" noGrp="1"/>
          </p:cNvSpPr>
          <p:nvPr/>
        </p:nvSpPr>
        <p:spPr>
          <a:xfrm xmlns:a="http://schemas.openxmlformats.org/drawingml/2006/main">
            <a:off x="6496050" y="461962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Connect datasets and execution logs.</a:t>
            </a:r>
          </a:p>
          <a:p xmlns:a="http://schemas.openxmlformats.org/drawingml/2006/main">
            <a:pPr>
              <a:defRPr sz="1875" b="0">
                <a:solidFill>
                  <a:srgbClr val="102C38"/>
                </a:solidFill>
                <a:latin typeface="Helvetica Neue"/>
                <a:ea typeface="Helvetica Neue"/>
                <a:cs typeface="Helvetica Neue"/>
              </a:defRPr>
            </a:pPr>
            <a:r>
              <a:rPr sz="1875" b="0">
                <a:solidFill>
                  <a:srgbClr val="102C38"/>
                </a:solidFill>
                <a:latin typeface="Helvetica Neue"/>
                <a:ea typeface="Helvetica Neue"/>
                <a:cs typeface="Helvetica Neue"/>
              </a:rPr>
              <a:t>Track validation of generated results.</a:t>
            </a:r>
          </a:p>
        </p:txBody>
      </p:sp>
      <p:sp>
        <p:nvSpPr>
          <p:cNvPr id="12" name="text">
            <a:extLst xmlns:a="http://schemas.openxmlformats.org/drawingml/2006/main">
              <a:ext uri="{FF2B5EF4-FFF2-40B4-BE49-F238E27FC236}">
                <a16:creationId xmlns:a16="http://schemas.microsoft.com/office/drawing/2014/main" id="{09F6226C-BB08-4144-8456-8CB755B3B02B}"/>
              </a:ext>
            </a:extLst>
          </p:cNvPr>
          <p:cNvSpPr>
            <a:spLocks xmlns:a="http://schemas.openxmlformats.org/drawingml/2006/main" noGrp="1"/>
          </p:cNvSpPr>
          <p:nvPr/>
        </p:nvSpPr>
        <p:spPr>
          <a:xfrm xmlns:a="http://schemas.openxmlformats.org/drawingml/2006/main">
            <a:off x="685800" y="61055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02C38"/>
                </a:solidFill>
                <a:latin typeface="Helvetica Neue"/>
                <a:ea typeface="Helvetica Neue"/>
                <a:cs typeface="Helvetica Neue"/>
              </a:defRPr>
            </a:pPr>
            <a:r>
              <a:rPr sz="2025" b="1">
                <a:solidFill>
                  <a:srgbClr val="102C38"/>
                </a:solidFill>
                <a:latin typeface="Helvetica Neue"/>
                <a:ea typeface="Helvetica Neue"/>
                <a:cs typeface="Helvetica Neue"/>
              </a:rPr>
              <a:t>Pilot measures: setup time, evidence accuracy and tokens per completed task.</a:t>
            </a:r>
          </a:p>
        </p:txBody>
      </p:sp>
    </p:spTree>
    <p:extLst>
      <p:ext uri="{BB962C8B-B14F-4D97-AF65-F5344CB8AC3E}">
        <p14:creationId xmlns:p14="http://schemas.microsoft.com/office/powerpoint/2010/main" val="13069388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2026-10-13T09:18:48.8080000Z</dcterms:created>
  <dcterms:modified xsi:type="dcterms:W3CDTF">2026-10-13T09:18:48.8080000Z</dcterms:modified>
</coreProperties>
</file>