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ae87f77deb64b0a" /><Relationship Type="http://schemas.openxmlformats.org/officeDocument/2006/relationships/extended-properties" Target="/docProps/app.xml" Id="R6612ccb56ddf4fa6" /><Relationship Type="http://schemas.openxmlformats.org/officeDocument/2006/relationships/officeDocument" Target="/ppt/presentation.xml" Id="R1bb1512749cd4515" /></Relationships>
</file>

<file path=ppt/presentation.xml><?xml version="1.0" encoding="utf-8"?>
<p:presentation xmlns:p="http://schemas.openxmlformats.org/presentationml/2006/main">
  <p:sldMasterIdLst>
    <p:sldMasterId xmlns:r="http://schemas.openxmlformats.org/officeDocument/2006/relationships" id="2147483648" r:id="Rd58934813c8c4f4a"/>
  </p:sldMasterIdLst>
  <p:notesMasterIdLst>
    <p:notesMasterId xmlns:r="http://schemas.openxmlformats.org/officeDocument/2006/relationships" r:id="Rcec845b3e5654542"/>
  </p:notesMasterIdLst>
  <p:sldIdLst>
    <p:sldId xmlns:r="http://schemas.openxmlformats.org/officeDocument/2006/relationships" id="256" r:id="Rc02598f763e446e7"/>
    <p:sldId xmlns:r="http://schemas.openxmlformats.org/officeDocument/2006/relationships" id="257" r:id="Rcb51f83a221849a6"/>
    <p:sldId xmlns:r="http://schemas.openxmlformats.org/officeDocument/2006/relationships" id="258" r:id="R0a45cac6affb4259"/>
    <p:sldId xmlns:r="http://schemas.openxmlformats.org/officeDocument/2006/relationships" id="259" r:id="R30ed6b4b8d994739"/>
    <p:sldId xmlns:r="http://schemas.openxmlformats.org/officeDocument/2006/relationships" id="260" r:id="Rb000e53d000c4fe8"/>
    <p:sldId xmlns:r="http://schemas.openxmlformats.org/officeDocument/2006/relationships" id="261" r:id="R5a6cb471c89647b7"/>
    <p:sldId xmlns:r="http://schemas.openxmlformats.org/officeDocument/2006/relationships" id="262" r:id="Rabb4c14c2b124855"/>
    <p:sldId xmlns:r="http://schemas.openxmlformats.org/officeDocument/2006/relationships" id="263" r:id="R9ab11d3823974543"/>
    <p:sldId xmlns:r="http://schemas.openxmlformats.org/officeDocument/2006/relationships" id="264" r:id="R428711654bc04777"/>
    <p:sldId xmlns:r="http://schemas.openxmlformats.org/officeDocument/2006/relationships" id="265" r:id="Re1282d13cdb84b2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600ab179d4a42aa" /><Relationship Type="http://schemas.openxmlformats.org/officeDocument/2006/relationships/slideMaster" Target="/ppt/slideMasters/slideMaster1.xml" Id="Rd58934813c8c4f4a" /><Relationship Type="http://schemas.openxmlformats.org/officeDocument/2006/relationships/notesMaster" Target="/ppt/notesMasters/notesMaster1.xml" Id="Rcec845b3e5654542" /><Relationship Type="http://schemas.openxmlformats.org/officeDocument/2006/relationships/presProps" Target="/ppt/presProps.xml" Id="R00322adc93514e97" /><Relationship Type="http://schemas.openxmlformats.org/officeDocument/2006/relationships/tableStyles" Target="/ppt/tableStyles.xml" Id="R47e1a719088f43d6" /><Relationship Type="http://schemas.openxmlformats.org/officeDocument/2006/relationships/slide" Target="/ppt/slides/slide1.xml" Id="Rc02598f763e446e7" /><Relationship Type="http://schemas.openxmlformats.org/officeDocument/2006/relationships/slide" Target="/ppt/slides/slide2.xml" Id="Rcb51f83a221849a6" /><Relationship Type="http://schemas.openxmlformats.org/officeDocument/2006/relationships/slide" Target="/ppt/slides/slide3.xml" Id="R0a45cac6affb4259" /><Relationship Type="http://schemas.openxmlformats.org/officeDocument/2006/relationships/slide" Target="/ppt/slides/slide4.xml" Id="R30ed6b4b8d994739" /><Relationship Type="http://schemas.openxmlformats.org/officeDocument/2006/relationships/slide" Target="/ppt/slides/slide5.xml" Id="Rb000e53d000c4fe8" /><Relationship Type="http://schemas.openxmlformats.org/officeDocument/2006/relationships/slide" Target="/ppt/slides/slide6.xml" Id="R5a6cb471c89647b7" /><Relationship Type="http://schemas.openxmlformats.org/officeDocument/2006/relationships/slide" Target="/ppt/slides/slide7.xml" Id="Rabb4c14c2b124855" /><Relationship Type="http://schemas.openxmlformats.org/officeDocument/2006/relationships/slide" Target="/ppt/slides/slide8.xml" Id="R9ab11d3823974543" /><Relationship Type="http://schemas.openxmlformats.org/officeDocument/2006/relationships/slide" Target="/ppt/slides/slide9.xml" Id="R428711654bc04777" /><Relationship Type="http://schemas.openxmlformats.org/officeDocument/2006/relationships/slide" Target="/ppt/slides/slide10.xml" Id="Re1282d13cdb84b2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1736e5ade56486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4298c5c2c6649e1" /><Relationship Type="http://schemas.openxmlformats.org/officeDocument/2006/relationships/notesMaster" Target="/ppt/notesMasters/notesMaster1.xml" Id="R00c8d1d629e342b4" /></Relationships>
</file>

<file path=ppt/notesSlides/_rels/notesSlide2.xml.rels>&#65279;<?xml version="1.0" encoding="utf-8"?><Relationships xmlns="http://schemas.openxmlformats.org/package/2006/relationships"><Relationship Type="http://schemas.openxmlformats.org/officeDocument/2006/relationships/slide" Target="/ppt/slides/slide2.xml" Id="R989ba31d5b6b4afd" /><Relationship Type="http://schemas.openxmlformats.org/officeDocument/2006/relationships/notesMaster" Target="/ppt/notesMasters/notesMaster1.xml" Id="R7e621fdc87fd454d" /></Relationships>
</file>

<file path=ppt/notesSlides/_rels/notesSlide3.xml.rels>&#65279;<?xml version="1.0" encoding="utf-8"?><Relationships xmlns="http://schemas.openxmlformats.org/package/2006/relationships"><Relationship Type="http://schemas.openxmlformats.org/officeDocument/2006/relationships/slide" Target="/ppt/slides/slide3.xml" Id="R8edb692ae2634e39" /><Relationship Type="http://schemas.openxmlformats.org/officeDocument/2006/relationships/notesMaster" Target="/ppt/notesMasters/notesMaster1.xml" Id="R27face926c2b42db" /></Relationships>
</file>

<file path=ppt/notesSlides/_rels/notesSlide4.xml.rels>&#65279;<?xml version="1.0" encoding="utf-8"?><Relationships xmlns="http://schemas.openxmlformats.org/package/2006/relationships"><Relationship Type="http://schemas.openxmlformats.org/officeDocument/2006/relationships/slide" Target="/ppt/slides/slide4.xml" Id="Rb64ceecd941c4879" /><Relationship Type="http://schemas.openxmlformats.org/officeDocument/2006/relationships/notesMaster" Target="/ppt/notesMasters/notesMaster1.xml" Id="R3c663f2e78934579" /></Relationships>
</file>

<file path=ppt/notesSlides/_rels/notesSlide5.xml.rels>&#65279;<?xml version="1.0" encoding="utf-8"?><Relationships xmlns="http://schemas.openxmlformats.org/package/2006/relationships"><Relationship Type="http://schemas.openxmlformats.org/officeDocument/2006/relationships/slide" Target="/ppt/slides/slide5.xml" Id="R75fc4336137747f2" /><Relationship Type="http://schemas.openxmlformats.org/officeDocument/2006/relationships/notesMaster" Target="/ppt/notesMasters/notesMaster1.xml" Id="Rbd85030a93474c77" /></Relationships>
</file>

<file path=ppt/notesSlides/_rels/notesSlide6.xml.rels>&#65279;<?xml version="1.0" encoding="utf-8"?><Relationships xmlns="http://schemas.openxmlformats.org/package/2006/relationships"><Relationship Type="http://schemas.openxmlformats.org/officeDocument/2006/relationships/slide" Target="/ppt/slides/slide6.xml" Id="R08d79e4e66f04a51" /><Relationship Type="http://schemas.openxmlformats.org/officeDocument/2006/relationships/notesMaster" Target="/ppt/notesMasters/notesMaster1.xml" Id="R65734fdc2c0a41c9" /></Relationships>
</file>

<file path=ppt/notesSlides/_rels/notesSlide7.xml.rels>&#65279;<?xml version="1.0" encoding="utf-8"?><Relationships xmlns="http://schemas.openxmlformats.org/package/2006/relationships"><Relationship Type="http://schemas.openxmlformats.org/officeDocument/2006/relationships/slide" Target="/ppt/slides/slide7.xml" Id="R34a6195ecdef4663" /><Relationship Type="http://schemas.openxmlformats.org/officeDocument/2006/relationships/notesMaster" Target="/ppt/notesMasters/notesMaster1.xml" Id="Rda1989bd5cf947dc" /></Relationships>
</file>

<file path=ppt/notesSlides/_rels/notesSlide8.xml.rels>&#65279;<?xml version="1.0" encoding="utf-8"?><Relationships xmlns="http://schemas.openxmlformats.org/package/2006/relationships"><Relationship Type="http://schemas.openxmlformats.org/officeDocument/2006/relationships/slide" Target="/ppt/slides/slide8.xml" Id="Rbb8f4b3f36fd4710" /><Relationship Type="http://schemas.openxmlformats.org/officeDocument/2006/relationships/notesMaster" Target="/ppt/notesMasters/notesMaster1.xml" Id="R4819e450e2d84641" /></Relationships>
</file>

<file path=ppt/notesSlides/_rels/notesSlide9.xml.rels>&#65279;<?xml version="1.0" encoding="utf-8"?><Relationships xmlns="http://schemas.openxmlformats.org/package/2006/relationships"><Relationship Type="http://schemas.openxmlformats.org/officeDocument/2006/relationships/slide" Target="/ppt/slides/slide9.xml" Id="R2709d4af932f46c3" /><Relationship Type="http://schemas.openxmlformats.org/officeDocument/2006/relationships/notesMaster" Target="/ppt/notesMasters/notesMaster1.xml" Id="R3277cd4e6f5a44e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722cafcb3ce4ed0" /><Relationship Type="http://schemas.openxmlformats.org/officeDocument/2006/relationships/notesMaster" Target="/ppt/notesMasters/notesMaster1.xml" Id="R289854fd69194e0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starting point is a simple observation: research often continues across several model conversations and tools, but the useful context does not always follow. self_mcp keeps a project record so that a later request can reuse earlier material. The discussion focuses on the working local prototype and its potential use in scientific work.</a:t>
            </a:r>
          </a:p>
          <a:p xmlns:a="http://schemas.openxmlformats.org/drawingml/2006/main">
            <a:r>
              <a:t/>
            </a:r>
          </a:p>
          <a:p xmlns:a="http://schemas.openxmlformats.org/drawingml/2006/main">
            <a:r>
              <a:t>Sources and scope</a:t>
            </a:r>
          </a:p>
          <a:p xmlns:a="http://schemas.openxmlformats.org/drawingml/2006/main">
            <a:r>
              <a:t>Implementation: README.md; docs/TASKS.md; src/project_knowledge.py; src/mcp_knowledge.py.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workflow difficulties observed during development. A later model call may otherwise miss a constraint, repeat earlier work or use an outdated answer. The aim is to retain enough context for people and models to continue the same research question. Whether this reduces time or improves scientific outcomes needs evaluation with real users.</a:t>
            </a:r>
          </a:p>
          <a:p xmlns:a="http://schemas.openxmlformats.org/drawingml/2006/main">
            <a:r>
              <a:t/>
            </a:r>
          </a:p>
          <a:p xmlns:a="http://schemas.openxmlformats.org/drawingml/2006/main">
            <a:r>
              <a:t>Sources and scope</a:t>
            </a:r>
          </a:p>
          <a:p xmlns:a="http://schemas.openxmlformats.org/drawingml/2006/main">
            <a:r>
              <a:t>Project evidence: docs/TASKS.md; src/task_runner.py; src/task_history.py.</a:t>
            </a:r>
          </a:p>
          <a:p xmlns:a="http://schemas.openxmlformats.org/drawingml/2006/main">
            <a:r>
              <a:t>Scientific context: Google Research, Accelerating scientific breakthroughs with an AI co-scientist, https://research.google/blog/accelerating-scientific-breakthroughs-with-an-ai-co-scientist/ (accessed 13 October 2026). This is related work, not validation of self_mcp.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request stays within its project. When Project knowledge is enabled, the system retrieves relevant passages for the models working on the task. Agents receive required earlier outputs as dependencies, and review feedback can guide a revision. Saved results remain accessible to external tools through MCP. Project scoping limits which stored material retrieval can return. Remote providers still receive the context supplied in their model calls. The prototype drafts and reviews work. Researchers execute and validate scientific experiments separately.</a:t>
            </a:r>
          </a:p>
          <a:p xmlns:a="http://schemas.openxmlformats.org/drawingml/2006/main">
            <a:r>
              <a:t/>
            </a:r>
          </a:p>
          <a:p xmlns:a="http://schemas.openxmlformats.org/drawingml/2006/main">
            <a:r>
              <a:t>Sources and scope</a:t>
            </a:r>
          </a:p>
          <a:p xmlns:a="http://schemas.openxmlformats.org/drawingml/2006/main">
            <a:r>
              <a:t>Implementation: src/project_knowledge.py; src/task_runner.py; src/knowledge_sources.py; src/mcp_knowledge.py.</a:t>
            </a:r>
          </a:p>
          <a:p xmlns:a="http://schemas.openxmlformats.org/drawingml/2006/main">
            <a:r>
              <a:t>The 1,500-token limit applies to additional retrieved evidence, not to the entire prompt or response. Current retrieval uses an in-memory lexical index over JSON-backed project data, without a model call for retrieval.</a:t>
            </a:r>
          </a:p>
          <a:p xmlns:a="http://schemas.openxmlformats.org/drawingml/2006/main">
            <a:r>
              <a:t>Local synthetic benchmark recorded during implementation: 1,500 documents, 3,163,500 source characters and 40 exact-identifier queries. Cold indexing 834.85 ms, warm median retrieval 9.67 ms and p95 24.47 ms. These timings describe retrieval overhead only. Reproduce with tests/benchmark_project_knowledge.py.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example follows a question about a sampling strategy. The initial request records a baseline and constraints. Models can propose an approach and critique it. A follow-up can retrieve those records, including version and review information. As work continues, the project has more material to retrieve through the same MCP connection. The stored collection grows, but model weights do not automatically learn from it. This is an illustrative scenario rather than a completed scientific experiment.</a:t>
            </a:r>
          </a:p>
          <a:p xmlns:a="http://schemas.openxmlformats.org/drawingml/2006/main">
            <a:r>
              <a:t/>
            </a:r>
          </a:p>
          <a:p xmlns:a="http://schemas.openxmlformats.org/drawingml/2006/main">
            <a:r>
              <a:t>Sources and scope</a:t>
            </a:r>
          </a:p>
          <a:p xmlns:a="http://schemas.openxmlformats.org/drawingml/2006/main">
            <a:r>
              <a:t>Implementation: src/knowledge_sources.py; src/project_knowledge.py; src/task_runner.py; docs/TASKS.md.</a:t>
            </a:r>
          </a:p>
          <a:p xmlns:a="http://schemas.openxmlformats.org/drawingml/2006/main">
            <a:r>
              <a:t>Scenario drawn from the project discussion about reward-based, non-random sampling. No experimental outcome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Several existing tools already combine retrieval with agents or workflows. Dust emphasizes shared company knowledge and collaborative agents. Agno provides an agent framework and runtime with MCP capabilities. Dify supports visual workflows that combine model calls with retrieval and tools. self_mcp explores a focused local workflow for a continuing research project. The combination may reduce setup and repeated context work, but a comparison of usability, cost and evidence quality would be needed to establish that benefit. Hosted collaboration is not part of the current prototype.</a:t>
            </a:r>
          </a:p>
          <a:p xmlns:a="http://schemas.openxmlformats.org/drawingml/2006/main">
            <a:r>
              <a:t/>
            </a:r>
          </a:p>
          <a:p xmlns:a="http://schemas.openxmlformats.org/drawingml/2006/main">
            <a:r>
              <a:t>Sources and scope</a:t>
            </a:r>
          </a:p>
          <a:p xmlns:a="http://schemas.openxmlformats.org/drawingml/2006/main">
            <a:r>
              <a:t>Dust: https://dust.tt/ (accessed 13 October 2026).</a:t>
            </a:r>
          </a:p>
          <a:p xmlns:a="http://schemas.openxmlformats.org/drawingml/2006/main">
            <a:r>
              <a:t>Agno: https://docs.agno.com/ (accessed 13 October 2026).</a:t>
            </a:r>
          </a:p>
          <a:p xmlns:a="http://schemas.openxmlformats.org/drawingml/2006/main">
            <a:r>
              <a:t>Dify Workflow Studio: https://www.dify.ai/workflows (accessed 13 October 2026).</a:t>
            </a:r>
          </a:p>
          <a:p xmlns:a="http://schemas.openxmlformats.org/drawingml/2006/main">
            <a:r>
              <a:t>self_mcp implementation: README.md; docs/TASKS.md. These descriptions are a brief comparison of documented focus, not an exhaustive feature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potential features in the process, with no implementation commitment or delivery order implied. Semantic retrieval may help when a question uses different words from the stored material. A knowledge graph could make relationships between claims and sources easier to inspect. Collaboration would require identities and explicit permissions. Experiment records could connect a proposal to the dataset and observations used to test it. Relevance feedback may help assess retrieval quality. These possibilities should be evaluated against the cost and complexity they add.</a:t>
            </a:r>
          </a:p>
          <a:p xmlns:a="http://schemas.openxmlformats.org/drawingml/2006/main">
            <a:r>
              <a:t/>
            </a:r>
          </a:p>
          <a:p xmlns:a="http://schemas.openxmlformats.org/drawingml/2006/main">
            <a:r>
              <a:t>Sources and scope</a:t>
            </a:r>
          </a:p>
          <a:p xmlns:a="http://schemas.openxmlformats.org/drawingml/2006/main">
            <a:r>
              <a:t>Current boundaries: docs/TASKS.md, Shared project retrieval; src/task_runner.py.</a:t>
            </a:r>
          </a:p>
          <a:p xmlns:a="http://schemas.openxmlformats.org/drawingml/2006/main">
            <a:r>
              <a:t>Knowledge graphs, semantic embeddings, hosted multi-user sharing and experiment execution are not implemented in the current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from the request to the task runner, then to the workers, reviewer and combined answer. The runner asks a lead model for a task plan and schedules model calls. Worker B is shown as depending on worker A. B starts only after A completes and receives A’s full current output with its producer, model and version references. These are application-managed payloads, not a direct network conversation between models. Independent tasks can run concurrently, with at most two workers in flight. The reviewer receives all task outputs and the original acceptance criteria. A requested change must identify a material problem and the relevant original criterion. The diagram illustrates a revision to B. Any revised task and its dependents rerun, while independent work stays intact. The reviewer synthesizes a final response. When the revision limit is reached, the run delivers a usable draft with unresolved review notes. Other failures retain available drafts. Model review is not independent scientific validation. Model A and model B are illustrative roles and can use the same or different allowed models.</a:t>
            </a:r>
          </a:p>
          <a:p xmlns:a="http://schemas.openxmlformats.org/drawingml/2006/main">
            <a:r>
              <a:t/>
            </a:r>
          </a:p>
          <a:p xmlns:a="http://schemas.openxmlformats.org/drawingml/2006/main">
            <a:r>
              <a:t>Implementation references</a:t>
            </a:r>
          </a:p>
          <a:p xmlns:a="http://schemas.openxmlformats.org/drawingml/2006/main">
            <a:r>
              <a:t>src/task_runner.py: _call, _workers, _worker and the delegated review loop.</a:t>
            </a:r>
          </a:p>
          <a:p xmlns:a="http://schemas.openxmlformats.org/drawingml/2006/main">
            <a:r>
              <a:t>src/task_models.py: CollaborativeReview and review validation.</a:t>
            </a:r>
          </a:p>
          <a:p xmlns:a="http://schemas.openxmlformats.org/drawingml/2006/main">
            <a:r>
              <a:t>src/task_memory.py: deterministic collaboration memory.</a:t>
            </a:r>
          </a:p>
          <a:p xmlns:a="http://schemas.openxmlformats.org/drawingml/2006/main">
            <a:r>
              <a:t>docs/TASKS.md: Collaboration and shared memory.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files are local and may each contain records from several projects. A store or project ID determines which records the knowledge service selects. Project materials persist in data.json. Task runs, conversation turns, worker output versions, reviews, final answers, usage and supplied-evidence records persist in task_runs.json. Each successful worker output gets an output_versions entry before later review. Task-store writes use a thread mutex, a process file lock, a temporary file and atomic replacement. Those task-store guarantees should not be generalized to every storage helper: data.json currently uses a direct JSON write. The knowledge service derives source records from documents, saved link descriptions and task results. Generated results are not duplicated into ordinary saved documents. The source records carry identifiers and provenance, then feed the in-memory retrieval index. Saved link descriptions are indexed, but linked pages are not automatically fetched. The JSON files remain authoritative if the cache is cleared or the process restarts.</a:t>
            </a:r>
          </a:p>
          <a:p xmlns:a="http://schemas.openxmlformats.org/drawingml/2006/main">
            <a:r>
              <a:t/>
            </a:r>
          </a:p>
          <a:p xmlns:a="http://schemas.openxmlformats.org/drawingml/2006/main">
            <a:r>
              <a:t>Implementation references</a:t>
            </a:r>
          </a:p>
          <a:p xmlns:a="http://schemas.openxmlformats.org/drawingml/2006/main">
            <a:r>
              <a:t>src/storage.py: DATA_FILE, _load and _save.</a:t>
            </a:r>
          </a:p>
          <a:p xmlns:a="http://schemas.openxmlformats.org/drawingml/2006/main">
            <a:r>
              <a:t>src/task_store.py: TaskStore.transaction and _write.</a:t>
            </a:r>
          </a:p>
          <a:p xmlns:a="http://schemas.openxmlformats.org/drawingml/2006/main">
            <a:r>
              <a:t>src/task_runner.py: _worker.complete and persisted review/final-output updates.</a:t>
            </a:r>
          </a:p>
          <a:p xmlns:a="http://schemas.openxmlformats.org/drawingml/2006/main">
            <a:r>
              <a:t>src/knowledge_sources.py: task_results.</a:t>
            </a:r>
          </a:p>
          <a:p xmlns:a="http://schemas.openxmlformats.org/drawingml/2006/main">
            <a:r>
              <a:t>src/project_knowledge.py: document_sources and KnowledgeService.snapshot.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Internal planner, worker, reviewer and direct-answer calls use this service when Project knowledge is enabled. External MCP clients call search_project_knowledge and get_project_knowledge against their connected project endpoint. No tool takes an arbitrary alternative project ID. Each lookup checks the signatures of the two JSON files. If nothing changed, it reuses a cached project index. On a cold lookup or changed file, it loads source records and reuses unchanged chunks where possible. The index uses bounded character chunks, an inverted keyword index, BM25-style scoring and query-term coverage. It removes duplicate excerpts and selects results within a token budget. Agent retrieval has a maximum budget of 1,500 additional tokens, reduced when the model has less available room. Current-turn outputs are excluded from optional search because required dependencies already pass in full. MCP search defaults to 1,500 tokens and six sources, with configurable limits. get_project_knowledge reads a source by ID with character offset and paging so complete code can be obtained. Excerpts include exact character offsets, task/message/version references and review status. Older worker versions are excluded from default search, while earlier messages remain searchable. Project isolation is local scoping, not hosted multi-user authentication. Retrieved drafts and review judgments remain unverified reference material. Operational retrieval failures are reported as unavailable; deleted projects stop subsequent calls.</a:t>
            </a:r>
          </a:p>
          <a:p xmlns:a="http://schemas.openxmlformats.org/drawingml/2006/main">
            <a:r>
              <a:t/>
            </a:r>
          </a:p>
          <a:p xmlns:a="http://schemas.openxmlformats.org/drawingml/2006/main">
            <a:r>
              <a:t>Implementation references</a:t>
            </a:r>
          </a:p>
          <a:p xmlns:a="http://schemas.openxmlformats.org/drawingml/2006/main">
            <a:r>
              <a:t>src/project_knowledge.py: ProjectIndex.ranked, KnowledgeService.snapshot, search, read and for_model.</a:t>
            </a:r>
          </a:p>
          <a:p xmlns:a="http://schemas.openxmlformats.org/drawingml/2006/main">
            <a:r>
              <a:t>src/mcp_knowledge.py: search_project_knowledge and get_project_knowledge.</a:t>
            </a:r>
          </a:p>
          <a:p xmlns:a="http://schemas.openxmlformats.org/drawingml/2006/main">
            <a:r>
              <a:t>src/task_runner.py: optional retrieval in _call and knowledge_retrievals logging.</a:t>
            </a:r>
          </a:p>
          <a:p xmlns:a="http://schemas.openxmlformats.org/drawingml/2006/main">
            <a:r>
              <a:t>docs/TASKS.md: Shared project retrieval.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joins the handoff and retrieval paths. A follow-up uses the same task ID and creates a new turn ID. Completed prior turns stay in task_runs.json. The model receives selected conversation history under a budget: the original goal, latest exchange and last successful answer are retained, then older exchanges are added when they fit. Essential history or dependency data that cannot fit causes an explicit failure before inference rather than silent omission. Every model call also receives deterministic collaboration memory with the current task map, latest review, up to eight recent distinct decisions and up to six earlier worker excerpts of at most 400 characters. Full saved drafts remain available despite those bounded excerpts. Current-stage worker dependencies pass in full when applicable. Project retrieval is separate and optional: it can add relevant material from other saved tasks in this same project, without cross-project search. No task-ID merge or cross-task agent discussion is implied. The resulting output and its provenance are saved, extending the material available to the next request. No model weights are trained by this loop. Remote model providers receive the context sent in their calls, even though the persistent files remain local. Partial results and unresolved review notes keep their status so they are not silently promoted to verified facts.</a:t>
            </a:r>
          </a:p>
          <a:p xmlns:a="http://schemas.openxmlformats.org/drawingml/2006/main">
            <a:r>
              <a:t/>
            </a:r>
          </a:p>
          <a:p xmlns:a="http://schemas.openxmlformats.org/drawingml/2006/main">
            <a:r>
              <a:t>Implementation references</a:t>
            </a:r>
          </a:p>
          <a:p xmlns:a="http://schemas.openxmlformats.org/drawingml/2006/main">
            <a:r>
              <a:t>src/task_history.py: bounded continuation history.</a:t>
            </a:r>
          </a:p>
          <a:p xmlns:a="http://schemas.openxmlformats.org/drawingml/2006/main">
            <a:r>
              <a:t>src/task_memory.py: context.</a:t>
            </a:r>
          </a:p>
          <a:p xmlns:a="http://schemas.openxmlformats.org/drawingml/2006/main">
            <a:r>
              <a:t>src/task_store.py: continuation transaction and turn archive.</a:t>
            </a:r>
          </a:p>
          <a:p xmlns:a="http://schemas.openxmlformats.org/drawingml/2006/main">
            <a:r>
              <a:t>src/task_runner.py: _call and _workers.</a:t>
            </a:r>
          </a:p>
          <a:p xmlns:a="http://schemas.openxmlformats.org/drawingml/2006/main">
            <a:r>
              <a:t>docs/TASKS.md: Continuing a task; Collaboration and shared memory; Shared project retrieval.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82e5e10edcf4d0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e469414be1045f3" /><Relationship Type="http://schemas.openxmlformats.org/officeDocument/2006/relationships/slideLayout" Target="/ppt/slideLayouts/slideLayout1.xml" Id="R2cd34937a99a4a5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cd34937a99a4a5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ff447c8a86147b7" /><Relationship Type="http://schemas.openxmlformats.org/officeDocument/2006/relationships/notesSlide" Target="/ppt/notesSlides/notesSlide1.xml" Id="R9fe3232f986c445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7ad8f8ad7fc4ce7" /><Relationship Type="http://schemas.openxmlformats.org/officeDocument/2006/relationships/notesSlide" Target="/ppt/notesSlides/notesSlide2.xml" Id="R3f0ab87761b2421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624f51796c64b94" /><Relationship Type="http://schemas.openxmlformats.org/officeDocument/2006/relationships/notesSlide" Target="/ppt/notesSlides/notesSlide3.xml" Id="R8e95e5ce355e481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8b3557afd66430e" /><Relationship Type="http://schemas.openxmlformats.org/officeDocument/2006/relationships/notesSlide" Target="/ppt/notesSlides/notesSlide4.xml" Id="R49fcb1e5ff3743d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9bee9584358499d" /><Relationship Type="http://schemas.openxmlformats.org/officeDocument/2006/relationships/notesSlide" Target="/ppt/notesSlides/notesSlide5.xml" Id="Ra7491267d24c446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60b8ed851674e39" /><Relationship Type="http://schemas.openxmlformats.org/officeDocument/2006/relationships/notesSlide" Target="/ppt/notesSlides/notesSlide6.xml" Id="Rc286a465098a451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ed9a97acf4e4761" /><Relationship Type="http://schemas.openxmlformats.org/officeDocument/2006/relationships/notesSlide" Target="/ppt/notesSlides/notesSlide7.xml" Id="R5caafe6ac5c9417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016307dbf3f4c5b" /><Relationship Type="http://schemas.openxmlformats.org/officeDocument/2006/relationships/notesSlide" Target="/ppt/notesSlides/notesSlide8.xml" Id="R233470f072294e6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f1af7e1957f449d" /><Relationship Type="http://schemas.openxmlformats.org/officeDocument/2006/relationships/notesSlide" Target="/ppt/notesSlides/notesSlide9.xml" Id="R368d632dbab2497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508b89807054059" /><Relationship Type="http://schemas.openxmlformats.org/officeDocument/2006/relationships/notesSlide" Target="/ppt/notesSlides/notesSlide10.xml" Id="Rc62c3baf064f46d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
            <a:extLst xmlns:a="http://schemas.openxmlformats.org/drawingml/2006/main">
              <a:ext uri="{FF2B5EF4-FFF2-40B4-BE49-F238E27FC236}">
                <a16:creationId xmlns:a16="http://schemas.microsoft.com/office/drawing/2014/main" id="{FA727063-41B3-403A-A979-193293D744D6}"/>
              </a:ext>
            </a:extLst>
          </p:cNvPr>
          <p:cNvSpPr>
            <a:spLocks xmlns:a="http://schemas.openxmlformats.org/drawingml/2006/main" noGrp="1"/>
          </p:cNvSpPr>
          <p:nvPr/>
        </p:nvSpPr>
        <p:spPr>
          <a:xfrm xmlns:a="http://schemas.openxmlformats.org/drawingml/2006/main">
            <a:off x="762000" y="762000"/>
            <a:ext cx="666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334A68"/>
                </a:solidFill>
                <a:latin typeface="Helvetica Neue"/>
                <a:ea typeface="Helvetica Neue"/>
                <a:cs typeface="Helvetica Neue"/>
              </a:defRPr>
            </a:pPr>
            <a:r>
              <a:rPr sz="2175" b="0">
                <a:solidFill>
                  <a:srgbClr val="334A68"/>
                </a:solidFill>
                <a:latin typeface="Helvetica Neue"/>
                <a:ea typeface="Helvetica Neue"/>
                <a:cs typeface="Helvetica Neue"/>
              </a:rPr>
              <a:t>self_mcp</a:t>
            </a:r>
          </a:p>
        </p:txBody>
      </p:sp>
      <p:sp>
        <p:nvSpPr>
          <p:cNvPr id="2" name="cover-title">
            <a:extLst xmlns:a="http://schemas.openxmlformats.org/drawingml/2006/main">
              <a:ext uri="{FF2B5EF4-FFF2-40B4-BE49-F238E27FC236}">
                <a16:creationId xmlns:a16="http://schemas.microsoft.com/office/drawing/2014/main" id="{F6737C28-84FC-467E-A7FB-E983750CD6E9}"/>
              </a:ext>
            </a:extLst>
          </p:cNvPr>
          <p:cNvSpPr>
            <a:spLocks xmlns:a="http://schemas.openxmlformats.org/drawingml/2006/main" noGrp="1"/>
          </p:cNvSpPr>
          <p:nvPr/>
        </p:nvSpPr>
        <p:spPr>
          <a:xfrm xmlns:a="http://schemas.openxmlformats.org/drawingml/2006/main">
            <a:off x="762000" y="2114550"/>
            <a:ext cx="10668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900" b="1">
                <a:solidFill>
                  <a:srgbClr val="30343B"/>
                </a:solidFill>
                <a:latin typeface="Helvetica Neue"/>
                <a:ea typeface="Helvetica Neue"/>
                <a:cs typeface="Helvetica Neue"/>
              </a:defRPr>
            </a:pPr>
            <a:r>
              <a:rPr sz="3900" b="1">
                <a:solidFill>
                  <a:srgbClr val="30343B"/>
                </a:solidFill>
                <a:latin typeface="Helvetica Neue"/>
                <a:ea typeface="Helvetica Neue"/>
                <a:cs typeface="Helvetica Neue"/>
              </a:rPr>
              <a:t>Shared project knowledge</a:t>
            </a:r>
          </a:p>
          <a:p xmlns:a="http://schemas.openxmlformats.org/drawingml/2006/main">
            <a:pPr>
              <a:buNone/>
              <a:defRPr sz="3900" b="1">
                <a:solidFill>
                  <a:srgbClr val="30343B"/>
                </a:solidFill>
                <a:latin typeface="Helvetica Neue"/>
                <a:ea typeface="Helvetica Neue"/>
                <a:cs typeface="Helvetica Neue"/>
              </a:defRPr>
            </a:pPr>
            <a:r>
              <a:rPr sz="3900" b="1">
                <a:solidFill>
                  <a:srgbClr val="30343B"/>
                </a:solidFill>
                <a:latin typeface="Helvetica Neue"/>
                <a:ea typeface="Helvetica Neue"/>
                <a:cs typeface="Helvetica Neue"/>
              </a:rPr>
              <a:t>for AI-assisted research</a:t>
            </a:r>
          </a:p>
        </p:txBody>
      </p:sp>
      <p:sp>
        <p:nvSpPr>
          <p:cNvPr id="3" name="text">
            <a:extLst xmlns:a="http://schemas.openxmlformats.org/drawingml/2006/main">
              <a:ext uri="{FF2B5EF4-FFF2-40B4-BE49-F238E27FC236}">
                <a16:creationId xmlns:a16="http://schemas.microsoft.com/office/drawing/2014/main" id="{7DE7435B-3BD7-49B9-8339-E3BE04B527A5}"/>
              </a:ext>
            </a:extLst>
          </p:cNvPr>
          <p:cNvSpPr>
            <a:spLocks xmlns:a="http://schemas.openxmlformats.org/drawingml/2006/main" noGrp="1"/>
          </p:cNvSpPr>
          <p:nvPr/>
        </p:nvSpPr>
        <p:spPr>
          <a:xfrm xmlns:a="http://schemas.openxmlformats.org/drawingml/2006/main">
            <a:off x="762000" y="39909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626970"/>
                </a:solidFill>
                <a:latin typeface="Helvetica Neue"/>
                <a:ea typeface="Helvetica Neue"/>
                <a:cs typeface="Helvetica Neue"/>
              </a:defRPr>
            </a:pPr>
            <a:r>
              <a:rPr sz="2250" b="0">
                <a:solidFill>
                  <a:srgbClr val="626970"/>
                </a:solidFill>
                <a:latin typeface="Helvetica Neue"/>
                <a:ea typeface="Helvetica Neue"/>
                <a:cs typeface="Helvetica Neue"/>
              </a:rPr>
              <a:t>Using the same project context across models and tools</a:t>
            </a:r>
          </a:p>
        </p:txBody>
      </p:sp>
      <p:sp>
        <p:nvSpPr>
          <p:cNvPr id="4" name="text">
            <a:extLst xmlns:a="http://schemas.openxmlformats.org/drawingml/2006/main">
              <a:ext uri="{FF2B5EF4-FFF2-40B4-BE49-F238E27FC236}">
                <a16:creationId xmlns:a16="http://schemas.microsoft.com/office/drawing/2014/main" id="{AC32914B-A813-43C8-91F1-F004F3C91317}"/>
              </a:ext>
            </a:extLst>
          </p:cNvPr>
          <p:cNvSpPr>
            <a:spLocks xmlns:a="http://schemas.openxmlformats.org/drawingml/2006/main" noGrp="1"/>
          </p:cNvSpPr>
          <p:nvPr/>
        </p:nvSpPr>
        <p:spPr>
          <a:xfrm xmlns:a="http://schemas.openxmlformats.org/drawingml/2006/main">
            <a:off x="762000" y="56102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0">
                <a:solidFill>
                  <a:srgbClr val="30343B"/>
                </a:solidFill>
                <a:latin typeface="Helvetica Neue"/>
                <a:ea typeface="Helvetica Neue"/>
                <a:cs typeface="Helvetica Neue"/>
              </a:defRPr>
            </a:pPr>
            <a:r>
              <a:rPr sz="2025" b="0">
                <a:solidFill>
                  <a:srgbClr val="30343B"/>
                </a:solidFill>
                <a:latin typeface="Helvetica Neue"/>
                <a:ea typeface="Helvetica Neue"/>
                <a:cs typeface="Helvetica Neue"/>
              </a:rPr>
              <a:t>Can previous work stay useful when the model or tool changes?</a:t>
            </a:r>
          </a:p>
        </p:txBody>
      </p:sp>
    </p:spTree>
    <p:extLst>
      <p:ext uri="{BB962C8B-B14F-4D97-AF65-F5344CB8AC3E}">
        <p14:creationId xmlns:p14="http://schemas.microsoft.com/office/powerpoint/2010/main" val="197240250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647A4A31-BB0C-4A39-A063-E9650A8DAD5C}"/>
              </a:ext>
            </a:extLst>
          </p:cNvPr>
          <p:cNvSpPr>
            <a:spLocks xmlns:a="http://schemas.openxmlformats.org/drawingml/2006/main" noGrp="1"/>
          </p:cNvSpPr>
          <p:nvPr/>
        </p:nvSpPr>
        <p:spPr>
          <a:xfrm xmlns:a="http://schemas.openxmlformats.org/drawingml/2006/main">
            <a:off x="762000" y="5429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150" b="1">
                <a:solidFill>
                  <a:srgbClr val="334A68"/>
                </a:solidFill>
                <a:latin typeface="Helvetica Neue"/>
                <a:ea typeface="Helvetica Neue"/>
                <a:cs typeface="Helvetica Neue"/>
              </a:defRPr>
            </a:pPr>
            <a:r>
              <a:rPr sz="3150" b="1">
                <a:solidFill>
                  <a:srgbClr val="334A68"/>
                </a:solidFill>
                <a:latin typeface="Helvetica Neue"/>
                <a:ea typeface="Helvetica Neue"/>
                <a:cs typeface="Helvetica Neue"/>
              </a:rPr>
              <a:t>Why project context matters</a:t>
            </a:r>
          </a:p>
        </p:txBody>
      </p:sp>
      <p:sp>
        <p:nvSpPr>
          <p:cNvPr id="2" name="page-number">
            <a:extLst xmlns:a="http://schemas.openxmlformats.org/drawingml/2006/main">
              <a:ext uri="{FF2B5EF4-FFF2-40B4-BE49-F238E27FC236}">
                <a16:creationId xmlns:a16="http://schemas.microsoft.com/office/drawing/2014/main" id="{4CB3D4E1-3A15-46ED-87F2-183B8811D6B7}"/>
              </a:ext>
            </a:extLst>
          </p:cNvPr>
          <p:cNvSpPr>
            <a:spLocks xmlns:a="http://schemas.openxmlformats.org/drawingml/2006/main" noGrp="1"/>
          </p:cNvSpPr>
          <p:nvPr/>
        </p:nvSpPr>
        <p:spPr>
          <a:xfrm xmlns:a="http://schemas.openxmlformats.org/drawingml/2006/main">
            <a:off x="11163300" y="63817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350" b="0">
                <a:solidFill>
                  <a:srgbClr val="626970"/>
                </a:solidFill>
                <a:latin typeface="Helvetica Neue"/>
                <a:ea typeface="Helvetica Neue"/>
                <a:cs typeface="Helvetica Neue"/>
              </a:defRPr>
            </a:pPr>
            <a:r>
              <a:rPr sz="1350" b="0">
                <a:solidFill>
                  <a:srgbClr val="626970"/>
                </a:solidFill>
                <a:latin typeface="Helvetica Neue"/>
                <a:ea typeface="Helvetica Neue"/>
                <a:cs typeface="Helvetica Neue"/>
              </a:rPr>
              <a:t>2</a:t>
            </a:r>
          </a:p>
        </p:txBody>
      </p:sp>
      <p:sp>
        <p:nvSpPr>
          <p:cNvPr id="3" name="text">
            <a:extLst xmlns:a="http://schemas.openxmlformats.org/drawingml/2006/main">
              <a:ext uri="{FF2B5EF4-FFF2-40B4-BE49-F238E27FC236}">
                <a16:creationId xmlns:a16="http://schemas.microsoft.com/office/drawing/2014/main" id="{3960DC4C-654F-497D-ADA6-531D451496D3}"/>
              </a:ext>
            </a:extLst>
          </p:cNvPr>
          <p:cNvSpPr>
            <a:spLocks xmlns:a="http://schemas.openxmlformats.org/drawingml/2006/main" noGrp="1"/>
          </p:cNvSpPr>
          <p:nvPr/>
        </p:nvSpPr>
        <p:spPr>
          <a:xfrm xmlns:a="http://schemas.openxmlformats.org/drawingml/2006/main">
            <a:off x="762000" y="13906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626970"/>
                </a:solidFill>
                <a:latin typeface="Helvetica Neue"/>
                <a:ea typeface="Helvetica Neue"/>
                <a:cs typeface="Helvetica Neue"/>
              </a:defRPr>
            </a:pPr>
            <a:r>
              <a:rPr sz="2100" b="0">
                <a:solidFill>
                  <a:srgbClr val="626970"/>
                </a:solidFill>
                <a:latin typeface="Helvetica Neue"/>
                <a:ea typeface="Helvetica Neue"/>
                <a:cs typeface="Helvetica Neue"/>
              </a:rPr>
              <a:t>A research question usually develops over several rounds of work.</a:t>
            </a:r>
          </a:p>
        </p:txBody>
      </p:sp>
      <p:graphicFrame>
        <p:nvGraphicFramePr>
          <p:cNvPr id="11" name=""/>
          <p:cNvGraphicFramePr/>
          <p:nvPr/>
        </p:nvGraphicFramePr>
        <p:xfrm>
          <a:off xmlns:a="http://schemas.openxmlformats.org/drawingml/2006/main" x="762000" y="2181225"/>
          <a:ext xmlns:a="http://schemas.openxmlformats.org/drawingml/2006/main" cx="10668000" cy="3143250"/>
        </p:xfrm>
        <a:graphic xmlns:a="http://schemas.openxmlformats.org/drawingml/2006/main">
          <a:graphicData uri="http://schemas.openxmlformats.org/drawingml/2006/table">
            <a:tbl>
              <a:tblPr firstRow="0" bandRow="0"/>
              <a:tblGrid>
                <a:gridCol w="5105400"/>
                <a:gridCol w="5562600"/>
              </a:tblGrid>
              <a:tr h="628650">
                <a:tc>
                  <a:txBody>
                    <a:bodyPr lIns="152400" tIns="114300" rIns="152400" bIns="114300">
                      <a:noAutofit/>
                    </a:bodyPr>
                    <a:lstStyle/>
                    <a:p>
                      <a:r>
                        <a:rPr sz="1800" b="1">
                          <a:solidFill>
                            <a:srgbClr val="30343B"/>
                          </a:solidFill>
                          <a:latin typeface="Helvetica Neue"/>
                          <a:ea typeface="Helvetica Neue"/>
                          <a:cs typeface="Helvetica Neue"/>
                        </a:rPr>
                        <a:t>Common difficulty</a:t>
                      </a:r>
                    </a:p>
                  </a:txBody>
                  <a:tcPr marL="91440" marR="91440" marT="45720" marB="45720" anchor="ctr">
                    <a:solidFill>
                      <a:srgbClr val="F0F2F4"/>
                    </a:solidFill>
                  </a:tcPr>
                </a:tc>
                <a:tc>
                  <a:txBody>
                    <a:bodyPr lIns="152400" tIns="114300" rIns="152400" bIns="114300">
                      <a:noAutofit/>
                    </a:bodyPr>
                    <a:lstStyle/>
                    <a:p>
                      <a:r>
                        <a:rPr sz="1800" b="1">
                          <a:solidFill>
                            <a:srgbClr val="30343B"/>
                          </a:solidFill>
                          <a:latin typeface="Helvetica Neue"/>
                          <a:ea typeface="Helvetica Neue"/>
                          <a:cs typeface="Helvetica Neue"/>
                        </a:rPr>
                        <a:t>Approach in self_mcp</a:t>
                      </a:r>
                    </a:p>
                  </a:txBody>
                  <a:tcPr marL="91440" marR="91440" marT="45720" marB="45720" anchor="ctr">
                    <a:solidFill>
                      <a:srgbClr val="F0F2F4"/>
                    </a:solidFill>
                  </a:tcPr>
                </a:tc>
              </a:tr>
              <a:tr h="628650">
                <a:tc>
                  <a:txBody>
                    <a:bodyPr lIns="152400" tIns="114300" rIns="152400" bIns="114300">
                      <a:noAutofit/>
                    </a:bodyPr>
                    <a:lstStyle/>
                    <a:p>
                      <a:r>
                        <a:rPr sz="1875" b="0">
                          <a:solidFill>
                            <a:srgbClr val="30343B"/>
                          </a:solidFill>
                          <a:latin typeface="Helvetica Neue"/>
                          <a:ea typeface="Helvetica Neue"/>
                          <a:cs typeface="Helvetica Neue"/>
                        </a:rPr>
                        <a:t>Repeating the same background</a:t>
                      </a:r>
                    </a:p>
                  </a:txBody>
                  <a:tcPr marL="91440" marR="91440" marT="45720" marB="45720" anchor="ctr">
                    <a:solidFill>
                      <a:srgbClr val="FFFFFF"/>
                    </a:solidFill>
                  </a:tcPr>
                </a:tc>
                <a:tc>
                  <a:txBody>
                    <a:bodyPr lIns="152400" tIns="114300" rIns="152400" bIns="114300">
                      <a:noAutofit/>
                    </a:bodyPr>
                    <a:lstStyle/>
                    <a:p>
                      <a:r>
                        <a:rPr sz="1875" b="0">
                          <a:solidFill>
                            <a:srgbClr val="30343B"/>
                          </a:solidFill>
                          <a:latin typeface="Helvetica Neue"/>
                          <a:ea typeface="Helvetica Neue"/>
                          <a:cs typeface="Helvetica Neue"/>
                        </a:rPr>
                        <a:t>Retrieve relevant project notes</a:t>
                      </a:r>
                    </a:p>
                  </a:txBody>
                  <a:tcPr marL="91440" marR="91440" marT="45720" marB="45720" anchor="ctr">
                    <a:solidFill>
                      <a:srgbClr val="FFFFFF"/>
                    </a:solidFill>
                  </a:tcPr>
                </a:tc>
              </a:tr>
              <a:tr h="628650">
                <a:tc>
                  <a:txBody>
                    <a:bodyPr lIns="152400" tIns="114300" rIns="152400" bIns="114300">
                      <a:noAutofit/>
                    </a:bodyPr>
                    <a:lstStyle/>
                    <a:p>
                      <a:r>
                        <a:rPr sz="1875" b="0">
                          <a:solidFill>
                            <a:srgbClr val="30343B"/>
                          </a:solidFill>
                          <a:latin typeface="Helvetica Neue"/>
                          <a:ea typeface="Helvetica Neue"/>
                          <a:cs typeface="Helvetica Neue"/>
                        </a:rPr>
                        <a:t>Moving work between models</a:t>
                      </a:r>
                    </a:p>
                  </a:txBody>
                  <a:tcPr marL="91440" marR="91440" marT="45720" marB="45720" anchor="ctr">
                    <a:solidFill>
                      <a:srgbClr val="FFFFFF"/>
                    </a:solidFill>
                  </a:tcPr>
                </a:tc>
                <a:tc>
                  <a:txBody>
                    <a:bodyPr lIns="152400" tIns="114300" rIns="152400" bIns="114300">
                      <a:noAutofit/>
                    </a:bodyPr>
                    <a:lstStyle/>
                    <a:p>
                      <a:r>
                        <a:rPr sz="1875" b="0">
                          <a:solidFill>
                            <a:srgbClr val="30343B"/>
                          </a:solidFill>
                          <a:latin typeface="Helvetica Neue"/>
                          <a:ea typeface="Helvetica Neue"/>
                          <a:cs typeface="Helvetica Neue"/>
                        </a:rPr>
                        <a:t>Share drafts and review feedback</a:t>
                      </a:r>
                    </a:p>
                  </a:txBody>
                  <a:tcPr marL="91440" marR="91440" marT="45720" marB="45720" anchor="ctr">
                    <a:solidFill>
                      <a:srgbClr val="FFFFFF"/>
                    </a:solidFill>
                  </a:tcPr>
                </a:tc>
              </a:tr>
              <a:tr h="628650">
                <a:tc>
                  <a:txBody>
                    <a:bodyPr lIns="152400" tIns="114300" rIns="152400" bIns="114300">
                      <a:noAutofit/>
                    </a:bodyPr>
                    <a:lstStyle/>
                    <a:p>
                      <a:r>
                        <a:rPr sz="1875" b="0">
                          <a:solidFill>
                            <a:srgbClr val="30343B"/>
                          </a:solidFill>
                          <a:latin typeface="Helvetica Neue"/>
                          <a:ea typeface="Helvetica Neue"/>
                          <a:cs typeface="Helvetica Neue"/>
                        </a:rPr>
                        <a:t>Keeping track of earlier answers</a:t>
                      </a:r>
                    </a:p>
                  </a:txBody>
                  <a:tcPr marL="91440" marR="91440" marT="45720" marB="45720" anchor="ctr">
                    <a:solidFill>
                      <a:srgbClr val="FFFFFF"/>
                    </a:solidFill>
                  </a:tcPr>
                </a:tc>
                <a:tc>
                  <a:txBody>
                    <a:bodyPr lIns="152400" tIns="114300" rIns="152400" bIns="114300">
                      <a:noAutofit/>
                    </a:bodyPr>
                    <a:lstStyle/>
                    <a:p>
                      <a:r>
                        <a:rPr sz="1875" b="0">
                          <a:solidFill>
                            <a:srgbClr val="30343B"/>
                          </a:solidFill>
                          <a:latin typeface="Helvetica Neue"/>
                          <a:ea typeface="Helvetica Neue"/>
                          <a:cs typeface="Helvetica Neue"/>
                        </a:rPr>
                        <a:t>Retain source and version information</a:t>
                      </a:r>
                    </a:p>
                  </a:txBody>
                  <a:tcPr marL="91440" marR="91440" marT="45720" marB="45720" anchor="ctr">
                    <a:solidFill>
                      <a:srgbClr val="FFFFFF"/>
                    </a:solidFill>
                  </a:tcPr>
                </a:tc>
              </a:tr>
              <a:tr h="628650">
                <a:tc>
                  <a:txBody>
                    <a:bodyPr lIns="152400" tIns="114300" rIns="152400" bIns="114300">
                      <a:noAutofit/>
                    </a:bodyPr>
                    <a:lstStyle/>
                    <a:p>
                      <a:r>
                        <a:rPr sz="1875" b="0">
                          <a:solidFill>
                            <a:srgbClr val="30343B"/>
                          </a:solidFill>
                          <a:latin typeface="Helvetica Neue"/>
                          <a:ea typeface="Helvetica Neue"/>
                          <a:cs typeface="Helvetica Neue"/>
                        </a:rPr>
                        <a:t>Pasting large collections of notes</a:t>
                      </a:r>
                    </a:p>
                  </a:txBody>
                  <a:tcPr marL="91440" marR="91440" marT="45720" marB="45720" anchor="ctr">
                    <a:solidFill>
                      <a:srgbClr val="FFFFFF"/>
                    </a:solidFill>
                  </a:tcPr>
                </a:tc>
                <a:tc>
                  <a:txBody>
                    <a:bodyPr lIns="152400" tIns="114300" rIns="152400" bIns="114300">
                      <a:noAutofit/>
                    </a:bodyPr>
                    <a:lstStyle/>
                    <a:p>
                      <a:r>
                        <a:rPr sz="1875" b="0">
                          <a:solidFill>
                            <a:srgbClr val="30343B"/>
                          </a:solidFill>
                          <a:latin typeface="Helvetica Neue"/>
                          <a:ea typeface="Helvetica Neue"/>
                          <a:cs typeface="Helvetica Neue"/>
                        </a:rPr>
                        <a:t>Retrieve passages within a token budget</a:t>
                      </a:r>
                    </a:p>
                  </a:txBody>
                  <a:tcPr marL="91440" marR="91440" marT="45720" marB="45720" anchor="ctr">
                    <a:solidFill>
                      <a:srgbClr val="FFFFFF"/>
                    </a:solidFill>
                  </a:tcPr>
                </a:tc>
              </a:tr>
            </a:tbl>
          </a:graphicData>
        </a:graphic>
      </p:graphicFrame>
      <p:sp>
        <p:nvSpPr>
          <p:cNvPr id="5" name="text">
            <a:extLst xmlns:a="http://schemas.openxmlformats.org/drawingml/2006/main">
              <a:ext uri="{FF2B5EF4-FFF2-40B4-BE49-F238E27FC236}">
                <a16:creationId xmlns:a16="http://schemas.microsoft.com/office/drawing/2014/main" id="{2A02E3C7-2A80-4CA6-BB8F-9B0105380CE7}"/>
              </a:ext>
            </a:extLst>
          </p:cNvPr>
          <p:cNvSpPr>
            <a:spLocks xmlns:a="http://schemas.openxmlformats.org/drawingml/2006/main" noGrp="1"/>
          </p:cNvSpPr>
          <p:nvPr/>
        </p:nvSpPr>
        <p:spPr>
          <a:xfrm xmlns:a="http://schemas.openxmlformats.org/drawingml/2006/main">
            <a:off x="762000" y="57626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30343B"/>
                </a:solidFill>
                <a:latin typeface="Helvetica Neue"/>
                <a:ea typeface="Helvetica Neue"/>
                <a:cs typeface="Helvetica Neue"/>
              </a:defRPr>
            </a:pPr>
            <a:r>
              <a:rPr sz="2100" b="0">
                <a:solidFill>
                  <a:srgbClr val="30343B"/>
                </a:solidFill>
                <a:latin typeface="Helvetica Neue"/>
                <a:ea typeface="Helvetica Neue"/>
                <a:cs typeface="Helvetica Neue"/>
              </a:rPr>
              <a:t>Keeping assumptions and methods visible helps researchers check the work.</a:t>
            </a:r>
          </a:p>
        </p:txBody>
      </p:sp>
    </p:spTree>
    <p:extLst>
      <p:ext uri="{BB962C8B-B14F-4D97-AF65-F5344CB8AC3E}">
        <p14:creationId xmlns:p14="http://schemas.microsoft.com/office/powerpoint/2010/main" val="100948725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DBE16732-A379-4524-8A4D-D5C8F78B55B0}"/>
              </a:ext>
            </a:extLst>
          </p:cNvPr>
          <p:cNvSpPr>
            <a:spLocks xmlns:a="http://schemas.openxmlformats.org/drawingml/2006/main" noGrp="1"/>
          </p:cNvSpPr>
          <p:nvPr/>
        </p:nvSpPr>
        <p:spPr>
          <a:xfrm xmlns:a="http://schemas.openxmlformats.org/drawingml/2006/main">
            <a:off x="762000" y="5429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150" b="1">
                <a:solidFill>
                  <a:srgbClr val="334A68"/>
                </a:solidFill>
                <a:latin typeface="Helvetica Neue"/>
                <a:ea typeface="Helvetica Neue"/>
                <a:cs typeface="Helvetica Neue"/>
              </a:defRPr>
            </a:pPr>
            <a:r>
              <a:rPr sz="3150" b="1">
                <a:solidFill>
                  <a:srgbClr val="334A68"/>
                </a:solidFill>
                <a:latin typeface="Helvetica Neue"/>
                <a:ea typeface="Helvetica Neue"/>
                <a:cs typeface="Helvetica Neue"/>
              </a:rPr>
              <a:t>How the workflow fits together</a:t>
            </a:r>
          </a:p>
        </p:txBody>
      </p:sp>
      <p:sp>
        <p:nvSpPr>
          <p:cNvPr id="2" name="page-number">
            <a:extLst xmlns:a="http://schemas.openxmlformats.org/drawingml/2006/main">
              <a:ext uri="{FF2B5EF4-FFF2-40B4-BE49-F238E27FC236}">
                <a16:creationId xmlns:a16="http://schemas.microsoft.com/office/drawing/2014/main" id="{12DA2D7B-92FF-4078-8822-0D1C0C3BE8D2}"/>
              </a:ext>
            </a:extLst>
          </p:cNvPr>
          <p:cNvSpPr>
            <a:spLocks xmlns:a="http://schemas.openxmlformats.org/drawingml/2006/main" noGrp="1"/>
          </p:cNvSpPr>
          <p:nvPr/>
        </p:nvSpPr>
        <p:spPr>
          <a:xfrm xmlns:a="http://schemas.openxmlformats.org/drawingml/2006/main">
            <a:off x="11163300" y="63817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350" b="0">
                <a:solidFill>
                  <a:srgbClr val="626970"/>
                </a:solidFill>
                <a:latin typeface="Helvetica Neue"/>
                <a:ea typeface="Helvetica Neue"/>
                <a:cs typeface="Helvetica Neue"/>
              </a:defRPr>
            </a:pPr>
            <a:r>
              <a:rPr sz="1350" b="0">
                <a:solidFill>
                  <a:srgbClr val="626970"/>
                </a:solidFill>
                <a:latin typeface="Helvetica Neue"/>
                <a:ea typeface="Helvetica Neue"/>
                <a:cs typeface="Helvetica Neue"/>
              </a:rPr>
              <a:t>3</a:t>
            </a:r>
          </a:p>
        </p:txBody>
      </p:sp>
      <p:sp>
        <p:nvSpPr>
          <p:cNvPr id="3" name="text">
            <a:extLst xmlns:a="http://schemas.openxmlformats.org/drawingml/2006/main">
              <a:ext uri="{FF2B5EF4-FFF2-40B4-BE49-F238E27FC236}">
                <a16:creationId xmlns:a16="http://schemas.microsoft.com/office/drawing/2014/main" id="{335F84B2-BDDB-428A-966A-E5076BCBD979}"/>
              </a:ext>
            </a:extLst>
          </p:cNvPr>
          <p:cNvSpPr>
            <a:spLocks xmlns:a="http://schemas.openxmlformats.org/drawingml/2006/main" noGrp="1"/>
          </p:cNvSpPr>
          <p:nvPr/>
        </p:nvSpPr>
        <p:spPr>
          <a:xfrm xmlns:a="http://schemas.openxmlformats.org/drawingml/2006/main">
            <a:off x="857250" y="1790700"/>
            <a:ext cx="10363200" cy="300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54000" indent="-127000">
              <a:spcAft>
                <a:spcPts val="2400"/>
              </a:spcAft>
              <a:buChar char="•"/>
              <a:defRPr sz="2250" b="0">
                <a:solidFill>
                  <a:srgbClr val="30343B"/>
                </a:solidFill>
                <a:latin typeface="Helvetica Neue"/>
                <a:ea typeface="Helvetica Neue"/>
                <a:cs typeface="Helvetica Neue"/>
              </a:defRPr>
            </a:pPr>
            <a:r>
              <a:t>Retrieve relevant context from the current project.</a:t>
            </a:r>
          </a:p>
          <a:p xmlns:a="http://schemas.openxmlformats.org/drawingml/2006/main">
            <a:pPr marL="254000" indent="-127000">
              <a:spcAft>
                <a:spcPts val="2400"/>
              </a:spcAft>
              <a:buChar char="•"/>
              <a:defRPr sz="2250" b="0">
                <a:solidFill>
                  <a:srgbClr val="30343B"/>
                </a:solidFill>
                <a:latin typeface="Helvetica Neue"/>
                <a:ea typeface="Helvetica Neue"/>
                <a:cs typeface="Helvetica Neue"/>
              </a:defRPr>
            </a:pPr>
            <a:r>
              <a:t>Assign parts of the request to configured models.</a:t>
            </a:r>
          </a:p>
          <a:p xmlns:a="http://schemas.openxmlformats.org/drawingml/2006/main">
            <a:pPr marL="254000" indent="-127000">
              <a:spcAft>
                <a:spcPts val="2400"/>
              </a:spcAft>
              <a:buChar char="•"/>
              <a:defRPr sz="2250" b="0">
                <a:solidFill>
                  <a:srgbClr val="30343B"/>
                </a:solidFill>
                <a:latin typeface="Helvetica Neue"/>
                <a:ea typeface="Helvetica Neue"/>
                <a:cs typeface="Helvetica Neue"/>
              </a:defRPr>
            </a:pPr>
            <a:r>
              <a:t>Pass drafts and review feedback between agents.</a:t>
            </a:r>
          </a:p>
          <a:p xmlns:a="http://schemas.openxmlformats.org/drawingml/2006/main">
            <a:pPr marL="254000" indent="-127000">
              <a:spcAft>
                <a:spcPts val="2400"/>
              </a:spcAft>
              <a:buChar char="•"/>
              <a:defRPr sz="2250" b="0">
                <a:solidFill>
                  <a:srgbClr val="30343B"/>
                </a:solidFill>
                <a:latin typeface="Helvetica Neue"/>
                <a:ea typeface="Helvetica Neue"/>
                <a:cs typeface="Helvetica Neue"/>
              </a:defRPr>
            </a:pPr>
            <a:r>
              <a:t>Save the outputs so the next request can reuse them.</a:t>
            </a:r>
          </a:p>
        </p:txBody>
      </p:sp>
      <p:sp>
        <p:nvSpPr>
          <p:cNvPr id="4" name="text">
            <a:extLst xmlns:a="http://schemas.openxmlformats.org/drawingml/2006/main">
              <a:ext uri="{FF2B5EF4-FFF2-40B4-BE49-F238E27FC236}">
                <a16:creationId xmlns:a16="http://schemas.microsoft.com/office/drawing/2014/main" id="{93AC197E-94B2-4209-A1C7-4D044FD3F4B7}"/>
              </a:ext>
            </a:extLst>
          </p:cNvPr>
          <p:cNvSpPr>
            <a:spLocks xmlns:a="http://schemas.openxmlformats.org/drawingml/2006/main" noGrp="1"/>
          </p:cNvSpPr>
          <p:nvPr/>
        </p:nvSpPr>
        <p:spPr>
          <a:xfrm xmlns:a="http://schemas.openxmlformats.org/drawingml/2006/main">
            <a:off x="762000" y="5038725"/>
            <a:ext cx="10620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0">
                <a:solidFill>
                  <a:srgbClr val="30343B"/>
                </a:solidFill>
                <a:latin typeface="Helvetica Neue"/>
                <a:ea typeface="Helvetica Neue"/>
                <a:cs typeface="Helvetica Neue"/>
              </a:defRPr>
            </a:pPr>
            <a:r>
              <a:rPr sz="2025" b="0">
                <a:solidFill>
                  <a:srgbClr val="30343B"/>
                </a:solidFill>
                <a:latin typeface="Helvetica Neue"/>
                <a:ea typeface="Helvetica Neue"/>
                <a:cs typeface="Helvetica Neue"/>
              </a:rPr>
              <a:t>MCP (Model Context Protocol) lets other tools access the same project knowledge.</a:t>
            </a:r>
          </a:p>
        </p:txBody>
      </p:sp>
      <p:sp>
        <p:nvSpPr>
          <p:cNvPr id="5" name="text">
            <a:extLst xmlns:a="http://schemas.openxmlformats.org/drawingml/2006/main">
              <a:ext uri="{FF2B5EF4-FFF2-40B4-BE49-F238E27FC236}">
                <a16:creationId xmlns:a16="http://schemas.microsoft.com/office/drawing/2014/main" id="{74FC3359-AA57-4728-BCD0-79F4FF985E6A}"/>
              </a:ext>
            </a:extLst>
          </p:cNvPr>
          <p:cNvSpPr>
            <a:spLocks xmlns:a="http://schemas.openxmlformats.org/drawingml/2006/main" noGrp="1"/>
          </p:cNvSpPr>
          <p:nvPr/>
        </p:nvSpPr>
        <p:spPr>
          <a:xfrm xmlns:a="http://schemas.openxmlformats.org/drawingml/2006/main">
            <a:off x="762000" y="6038850"/>
            <a:ext cx="10382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725" b="0">
                <a:solidFill>
                  <a:srgbClr val="626970"/>
                </a:solidFill>
                <a:latin typeface="Helvetica Neue"/>
                <a:ea typeface="Helvetica Neue"/>
                <a:cs typeface="Helvetica Neue"/>
              </a:defRPr>
            </a:pPr>
            <a:r>
              <a:rPr sz="1725" b="0">
                <a:solidFill>
                  <a:srgbClr val="626970"/>
                </a:solidFill>
                <a:latin typeface="Helvetica Neue"/>
                <a:ea typeface="Helvetica Neue"/>
                <a:cs typeface="Helvetica Neue"/>
              </a:rPr>
              <a:t>Current retrieval uses keyword ranking and adds up to 1,500 context tokens per model call.</a:t>
            </a:r>
          </a:p>
        </p:txBody>
      </p:sp>
    </p:spTree>
    <p:extLst>
      <p:ext uri="{BB962C8B-B14F-4D97-AF65-F5344CB8AC3E}">
        <p14:creationId xmlns:p14="http://schemas.microsoft.com/office/powerpoint/2010/main" val="177171692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72CBA1A4-FE0D-4ACB-9870-9974F39B9A1B}"/>
              </a:ext>
            </a:extLst>
          </p:cNvPr>
          <p:cNvSpPr>
            <a:spLocks xmlns:a="http://schemas.openxmlformats.org/drawingml/2006/main" noGrp="1"/>
          </p:cNvSpPr>
          <p:nvPr/>
        </p:nvSpPr>
        <p:spPr>
          <a:xfrm xmlns:a="http://schemas.openxmlformats.org/drawingml/2006/main">
            <a:off x="762000" y="5429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150" b="1">
                <a:solidFill>
                  <a:srgbClr val="334A68"/>
                </a:solidFill>
                <a:latin typeface="Helvetica Neue"/>
                <a:ea typeface="Helvetica Neue"/>
                <a:cs typeface="Helvetica Neue"/>
              </a:defRPr>
            </a:pPr>
            <a:r>
              <a:rPr sz="3150" b="1">
                <a:solidFill>
                  <a:srgbClr val="334A68"/>
                </a:solidFill>
                <a:latin typeface="Helvetica Neue"/>
                <a:ea typeface="Helvetica Neue"/>
                <a:cs typeface="Helvetica Neue"/>
              </a:rPr>
              <a:t>How knowledge builds up during a project</a:t>
            </a:r>
          </a:p>
        </p:txBody>
      </p:sp>
      <p:sp>
        <p:nvSpPr>
          <p:cNvPr id="2" name="page-number">
            <a:extLst xmlns:a="http://schemas.openxmlformats.org/drawingml/2006/main">
              <a:ext uri="{FF2B5EF4-FFF2-40B4-BE49-F238E27FC236}">
                <a16:creationId xmlns:a16="http://schemas.microsoft.com/office/drawing/2014/main" id="{4CA2D094-CE33-4074-99BF-05DC52300255}"/>
              </a:ext>
            </a:extLst>
          </p:cNvPr>
          <p:cNvSpPr>
            <a:spLocks xmlns:a="http://schemas.openxmlformats.org/drawingml/2006/main" noGrp="1"/>
          </p:cNvSpPr>
          <p:nvPr/>
        </p:nvSpPr>
        <p:spPr>
          <a:xfrm xmlns:a="http://schemas.openxmlformats.org/drawingml/2006/main">
            <a:off x="11163300" y="63817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350" b="0">
                <a:solidFill>
                  <a:srgbClr val="626970"/>
                </a:solidFill>
                <a:latin typeface="Helvetica Neue"/>
                <a:ea typeface="Helvetica Neue"/>
                <a:cs typeface="Helvetica Neue"/>
              </a:defRPr>
            </a:pPr>
            <a:r>
              <a:rPr sz="1350" b="0">
                <a:solidFill>
                  <a:srgbClr val="626970"/>
                </a:solidFill>
                <a:latin typeface="Helvetica Neue"/>
                <a:ea typeface="Helvetica Neue"/>
                <a:cs typeface="Helvetica Neue"/>
              </a:rPr>
              <a:t>4</a:t>
            </a:r>
          </a:p>
        </p:txBody>
      </p:sp>
      <p:sp>
        <p:nvSpPr>
          <p:cNvPr id="3" name="text">
            <a:extLst xmlns:a="http://schemas.openxmlformats.org/drawingml/2006/main">
              <a:ext uri="{FF2B5EF4-FFF2-40B4-BE49-F238E27FC236}">
                <a16:creationId xmlns:a16="http://schemas.microsoft.com/office/drawing/2014/main" id="{0828FE44-4B0A-4B78-B380-9B0A77ED4452}"/>
              </a:ext>
            </a:extLst>
          </p:cNvPr>
          <p:cNvSpPr>
            <a:spLocks xmlns:a="http://schemas.openxmlformats.org/drawingml/2006/main" noGrp="1"/>
          </p:cNvSpPr>
          <p:nvPr/>
        </p:nvSpPr>
        <p:spPr>
          <a:xfrm xmlns:a="http://schemas.openxmlformats.org/drawingml/2006/main">
            <a:off x="762000" y="1409700"/>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626970"/>
                </a:solidFill>
                <a:latin typeface="Helvetica Neue"/>
                <a:ea typeface="Helvetica Neue"/>
                <a:cs typeface="Helvetica Neue"/>
              </a:defRPr>
            </a:pPr>
            <a:r>
              <a:rPr sz="2100" b="0">
                <a:solidFill>
                  <a:srgbClr val="626970"/>
                </a:solidFill>
                <a:latin typeface="Helvetica Neue"/>
                <a:ea typeface="Helvetica Neue"/>
                <a:cs typeface="Helvetica Neue"/>
              </a:rPr>
              <a:t>Example: exploring a sampling strategy</a:t>
            </a:r>
          </a:p>
        </p:txBody>
      </p:sp>
      <p:sp>
        <p:nvSpPr>
          <p:cNvPr id="4" name="text">
            <a:extLst xmlns:a="http://schemas.openxmlformats.org/drawingml/2006/main">
              <a:ext uri="{FF2B5EF4-FFF2-40B4-BE49-F238E27FC236}">
                <a16:creationId xmlns:a16="http://schemas.microsoft.com/office/drawing/2014/main" id="{98DB4437-DFDE-4992-AA6A-4D282697A9ED}"/>
              </a:ext>
            </a:extLst>
          </p:cNvPr>
          <p:cNvSpPr>
            <a:spLocks xmlns:a="http://schemas.openxmlformats.org/drawingml/2006/main" noGrp="1"/>
          </p:cNvSpPr>
          <p:nvPr/>
        </p:nvSpPr>
        <p:spPr>
          <a:xfrm xmlns:a="http://schemas.openxmlformats.org/drawingml/2006/main">
            <a:off x="762000" y="2314575"/>
            <a:ext cx="29146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1">
                <a:solidFill>
                  <a:srgbClr val="30343B"/>
                </a:solidFill>
                <a:latin typeface="Helvetica Neue"/>
                <a:ea typeface="Helvetica Neue"/>
                <a:cs typeface="Helvetica Neue"/>
              </a:defRPr>
            </a:pPr>
            <a:r>
              <a:rPr sz="2175" b="1">
                <a:solidFill>
                  <a:srgbClr val="30343B"/>
                </a:solidFill>
                <a:latin typeface="Helvetica Neue"/>
                <a:ea typeface="Helvetica Neue"/>
                <a:cs typeface="Helvetica Neue"/>
              </a:rPr>
              <a:t>Initial question</a:t>
            </a:r>
          </a:p>
        </p:txBody>
      </p:sp>
      <p:sp>
        <p:nvSpPr>
          <p:cNvPr id="5" name="text">
            <a:extLst xmlns:a="http://schemas.openxmlformats.org/drawingml/2006/main">
              <a:ext uri="{FF2B5EF4-FFF2-40B4-BE49-F238E27FC236}">
                <a16:creationId xmlns:a16="http://schemas.microsoft.com/office/drawing/2014/main" id="{B96FD787-C105-4B27-B88C-D1BB76EA8F63}"/>
              </a:ext>
            </a:extLst>
          </p:cNvPr>
          <p:cNvSpPr>
            <a:spLocks xmlns:a="http://schemas.openxmlformats.org/drawingml/2006/main" noGrp="1"/>
          </p:cNvSpPr>
          <p:nvPr/>
        </p:nvSpPr>
        <p:spPr>
          <a:xfrm xmlns:a="http://schemas.openxmlformats.org/drawingml/2006/main">
            <a:off x="4010025" y="2314575"/>
            <a:ext cx="74199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30343B"/>
                </a:solidFill>
                <a:latin typeface="Helvetica Neue"/>
                <a:ea typeface="Helvetica Neue"/>
                <a:cs typeface="Helvetica Neue"/>
              </a:defRPr>
            </a:pPr>
            <a:r>
              <a:rPr sz="2100" b="0">
                <a:solidFill>
                  <a:srgbClr val="30343B"/>
                </a:solidFill>
                <a:latin typeface="Helvetica Neue"/>
                <a:ea typeface="Helvetica Neue"/>
                <a:cs typeface="Helvetica Neue"/>
              </a:rPr>
              <a:t>Save the sampling goal, constraints and baseline.</a:t>
            </a:r>
          </a:p>
        </p:txBody>
      </p:sp>
      <p:sp>
        <p:nvSpPr>
          <p:cNvPr id="6" name="text">
            <a:extLst xmlns:a="http://schemas.openxmlformats.org/drawingml/2006/main">
              <a:ext uri="{FF2B5EF4-FFF2-40B4-BE49-F238E27FC236}">
                <a16:creationId xmlns:a16="http://schemas.microsoft.com/office/drawing/2014/main" id="{619694EC-A571-435B-A11B-01944CF6ED59}"/>
              </a:ext>
            </a:extLst>
          </p:cNvPr>
          <p:cNvSpPr>
            <a:spLocks xmlns:a="http://schemas.openxmlformats.org/drawingml/2006/main" noGrp="1"/>
          </p:cNvSpPr>
          <p:nvPr/>
        </p:nvSpPr>
        <p:spPr>
          <a:xfrm xmlns:a="http://schemas.openxmlformats.org/drawingml/2006/main">
            <a:off x="762000" y="3314700"/>
            <a:ext cx="29146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1">
                <a:solidFill>
                  <a:srgbClr val="30343B"/>
                </a:solidFill>
                <a:latin typeface="Helvetica Neue"/>
                <a:ea typeface="Helvetica Neue"/>
                <a:cs typeface="Helvetica Neue"/>
              </a:defRPr>
            </a:pPr>
            <a:r>
              <a:rPr sz="2175" b="1">
                <a:solidFill>
                  <a:srgbClr val="30343B"/>
                </a:solidFill>
                <a:latin typeface="Helvetica Neue"/>
                <a:ea typeface="Helvetica Neue"/>
                <a:cs typeface="Helvetica Neue"/>
              </a:rPr>
              <a:t>Draft and review</a:t>
            </a:r>
          </a:p>
        </p:txBody>
      </p:sp>
      <p:sp>
        <p:nvSpPr>
          <p:cNvPr id="7" name="text">
            <a:extLst xmlns:a="http://schemas.openxmlformats.org/drawingml/2006/main">
              <a:ext uri="{FF2B5EF4-FFF2-40B4-BE49-F238E27FC236}">
                <a16:creationId xmlns:a16="http://schemas.microsoft.com/office/drawing/2014/main" id="{34055C87-81DA-4CFC-A0BF-19D74645204C}"/>
              </a:ext>
            </a:extLst>
          </p:cNvPr>
          <p:cNvSpPr>
            <a:spLocks xmlns:a="http://schemas.openxmlformats.org/drawingml/2006/main" noGrp="1"/>
          </p:cNvSpPr>
          <p:nvPr/>
        </p:nvSpPr>
        <p:spPr>
          <a:xfrm xmlns:a="http://schemas.openxmlformats.org/drawingml/2006/main">
            <a:off x="4010025" y="3314700"/>
            <a:ext cx="74199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30343B"/>
                </a:solidFill>
                <a:latin typeface="Helvetica Neue"/>
                <a:ea typeface="Helvetica Neue"/>
                <a:cs typeface="Helvetica Neue"/>
              </a:defRPr>
            </a:pPr>
            <a:r>
              <a:rPr sz="2100" b="0">
                <a:solidFill>
                  <a:srgbClr val="30343B"/>
                </a:solidFill>
                <a:latin typeface="Helvetica Neue"/>
                <a:ea typeface="Helvetica Neue"/>
                <a:cs typeface="Helvetica Neue"/>
              </a:rPr>
              <a:t>Keep the proposed method and feedback from other agents.</a:t>
            </a:r>
          </a:p>
        </p:txBody>
      </p:sp>
      <p:sp>
        <p:nvSpPr>
          <p:cNvPr id="8" name="text">
            <a:extLst xmlns:a="http://schemas.openxmlformats.org/drawingml/2006/main">
              <a:ext uri="{FF2B5EF4-FFF2-40B4-BE49-F238E27FC236}">
                <a16:creationId xmlns:a16="http://schemas.microsoft.com/office/drawing/2014/main" id="{2F234C5A-50EE-4709-8901-EDB02049B999}"/>
              </a:ext>
            </a:extLst>
          </p:cNvPr>
          <p:cNvSpPr>
            <a:spLocks xmlns:a="http://schemas.openxmlformats.org/drawingml/2006/main" noGrp="1"/>
          </p:cNvSpPr>
          <p:nvPr/>
        </p:nvSpPr>
        <p:spPr>
          <a:xfrm xmlns:a="http://schemas.openxmlformats.org/drawingml/2006/main">
            <a:off x="762000" y="4314825"/>
            <a:ext cx="29146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1">
                <a:solidFill>
                  <a:srgbClr val="30343B"/>
                </a:solidFill>
                <a:latin typeface="Helvetica Neue"/>
                <a:ea typeface="Helvetica Neue"/>
                <a:cs typeface="Helvetica Neue"/>
              </a:defRPr>
            </a:pPr>
            <a:r>
              <a:rPr sz="2175" b="1">
                <a:solidFill>
                  <a:srgbClr val="30343B"/>
                </a:solidFill>
                <a:latin typeface="Helvetica Neue"/>
                <a:ea typeface="Helvetica Neue"/>
                <a:cs typeface="Helvetica Neue"/>
              </a:rPr>
              <a:t>Follow-up work</a:t>
            </a:r>
          </a:p>
        </p:txBody>
      </p:sp>
      <p:sp>
        <p:nvSpPr>
          <p:cNvPr id="9" name="text">
            <a:extLst xmlns:a="http://schemas.openxmlformats.org/drawingml/2006/main">
              <a:ext uri="{FF2B5EF4-FFF2-40B4-BE49-F238E27FC236}">
                <a16:creationId xmlns:a16="http://schemas.microsoft.com/office/drawing/2014/main" id="{8D07308F-8A26-47F5-A9E0-1C14E5878F0B}"/>
              </a:ext>
            </a:extLst>
          </p:cNvPr>
          <p:cNvSpPr>
            <a:spLocks xmlns:a="http://schemas.openxmlformats.org/drawingml/2006/main" noGrp="1"/>
          </p:cNvSpPr>
          <p:nvPr/>
        </p:nvSpPr>
        <p:spPr>
          <a:xfrm xmlns:a="http://schemas.openxmlformats.org/drawingml/2006/main">
            <a:off x="4010025" y="4314825"/>
            <a:ext cx="74199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30343B"/>
                </a:solidFill>
                <a:latin typeface="Helvetica Neue"/>
                <a:ea typeface="Helvetica Neue"/>
                <a:cs typeface="Helvetica Neue"/>
              </a:defRPr>
            </a:pPr>
            <a:r>
              <a:rPr sz="2100" b="0">
                <a:solidFill>
                  <a:srgbClr val="30343B"/>
                </a:solidFill>
                <a:latin typeface="Helvetica Neue"/>
                <a:ea typeface="Helvetica Neue"/>
                <a:cs typeface="Helvetica Neue"/>
              </a:rPr>
              <a:t>Reuse those records when revising the method or asking a new question.</a:t>
            </a:r>
          </a:p>
        </p:txBody>
      </p:sp>
      <p:sp>
        <p:nvSpPr>
          <p:cNvPr id="10" name="text">
            <a:extLst xmlns:a="http://schemas.openxmlformats.org/drawingml/2006/main">
              <a:ext uri="{FF2B5EF4-FFF2-40B4-BE49-F238E27FC236}">
                <a16:creationId xmlns:a16="http://schemas.microsoft.com/office/drawing/2014/main" id="{FFD111B2-4359-4F60-B4DA-E21165E20A2E}"/>
              </a:ext>
            </a:extLst>
          </p:cNvPr>
          <p:cNvSpPr>
            <a:spLocks xmlns:a="http://schemas.openxmlformats.org/drawingml/2006/main" noGrp="1"/>
          </p:cNvSpPr>
          <p:nvPr/>
        </p:nvSpPr>
        <p:spPr>
          <a:xfrm xmlns:a="http://schemas.openxmlformats.org/drawingml/2006/main">
            <a:off x="762000" y="557212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0">
                <a:solidFill>
                  <a:srgbClr val="334A68"/>
                </a:solidFill>
                <a:latin typeface="Helvetica Neue"/>
                <a:ea typeface="Helvetica Neue"/>
                <a:cs typeface="Helvetica Neue"/>
              </a:defRPr>
            </a:pPr>
            <a:r>
              <a:rPr sz="2025" b="0">
                <a:solidFill>
                  <a:srgbClr val="334A68"/>
                </a:solidFill>
                <a:latin typeface="Helvetica Neue"/>
                <a:ea typeface="Helvetica Neue"/>
                <a:cs typeface="Helvetica Neue"/>
              </a:rPr>
              <a:t>Saved outputs remain searchable through the project’s MCP connection.</a:t>
            </a:r>
          </a:p>
        </p:txBody>
      </p:sp>
      <p:sp>
        <p:nvSpPr>
          <p:cNvPr id="11" name="text">
            <a:extLst xmlns:a="http://schemas.openxmlformats.org/drawingml/2006/main">
              <a:ext uri="{FF2B5EF4-FFF2-40B4-BE49-F238E27FC236}">
                <a16:creationId xmlns:a16="http://schemas.microsoft.com/office/drawing/2014/main" id="{54CFBC4D-8BC7-41A8-99D4-E6A392821E7C}"/>
              </a:ext>
            </a:extLst>
          </p:cNvPr>
          <p:cNvSpPr>
            <a:spLocks xmlns:a="http://schemas.openxmlformats.org/drawingml/2006/main" noGrp="1"/>
          </p:cNvSpPr>
          <p:nvPr/>
        </p:nvSpPr>
        <p:spPr>
          <a:xfrm xmlns:a="http://schemas.openxmlformats.org/drawingml/2006/main">
            <a:off x="762000" y="6315075"/>
            <a:ext cx="1019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75" b="0">
                <a:solidFill>
                  <a:srgbClr val="626970"/>
                </a:solidFill>
                <a:latin typeface="Helvetica Neue"/>
                <a:ea typeface="Helvetica Neue"/>
                <a:cs typeface="Helvetica Neue"/>
              </a:defRPr>
            </a:pPr>
            <a:r>
              <a:rPr sz="1575" b="0">
                <a:solidFill>
                  <a:srgbClr val="626970"/>
                </a:solidFill>
                <a:latin typeface="Helvetica Neue"/>
                <a:ea typeface="Helvetica Neue"/>
                <a:cs typeface="Helvetica Neue"/>
              </a:rPr>
              <a:t>Generated work still needs researcher review and experimental validation.</a:t>
            </a:r>
          </a:p>
        </p:txBody>
      </p:sp>
    </p:spTree>
    <p:extLst>
      <p:ext uri="{BB962C8B-B14F-4D97-AF65-F5344CB8AC3E}">
        <p14:creationId xmlns:p14="http://schemas.microsoft.com/office/powerpoint/2010/main" val="122844421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AB8F580F-63D7-4411-A41C-56059EF6B9D4}"/>
              </a:ext>
            </a:extLst>
          </p:cNvPr>
          <p:cNvSpPr>
            <a:spLocks xmlns:a="http://schemas.openxmlformats.org/drawingml/2006/main" noGrp="1"/>
          </p:cNvSpPr>
          <p:nvPr/>
        </p:nvSpPr>
        <p:spPr>
          <a:xfrm xmlns:a="http://schemas.openxmlformats.org/drawingml/2006/main">
            <a:off x="762000" y="5429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150" b="1">
                <a:solidFill>
                  <a:srgbClr val="334A68"/>
                </a:solidFill>
                <a:latin typeface="Helvetica Neue"/>
                <a:ea typeface="Helvetica Neue"/>
                <a:cs typeface="Helvetica Neue"/>
              </a:defRPr>
            </a:pPr>
            <a:r>
              <a:rPr sz="3150" b="1">
                <a:solidFill>
                  <a:srgbClr val="334A68"/>
                </a:solidFill>
                <a:latin typeface="Helvetica Neue"/>
                <a:ea typeface="Helvetica Neue"/>
                <a:cs typeface="Helvetica Neue"/>
              </a:rPr>
              <a:t>Related tools and the project’s focus</a:t>
            </a:r>
          </a:p>
        </p:txBody>
      </p:sp>
      <p:sp>
        <p:nvSpPr>
          <p:cNvPr id="2" name="page-number">
            <a:extLst xmlns:a="http://schemas.openxmlformats.org/drawingml/2006/main">
              <a:ext uri="{FF2B5EF4-FFF2-40B4-BE49-F238E27FC236}">
                <a16:creationId xmlns:a16="http://schemas.microsoft.com/office/drawing/2014/main" id="{3573A943-E540-403C-BC12-F34B0FDAA785}"/>
              </a:ext>
            </a:extLst>
          </p:cNvPr>
          <p:cNvSpPr>
            <a:spLocks xmlns:a="http://schemas.openxmlformats.org/drawingml/2006/main" noGrp="1"/>
          </p:cNvSpPr>
          <p:nvPr/>
        </p:nvSpPr>
        <p:spPr>
          <a:xfrm xmlns:a="http://schemas.openxmlformats.org/drawingml/2006/main">
            <a:off x="11163300" y="63817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350" b="0">
                <a:solidFill>
                  <a:srgbClr val="626970"/>
                </a:solidFill>
                <a:latin typeface="Helvetica Neue"/>
                <a:ea typeface="Helvetica Neue"/>
                <a:cs typeface="Helvetica Neue"/>
              </a:defRPr>
            </a:pPr>
            <a:r>
              <a:rPr sz="1350" b="0">
                <a:solidFill>
                  <a:srgbClr val="626970"/>
                </a:solidFill>
                <a:latin typeface="Helvetica Neue"/>
                <a:ea typeface="Helvetica Neue"/>
                <a:cs typeface="Helvetica Neue"/>
              </a:rPr>
              <a:t>5</a:t>
            </a:r>
          </a:p>
        </p:txBody>
      </p:sp>
      <p:graphicFrame>
        <p:nvGraphicFramePr>
          <p:cNvPr id="10" name=""/>
          <p:cNvGraphicFramePr/>
          <p:nvPr/>
        </p:nvGraphicFramePr>
        <p:xfrm>
          <a:off xmlns:a="http://schemas.openxmlformats.org/drawingml/2006/main" x="762000" y="1752600"/>
          <a:ext xmlns:a="http://schemas.openxmlformats.org/drawingml/2006/main" cx="10668000" cy="2867025"/>
        </p:xfrm>
        <a:graphic xmlns:a="http://schemas.openxmlformats.org/drawingml/2006/main">
          <a:graphicData uri="http://schemas.openxmlformats.org/drawingml/2006/table">
            <a:tbl>
              <a:tblPr firstRow="0" bandRow="0"/>
              <a:tblGrid>
                <a:gridCol w="2190750"/>
                <a:gridCol w="8477250"/>
              </a:tblGrid>
              <a:tr h="716756">
                <a:tc>
                  <a:txBody>
                    <a:bodyPr lIns="152400" tIns="114300" rIns="152400" bIns="114300">
                      <a:noAutofit/>
                    </a:bodyPr>
                    <a:lstStyle/>
                    <a:p>
                      <a:r>
                        <a:rPr sz="1800" b="1">
                          <a:solidFill>
                            <a:srgbClr val="30343B"/>
                          </a:solidFill>
                          <a:latin typeface="Helvetica Neue"/>
                          <a:ea typeface="Helvetica Neue"/>
                          <a:cs typeface="Helvetica Neue"/>
                        </a:rPr>
                        <a:t>Tool</a:t>
                      </a:r>
                    </a:p>
                  </a:txBody>
                  <a:tcPr marL="91440" marR="91440" marT="45720" marB="45720" anchor="ctr">
                    <a:solidFill>
                      <a:srgbClr val="F0F2F4"/>
                    </a:solidFill>
                  </a:tcPr>
                </a:tc>
                <a:tc>
                  <a:txBody>
                    <a:bodyPr lIns="152400" tIns="114300" rIns="152400" bIns="114300">
                      <a:noAutofit/>
                    </a:bodyPr>
                    <a:lstStyle/>
                    <a:p>
                      <a:r>
                        <a:rPr sz="1800" b="1">
                          <a:solidFill>
                            <a:srgbClr val="30343B"/>
                          </a:solidFill>
                          <a:latin typeface="Helvetica Neue"/>
                          <a:ea typeface="Helvetica Neue"/>
                          <a:cs typeface="Helvetica Neue"/>
                        </a:rPr>
                        <a:t>Typical focus in its documentation</a:t>
                      </a:r>
                    </a:p>
                  </a:txBody>
                  <a:tcPr marL="91440" marR="91440" marT="45720" marB="45720" anchor="ctr">
                    <a:solidFill>
                      <a:srgbClr val="F0F2F4"/>
                    </a:solidFill>
                  </a:tcPr>
                </a:tc>
              </a:tr>
              <a:tr h="716756">
                <a:tc>
                  <a:txBody>
                    <a:bodyPr lIns="152400" tIns="114300" rIns="152400" bIns="114300">
                      <a:noAutofit/>
                    </a:bodyPr>
                    <a:lstStyle/>
                    <a:p>
                      <a:r>
                        <a:rPr sz="1875" b="0">
                          <a:solidFill>
                            <a:srgbClr val="30343B"/>
                          </a:solidFill>
                          <a:latin typeface="Helvetica Neue"/>
                          <a:ea typeface="Helvetica Neue"/>
                          <a:cs typeface="Helvetica Neue"/>
                        </a:rPr>
                        <a:t>Dust</a:t>
                      </a:r>
                    </a:p>
                  </a:txBody>
                  <a:tcPr marL="91440" marR="91440" marT="45720" marB="45720" anchor="ctr">
                    <a:solidFill>
                      <a:srgbClr val="FFFFFF"/>
                    </a:solidFill>
                  </a:tcPr>
                </a:tc>
                <a:tc>
                  <a:txBody>
                    <a:bodyPr lIns="152400" tIns="114300" rIns="152400" bIns="114300">
                      <a:noAutofit/>
                    </a:bodyPr>
                    <a:lstStyle/>
                    <a:p>
                      <a:r>
                        <a:rPr sz="1875" b="0">
                          <a:solidFill>
                            <a:srgbClr val="30343B"/>
                          </a:solidFill>
                          <a:latin typeface="Helvetica Neue"/>
                          <a:ea typeface="Helvetica Neue"/>
                          <a:cs typeface="Helvetica Neue"/>
                        </a:rPr>
                        <a:t>Shared company knowledge and collaborative agents</a:t>
                      </a:r>
                    </a:p>
                  </a:txBody>
                  <a:tcPr marL="91440" marR="91440" marT="45720" marB="45720" anchor="ctr">
                    <a:solidFill>
                      <a:srgbClr val="FFFFFF"/>
                    </a:solidFill>
                  </a:tcPr>
                </a:tc>
              </a:tr>
              <a:tr h="716756">
                <a:tc>
                  <a:txBody>
                    <a:bodyPr lIns="152400" tIns="114300" rIns="152400" bIns="114300">
                      <a:noAutofit/>
                    </a:bodyPr>
                    <a:lstStyle/>
                    <a:p>
                      <a:r>
                        <a:rPr sz="1875" b="0">
                          <a:solidFill>
                            <a:srgbClr val="30343B"/>
                          </a:solidFill>
                          <a:latin typeface="Helvetica Neue"/>
                          <a:ea typeface="Helvetica Neue"/>
                          <a:cs typeface="Helvetica Neue"/>
                        </a:rPr>
                        <a:t>Agno / AgentOS</a:t>
                      </a:r>
                    </a:p>
                  </a:txBody>
                  <a:tcPr marL="91440" marR="91440" marT="45720" marB="45720" anchor="ctr">
                    <a:solidFill>
                      <a:srgbClr val="FFFFFF"/>
                    </a:solidFill>
                  </a:tcPr>
                </a:tc>
                <a:tc>
                  <a:txBody>
                    <a:bodyPr lIns="152400" tIns="114300" rIns="152400" bIns="114300">
                      <a:noAutofit/>
                    </a:bodyPr>
                    <a:lstStyle/>
                    <a:p>
                      <a:r>
                        <a:rPr sz="1875" b="0">
                          <a:solidFill>
                            <a:srgbClr val="30343B"/>
                          </a:solidFill>
                          <a:latin typeface="Helvetica Neue"/>
                          <a:ea typeface="Helvetica Neue"/>
                          <a:cs typeface="Helvetica Neue"/>
                        </a:rPr>
                        <a:t>Agent orchestration, runtime and MCP services</a:t>
                      </a:r>
                    </a:p>
                  </a:txBody>
                  <a:tcPr marL="91440" marR="91440" marT="45720" marB="45720" anchor="ctr">
                    <a:solidFill>
                      <a:srgbClr val="FFFFFF"/>
                    </a:solidFill>
                  </a:tcPr>
                </a:tc>
              </a:tr>
              <a:tr h="716756">
                <a:tc>
                  <a:txBody>
                    <a:bodyPr lIns="152400" tIns="114300" rIns="152400" bIns="114300">
                      <a:noAutofit/>
                    </a:bodyPr>
                    <a:lstStyle/>
                    <a:p>
                      <a:r>
                        <a:rPr sz="1875" b="0">
                          <a:solidFill>
                            <a:srgbClr val="30343B"/>
                          </a:solidFill>
                          <a:latin typeface="Helvetica Neue"/>
                          <a:ea typeface="Helvetica Neue"/>
                          <a:cs typeface="Helvetica Neue"/>
                        </a:rPr>
                        <a:t>Dify</a:t>
                      </a:r>
                    </a:p>
                  </a:txBody>
                  <a:tcPr marL="91440" marR="91440" marT="45720" marB="45720" anchor="ctr">
                    <a:solidFill>
                      <a:srgbClr val="FFFFFF"/>
                    </a:solidFill>
                  </a:tcPr>
                </a:tc>
                <a:tc>
                  <a:txBody>
                    <a:bodyPr lIns="152400" tIns="114300" rIns="152400" bIns="114300">
                      <a:noAutofit/>
                    </a:bodyPr>
                    <a:lstStyle/>
                    <a:p>
                      <a:r>
                        <a:rPr sz="1875" b="0">
                          <a:solidFill>
                            <a:srgbClr val="30343B"/>
                          </a:solidFill>
                          <a:latin typeface="Helvetica Neue"/>
                          <a:ea typeface="Helvetica Neue"/>
                          <a:cs typeface="Helvetica Neue"/>
                        </a:rPr>
                        <a:t>Visual AI workflows with knowledge retrieval and tools</a:t>
                      </a:r>
                    </a:p>
                  </a:txBody>
                  <a:tcPr marL="91440" marR="91440" marT="45720" marB="45720" anchor="ctr">
                    <a:solidFill>
                      <a:srgbClr val="FFFFFF"/>
                    </a:solidFill>
                  </a:tcPr>
                </a:tc>
              </a:tr>
            </a:tbl>
          </a:graphicData>
        </a:graphic>
      </p:graphicFrame>
      <p:sp>
        <p:nvSpPr>
          <p:cNvPr id="4" name="text">
            <a:extLst xmlns:a="http://schemas.openxmlformats.org/drawingml/2006/main">
              <a:ext uri="{FF2B5EF4-FFF2-40B4-BE49-F238E27FC236}">
                <a16:creationId xmlns:a16="http://schemas.microsoft.com/office/drawing/2014/main" id="{A19C23DC-A8C7-49CF-A95F-C34EF80BC870}"/>
              </a:ext>
            </a:extLst>
          </p:cNvPr>
          <p:cNvSpPr>
            <a:spLocks xmlns:a="http://schemas.openxmlformats.org/drawingml/2006/main" noGrp="1"/>
          </p:cNvSpPr>
          <p:nvPr/>
        </p:nvSpPr>
        <p:spPr>
          <a:xfrm xmlns:a="http://schemas.openxmlformats.org/drawingml/2006/main">
            <a:off x="762000" y="5172075"/>
            <a:ext cx="105251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30343B"/>
                </a:solidFill>
                <a:latin typeface="Helvetica Neue"/>
                <a:ea typeface="Helvetica Neue"/>
                <a:cs typeface="Helvetica Neue"/>
              </a:defRPr>
            </a:pPr>
            <a:r>
              <a:rPr sz="2100" b="0">
                <a:solidFill>
                  <a:srgbClr val="30343B"/>
                </a:solidFill>
                <a:latin typeface="Helvetica Neue"/>
                <a:ea typeface="Helvetica Neue"/>
                <a:cs typeface="Helvetica Neue"/>
              </a:rPr>
              <a:t>The focus here is a continuing research project: shared context, versioned outputs and retrieval through MCP.</a:t>
            </a:r>
          </a:p>
        </p:txBody>
      </p:sp>
      <p:sp>
        <p:nvSpPr>
          <p:cNvPr id="5" name="text">
            <a:extLst xmlns:a="http://schemas.openxmlformats.org/drawingml/2006/main">
              <a:ext uri="{FF2B5EF4-FFF2-40B4-BE49-F238E27FC236}">
                <a16:creationId xmlns:a16="http://schemas.microsoft.com/office/drawing/2014/main" id="{676E0E45-3457-4738-BB9C-9E5546C90C5E}"/>
              </a:ext>
            </a:extLst>
          </p:cNvPr>
          <p:cNvSpPr>
            <a:spLocks xmlns:a="http://schemas.openxmlformats.org/drawingml/2006/main" noGrp="1"/>
          </p:cNvSpPr>
          <p:nvPr/>
        </p:nvSpPr>
        <p:spPr>
          <a:xfrm xmlns:a="http://schemas.openxmlformats.org/drawingml/2006/main">
            <a:off x="762000" y="6257925"/>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50" b="0">
                <a:solidFill>
                  <a:srgbClr val="626970"/>
                </a:solidFill>
                <a:latin typeface="Helvetica Neue"/>
                <a:ea typeface="Helvetica Neue"/>
                <a:cs typeface="Helvetica Neue"/>
              </a:defRPr>
            </a:pPr>
            <a:r>
              <a:rPr sz="1650" b="0">
                <a:solidFill>
                  <a:srgbClr val="626970"/>
                </a:solidFill>
                <a:latin typeface="Helvetica Neue"/>
                <a:ea typeface="Helvetica Neue"/>
                <a:cs typeface="Helvetica Neue"/>
              </a:rPr>
              <a:t>These capabilities overlap with existing tools. Comparative benefits need evaluation.</a:t>
            </a:r>
          </a:p>
        </p:txBody>
      </p:sp>
    </p:spTree>
    <p:extLst>
      <p:ext uri="{BB962C8B-B14F-4D97-AF65-F5344CB8AC3E}">
        <p14:creationId xmlns:p14="http://schemas.microsoft.com/office/powerpoint/2010/main" val="173831642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A99EBD95-B3BF-4AFC-96EE-5C2CD77729F1}"/>
              </a:ext>
            </a:extLst>
          </p:cNvPr>
          <p:cNvSpPr>
            <a:spLocks xmlns:a="http://schemas.openxmlformats.org/drawingml/2006/main" noGrp="1"/>
          </p:cNvSpPr>
          <p:nvPr/>
        </p:nvSpPr>
        <p:spPr>
          <a:xfrm xmlns:a="http://schemas.openxmlformats.org/drawingml/2006/main">
            <a:off x="762000" y="5429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150" b="1">
                <a:solidFill>
                  <a:srgbClr val="334A68"/>
                </a:solidFill>
                <a:latin typeface="Helvetica Neue"/>
                <a:ea typeface="Helvetica Neue"/>
                <a:cs typeface="Helvetica Neue"/>
              </a:defRPr>
            </a:pPr>
            <a:r>
              <a:rPr sz="3150" b="1">
                <a:solidFill>
                  <a:srgbClr val="334A68"/>
                </a:solidFill>
                <a:latin typeface="Helvetica Neue"/>
                <a:ea typeface="Helvetica Neue"/>
                <a:cs typeface="Helvetica Neue"/>
              </a:rPr>
              <a:t>Potential features in the workflow</a:t>
            </a:r>
          </a:p>
        </p:txBody>
      </p:sp>
      <p:sp>
        <p:nvSpPr>
          <p:cNvPr id="2" name="page-number">
            <a:extLst xmlns:a="http://schemas.openxmlformats.org/drawingml/2006/main">
              <a:ext uri="{FF2B5EF4-FFF2-40B4-BE49-F238E27FC236}">
                <a16:creationId xmlns:a16="http://schemas.microsoft.com/office/drawing/2014/main" id="{82D854C1-59BD-4F73-A5CC-68B8F332475B}"/>
              </a:ext>
            </a:extLst>
          </p:cNvPr>
          <p:cNvSpPr>
            <a:spLocks xmlns:a="http://schemas.openxmlformats.org/drawingml/2006/main" noGrp="1"/>
          </p:cNvSpPr>
          <p:nvPr/>
        </p:nvSpPr>
        <p:spPr>
          <a:xfrm xmlns:a="http://schemas.openxmlformats.org/drawingml/2006/main">
            <a:off x="11163300" y="63817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350" b="0">
                <a:solidFill>
                  <a:srgbClr val="626970"/>
                </a:solidFill>
                <a:latin typeface="Helvetica Neue"/>
                <a:ea typeface="Helvetica Neue"/>
                <a:cs typeface="Helvetica Neue"/>
              </a:defRPr>
            </a:pPr>
            <a:r>
              <a:rPr sz="1350" b="0">
                <a:solidFill>
                  <a:srgbClr val="626970"/>
                </a:solidFill>
                <a:latin typeface="Helvetica Neue"/>
                <a:ea typeface="Helvetica Neue"/>
                <a:cs typeface="Helvetica Neue"/>
              </a:rPr>
              <a:t>6</a:t>
            </a:r>
          </a:p>
        </p:txBody>
      </p:sp>
      <p:sp>
        <p:nvSpPr>
          <p:cNvPr id="3" name="text">
            <a:extLst xmlns:a="http://schemas.openxmlformats.org/drawingml/2006/main">
              <a:ext uri="{FF2B5EF4-FFF2-40B4-BE49-F238E27FC236}">
                <a16:creationId xmlns:a16="http://schemas.microsoft.com/office/drawing/2014/main" id="{AEF07DA4-EBA2-4B07-9747-C3FDF7882307}"/>
              </a:ext>
            </a:extLst>
          </p:cNvPr>
          <p:cNvSpPr>
            <a:spLocks xmlns:a="http://schemas.openxmlformats.org/drawingml/2006/main" noGrp="1"/>
          </p:cNvSpPr>
          <p:nvPr/>
        </p:nvSpPr>
        <p:spPr>
          <a:xfrm xmlns:a="http://schemas.openxmlformats.org/drawingml/2006/main">
            <a:off x="762000" y="1390650"/>
            <a:ext cx="10620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626970"/>
                </a:solidFill>
                <a:latin typeface="Helvetica Neue"/>
                <a:ea typeface="Helvetica Neue"/>
                <a:cs typeface="Helvetica Neue"/>
              </a:defRPr>
            </a:pPr>
            <a:r>
              <a:rPr sz="2100" b="0">
                <a:solidFill>
                  <a:srgbClr val="626970"/>
                </a:solidFill>
                <a:latin typeface="Helvetica Neue"/>
                <a:ea typeface="Helvetica Neue"/>
                <a:cs typeface="Helvetica Neue"/>
              </a:rPr>
              <a:t>Possible extensions to the current approach</a:t>
            </a:r>
          </a:p>
        </p:txBody>
      </p:sp>
      <p:sp>
        <p:nvSpPr>
          <p:cNvPr id="4" name="text">
            <a:extLst xmlns:a="http://schemas.openxmlformats.org/drawingml/2006/main">
              <a:ext uri="{FF2B5EF4-FFF2-40B4-BE49-F238E27FC236}">
                <a16:creationId xmlns:a16="http://schemas.microsoft.com/office/drawing/2014/main" id="{76F48983-339B-4E6C-B9D1-A62220D57C30}"/>
              </a:ext>
            </a:extLst>
          </p:cNvPr>
          <p:cNvSpPr>
            <a:spLocks xmlns:a="http://schemas.openxmlformats.org/drawingml/2006/main" noGrp="1"/>
          </p:cNvSpPr>
          <p:nvPr/>
        </p:nvSpPr>
        <p:spPr>
          <a:xfrm xmlns:a="http://schemas.openxmlformats.org/drawingml/2006/main">
            <a:off x="857250" y="2276475"/>
            <a:ext cx="1036320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54000" indent="-127000">
              <a:spcAft>
                <a:spcPts val="2000"/>
              </a:spcAft>
              <a:buChar char="•"/>
              <a:defRPr sz="2100" b="0">
                <a:solidFill>
                  <a:srgbClr val="30343B"/>
                </a:solidFill>
                <a:latin typeface="Helvetica Neue"/>
                <a:ea typeface="Helvetica Neue"/>
                <a:cs typeface="Helvetica Neue"/>
              </a:defRPr>
            </a:pPr>
            <a:r>
              <a:t>Semantic retrieval could find useful notes even when the wording changes.</a:t>
            </a:r>
          </a:p>
          <a:p xmlns:a="http://schemas.openxmlformats.org/drawingml/2006/main">
            <a:pPr marL="254000" indent="-127000">
              <a:spcAft>
                <a:spcPts val="2000"/>
              </a:spcAft>
              <a:buChar char="•"/>
              <a:defRPr sz="2100" b="0">
                <a:solidFill>
                  <a:srgbClr val="30343B"/>
                </a:solidFill>
                <a:latin typeface="Helvetica Neue"/>
                <a:ea typeface="Helvetica Neue"/>
                <a:cs typeface="Helvetica Neue"/>
              </a:defRPr>
            </a:pPr>
            <a:r>
              <a:t>Knowledge graphs could connect hypotheses and methods to supporting sources.</a:t>
            </a:r>
          </a:p>
          <a:p xmlns:a="http://schemas.openxmlformats.org/drawingml/2006/main">
            <a:pPr marL="254000" indent="-127000">
              <a:spcAft>
                <a:spcPts val="2000"/>
              </a:spcAft>
              <a:buChar char="•"/>
              <a:defRPr sz="2100" b="0">
                <a:solidFill>
                  <a:srgbClr val="30343B"/>
                </a:solidFill>
                <a:latin typeface="Helvetica Neue"/>
                <a:ea typeface="Helvetica Neue"/>
                <a:cs typeface="Helvetica Neue"/>
              </a:defRPr>
            </a:pPr>
            <a:r>
              <a:t>Controlled sharing could let collaborators reuse selected project knowledge.</a:t>
            </a:r>
          </a:p>
          <a:p xmlns:a="http://schemas.openxmlformats.org/drawingml/2006/main">
            <a:pPr marL="254000" indent="-127000">
              <a:spcAft>
                <a:spcPts val="2000"/>
              </a:spcAft>
              <a:buChar char="•"/>
              <a:defRPr sz="2100" b="0">
                <a:solidFill>
                  <a:srgbClr val="30343B"/>
                </a:solidFill>
                <a:latin typeface="Helvetica Neue"/>
                <a:ea typeface="Helvetica Neue"/>
                <a:cs typeface="Helvetica Neue"/>
              </a:defRPr>
            </a:pPr>
            <a:r>
              <a:t>Experiment records could link proposed ideas to data and validation results.</a:t>
            </a:r>
          </a:p>
        </p:txBody>
      </p:sp>
      <p:sp>
        <p:nvSpPr>
          <p:cNvPr id="5" name="text">
            <a:extLst xmlns:a="http://schemas.openxmlformats.org/drawingml/2006/main">
              <a:ext uri="{FF2B5EF4-FFF2-40B4-BE49-F238E27FC236}">
                <a16:creationId xmlns:a16="http://schemas.microsoft.com/office/drawing/2014/main" id="{A1A908B9-650F-4D0B-844C-3F24D454692E}"/>
              </a:ext>
            </a:extLst>
          </p:cNvPr>
          <p:cNvSpPr>
            <a:spLocks xmlns:a="http://schemas.openxmlformats.org/drawingml/2006/main" noGrp="1"/>
          </p:cNvSpPr>
          <p:nvPr/>
        </p:nvSpPr>
        <p:spPr>
          <a:xfrm xmlns:a="http://schemas.openxmlformats.org/drawingml/2006/main">
            <a:off x="762000" y="5838825"/>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950" b="0">
                <a:solidFill>
                  <a:srgbClr val="30343B"/>
                </a:solidFill>
                <a:latin typeface="Helvetica Neue"/>
                <a:ea typeface="Helvetica Neue"/>
                <a:cs typeface="Helvetica Neue"/>
              </a:defRPr>
            </a:pPr>
            <a:r>
              <a:rPr sz="1950" b="0">
                <a:solidFill>
                  <a:srgbClr val="30343B"/>
                </a:solidFill>
                <a:latin typeface="Helvetica Neue"/>
                <a:ea typeface="Helvetica Neue"/>
                <a:cs typeface="Helvetica Neue"/>
              </a:rPr>
              <a:t>Evaluation could compare retrieval accuracy, context setup time and token use.</a:t>
            </a:r>
          </a:p>
        </p:txBody>
      </p:sp>
    </p:spTree>
    <p:extLst>
      <p:ext uri="{BB962C8B-B14F-4D97-AF65-F5344CB8AC3E}">
        <p14:creationId xmlns:p14="http://schemas.microsoft.com/office/powerpoint/2010/main" val="57068700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slide-title">
            <a:extLst xmlns:a="http://schemas.openxmlformats.org/drawingml/2006/main">
              <a:ext uri="{FF2B5EF4-FFF2-40B4-BE49-F238E27FC236}">
                <a16:creationId xmlns:a16="http://schemas.microsoft.com/office/drawing/2014/main" id="{AB1471EF-09FE-45C3-926A-ED0D5B7809DD}"/>
              </a:ext>
            </a:extLst>
          </p:cNvPr>
          <p:cNvSpPr>
            <a:spLocks xmlns:a="http://schemas.openxmlformats.org/drawingml/2006/main" noGrp="1"/>
          </p:cNvSpPr>
          <p:nvPr/>
        </p:nvSpPr>
        <p:spPr>
          <a:xfrm xmlns:a="http://schemas.openxmlformats.org/drawingml/2006/main">
            <a:off x="762000" y="5429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334A68"/>
                </a:solidFill>
                <a:latin typeface="Helvetica Neue"/>
                <a:ea typeface="Helvetica Neue"/>
                <a:cs typeface="Helvetica Neue"/>
              </a:defRPr>
            </a:pPr>
            <a:r>
              <a:rPr sz="3150" b="1">
                <a:solidFill>
                  <a:srgbClr val="334A68"/>
                </a:solidFill>
                <a:latin typeface="Helvetica Neue"/>
                <a:ea typeface="Helvetica Neue"/>
                <a:cs typeface="Helvetica Neue"/>
              </a:rPr>
              <a:t>Appendix A. How models exchange work</a:t>
            </a:r>
          </a:p>
        </p:txBody>
      </p:sp>
      <p:sp>
        <p:nvSpPr>
          <p:cNvPr id="2" name="subtitle">
            <a:extLst xmlns:a="http://schemas.openxmlformats.org/drawingml/2006/main">
              <a:ext uri="{FF2B5EF4-FFF2-40B4-BE49-F238E27FC236}">
                <a16:creationId xmlns:a16="http://schemas.microsoft.com/office/drawing/2014/main" id="{C9CD14F6-7972-4BD8-8E5A-9E18642FFCBA}"/>
              </a:ext>
            </a:extLst>
          </p:cNvPr>
          <p:cNvSpPr>
            <a:spLocks xmlns:a="http://schemas.openxmlformats.org/drawingml/2006/main" noGrp="1"/>
          </p:cNvSpPr>
          <p:nvPr/>
        </p:nvSpPr>
        <p:spPr>
          <a:xfrm xmlns:a="http://schemas.openxmlformats.org/drawingml/2006/main">
            <a:off x="762000" y="13525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626970"/>
                </a:solidFill>
                <a:latin typeface="Helvetica Neue"/>
                <a:ea typeface="Helvetica Neue"/>
                <a:cs typeface="Helvetica Neue"/>
              </a:defRPr>
            </a:pPr>
            <a:r>
              <a:rPr sz="2025" b="0">
                <a:solidFill>
                  <a:srgbClr val="626970"/>
                </a:solidFill>
                <a:latin typeface="Helvetica Neue"/>
                <a:ea typeface="Helvetica Neue"/>
                <a:cs typeface="Helvetica Neue"/>
              </a:rPr>
              <a:t>The task runner coordinates every arrow in this diagram.</a:t>
            </a:r>
          </a:p>
        </p:txBody>
      </p:sp>
      <p:sp>
        <p:nvSpPr>
          <p:cNvPr id="3" name="page-number">
            <a:extLst xmlns:a="http://schemas.openxmlformats.org/drawingml/2006/main">
              <a:ext uri="{FF2B5EF4-FFF2-40B4-BE49-F238E27FC236}">
                <a16:creationId xmlns:a16="http://schemas.microsoft.com/office/drawing/2014/main" id="{50ED8662-482F-4566-B9B4-1F5A7F47F339}"/>
              </a:ext>
            </a:extLst>
          </p:cNvPr>
          <p:cNvSpPr>
            <a:spLocks xmlns:a="http://schemas.openxmlformats.org/drawingml/2006/main" noGrp="1"/>
          </p:cNvSpPr>
          <p:nvPr/>
        </p:nvSpPr>
        <p:spPr>
          <a:xfrm xmlns:a="http://schemas.openxmlformats.org/drawingml/2006/main">
            <a:off x="11163300" y="63817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626970"/>
                </a:solidFill>
                <a:latin typeface="Helvetica Neue"/>
                <a:ea typeface="Helvetica Neue"/>
                <a:cs typeface="Helvetica Neue"/>
              </a:defRPr>
            </a:pPr>
            <a:r>
              <a:rPr sz="1350" b="0">
                <a:solidFill>
                  <a:srgbClr val="626970"/>
                </a:solidFill>
                <a:latin typeface="Helvetica Neue"/>
                <a:ea typeface="Helvetica Neue"/>
                <a:cs typeface="Helvetica Neue"/>
              </a:rPr>
              <a:t>7</a:t>
            </a:r>
          </a:p>
        </p:txBody>
      </p:sp>
      <p:sp>
        <p:nvSpPr>
          <p:cNvPr id="4" name="request">
            <a:extLst xmlns:a="http://schemas.openxmlformats.org/drawingml/2006/main">
              <a:ext uri="{FF2B5EF4-FFF2-40B4-BE49-F238E27FC236}">
                <a16:creationId xmlns:a16="http://schemas.microsoft.com/office/drawing/2014/main" id="{41A81B92-E748-400C-AFFC-854EFCBB6ECA}"/>
              </a:ext>
            </a:extLst>
          </p:cNvPr>
          <p:cNvSpPr>
            <a:spLocks xmlns:a="http://schemas.openxmlformats.org/drawingml/2006/main" noGrp="1"/>
          </p:cNvSpPr>
          <p:nvPr/>
        </p:nvSpPr>
        <p:spPr>
          <a:xfrm xmlns:a="http://schemas.openxmlformats.org/drawingml/2006/main">
            <a:off x="762000" y="2133600"/>
            <a:ext cx="2667000" cy="1066800"/>
          </a:xfrm>
          <a:prstGeom xmlns:a="http://schemas.openxmlformats.org/drawingml/2006/main" prst="rect">
            <a:avLst/>
          </a:prstGeom>
          <a:solidFill xmlns:a="http://schemas.openxmlformats.org/drawingml/2006/main">
            <a:srgbClr val="F4F6F8"/>
          </a:solidFill>
          <a:ln xmlns:a="http://schemas.openxmlformats.org/drawingml/2006/main" w="11430">
            <a:solidFill>
              <a:srgbClr val="A7B0BB"/>
            </a:solidFill>
          </a:ln>
        </p:spPr>
      </p:sp>
      <p:sp>
        <p:nvSpPr>
          <p:cNvPr id="5" name="request-title">
            <a:extLst xmlns:a="http://schemas.openxmlformats.org/drawingml/2006/main">
              <a:ext uri="{FF2B5EF4-FFF2-40B4-BE49-F238E27FC236}">
                <a16:creationId xmlns:a16="http://schemas.microsoft.com/office/drawing/2014/main" id="{8F718B2C-85D7-461C-B582-06430FA4F6DF}"/>
              </a:ext>
            </a:extLst>
          </p:cNvPr>
          <p:cNvSpPr>
            <a:spLocks xmlns:a="http://schemas.openxmlformats.org/drawingml/2006/main" noGrp="1"/>
          </p:cNvSpPr>
          <p:nvPr/>
        </p:nvSpPr>
        <p:spPr>
          <a:xfrm xmlns:a="http://schemas.openxmlformats.org/drawingml/2006/main">
            <a:off x="914400" y="2257425"/>
            <a:ext cx="2362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30343B"/>
                </a:solidFill>
                <a:latin typeface="Helvetica Neue"/>
                <a:ea typeface="Helvetica Neue"/>
                <a:cs typeface="Helvetica Neue"/>
              </a:defRPr>
            </a:pPr>
            <a:r>
              <a:rPr sz="1950" b="1">
                <a:solidFill>
                  <a:srgbClr val="30343B"/>
                </a:solidFill>
                <a:latin typeface="Helvetica Neue"/>
                <a:ea typeface="Helvetica Neue"/>
                <a:cs typeface="Helvetica Neue"/>
              </a:rPr>
              <a:t>Current request</a:t>
            </a:r>
          </a:p>
        </p:txBody>
      </p:sp>
      <p:sp>
        <p:nvSpPr>
          <p:cNvPr id="6" name="request-body">
            <a:extLst xmlns:a="http://schemas.openxmlformats.org/drawingml/2006/main">
              <a:ext uri="{FF2B5EF4-FFF2-40B4-BE49-F238E27FC236}">
                <a16:creationId xmlns:a16="http://schemas.microsoft.com/office/drawing/2014/main" id="{FAA761B8-647D-48F9-8B92-9A3A1F0A4DD5}"/>
              </a:ext>
            </a:extLst>
          </p:cNvPr>
          <p:cNvSpPr>
            <a:spLocks xmlns:a="http://schemas.openxmlformats.org/drawingml/2006/main" noGrp="1"/>
          </p:cNvSpPr>
          <p:nvPr/>
        </p:nvSpPr>
        <p:spPr>
          <a:xfrm xmlns:a="http://schemas.openxmlformats.org/drawingml/2006/main">
            <a:off x="914400" y="2628900"/>
            <a:ext cx="2362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26970"/>
                </a:solidFill>
                <a:latin typeface="Helvetica Neue"/>
                <a:ea typeface="Helvetica Neue"/>
                <a:cs typeface="Helvetica Neue"/>
              </a:defRPr>
            </a:pPr>
            <a:r>
              <a:rPr sz="1725" b="0">
                <a:solidFill>
                  <a:srgbClr val="626970"/>
                </a:solidFill>
                <a:latin typeface="Helvetica Neue"/>
                <a:ea typeface="Helvetica Neue"/>
                <a:cs typeface="Helvetica Neue"/>
              </a:rPr>
              <a:t>Same continuing task</a:t>
            </a:r>
          </a:p>
        </p:txBody>
      </p:sp>
      <p:sp>
        <p:nvSpPr>
          <p:cNvPr id="7" name="runner">
            <a:extLst xmlns:a="http://schemas.openxmlformats.org/drawingml/2006/main">
              <a:ext uri="{FF2B5EF4-FFF2-40B4-BE49-F238E27FC236}">
                <a16:creationId xmlns:a16="http://schemas.microsoft.com/office/drawing/2014/main" id="{733EC8D8-3AD3-4AC1-8E13-47A004E7FCF6}"/>
              </a:ext>
            </a:extLst>
          </p:cNvPr>
          <p:cNvSpPr>
            <a:spLocks xmlns:a="http://schemas.openxmlformats.org/drawingml/2006/main" noGrp="1"/>
          </p:cNvSpPr>
          <p:nvPr/>
        </p:nvSpPr>
        <p:spPr>
          <a:xfrm xmlns:a="http://schemas.openxmlformats.org/drawingml/2006/main">
            <a:off x="4572000" y="2133600"/>
            <a:ext cx="2952750" cy="1066800"/>
          </a:xfrm>
          <a:prstGeom xmlns:a="http://schemas.openxmlformats.org/drawingml/2006/main" prst="rect">
            <a:avLst/>
          </a:prstGeom>
          <a:solidFill xmlns:a="http://schemas.openxmlformats.org/drawingml/2006/main">
            <a:srgbClr val="F4F6F8"/>
          </a:solidFill>
          <a:ln xmlns:a="http://schemas.openxmlformats.org/drawingml/2006/main" w="11430">
            <a:solidFill>
              <a:srgbClr val="A7B0BB"/>
            </a:solidFill>
          </a:ln>
        </p:spPr>
      </p:sp>
      <p:sp>
        <p:nvSpPr>
          <p:cNvPr id="8" name="runner-title">
            <a:extLst xmlns:a="http://schemas.openxmlformats.org/drawingml/2006/main">
              <a:ext uri="{FF2B5EF4-FFF2-40B4-BE49-F238E27FC236}">
                <a16:creationId xmlns:a16="http://schemas.microsoft.com/office/drawing/2014/main" id="{CECB761B-6329-468B-AA42-7A565586D9A2}"/>
              </a:ext>
            </a:extLst>
          </p:cNvPr>
          <p:cNvSpPr>
            <a:spLocks xmlns:a="http://schemas.openxmlformats.org/drawingml/2006/main" noGrp="1"/>
          </p:cNvSpPr>
          <p:nvPr/>
        </p:nvSpPr>
        <p:spPr>
          <a:xfrm xmlns:a="http://schemas.openxmlformats.org/drawingml/2006/main">
            <a:off x="4724400" y="2257425"/>
            <a:ext cx="2647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30343B"/>
                </a:solidFill>
                <a:latin typeface="Helvetica Neue"/>
                <a:ea typeface="Helvetica Neue"/>
                <a:cs typeface="Helvetica Neue"/>
              </a:defRPr>
            </a:pPr>
            <a:r>
              <a:rPr sz="1950" b="1">
                <a:solidFill>
                  <a:srgbClr val="30343B"/>
                </a:solidFill>
                <a:latin typeface="Helvetica Neue"/>
                <a:ea typeface="Helvetica Neue"/>
                <a:cs typeface="Helvetica Neue"/>
              </a:rPr>
              <a:t>Task runner</a:t>
            </a:r>
          </a:p>
        </p:txBody>
      </p:sp>
      <p:sp>
        <p:nvSpPr>
          <p:cNvPr id="9" name="runner-body">
            <a:extLst xmlns:a="http://schemas.openxmlformats.org/drawingml/2006/main">
              <a:ext uri="{FF2B5EF4-FFF2-40B4-BE49-F238E27FC236}">
                <a16:creationId xmlns:a16="http://schemas.microsoft.com/office/drawing/2014/main" id="{5C7CECEB-9A03-4339-B0B0-B00F37F27737}"/>
              </a:ext>
            </a:extLst>
          </p:cNvPr>
          <p:cNvSpPr>
            <a:spLocks xmlns:a="http://schemas.openxmlformats.org/drawingml/2006/main" noGrp="1"/>
          </p:cNvSpPr>
          <p:nvPr/>
        </p:nvSpPr>
        <p:spPr>
          <a:xfrm xmlns:a="http://schemas.openxmlformats.org/drawingml/2006/main">
            <a:off x="4724400" y="2628900"/>
            <a:ext cx="2647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26970"/>
                </a:solidFill>
                <a:latin typeface="Helvetica Neue"/>
                <a:ea typeface="Helvetica Neue"/>
                <a:cs typeface="Helvetica Neue"/>
              </a:defRPr>
            </a:pPr>
            <a:r>
              <a:rPr sz="1725" b="0">
                <a:solidFill>
                  <a:srgbClr val="626970"/>
                </a:solidFill>
                <a:latin typeface="Helvetica Neue"/>
                <a:ea typeface="Helvetica Neue"/>
                <a:cs typeface="Helvetica Neue"/>
              </a:rPr>
              <a:t>Lead-model plan</a:t>
            </a:r>
          </a:p>
          <a:p xmlns:a="http://schemas.openxmlformats.org/drawingml/2006/main">
            <a:pPr>
              <a:defRPr sz="1725" b="0">
                <a:solidFill>
                  <a:srgbClr val="626970"/>
                </a:solidFill>
                <a:latin typeface="Helvetica Neue"/>
                <a:ea typeface="Helvetica Neue"/>
                <a:cs typeface="Helvetica Neue"/>
              </a:defRPr>
            </a:pPr>
            <a:r>
              <a:rPr sz="1725" b="0">
                <a:solidFill>
                  <a:srgbClr val="626970"/>
                </a:solidFill>
                <a:latin typeface="Helvetica Neue"/>
                <a:ea typeface="Helvetica Neue"/>
                <a:cs typeface="Helvetica Neue"/>
              </a:rPr>
              <a:t>and model routing</a:t>
            </a:r>
          </a:p>
        </p:txBody>
      </p:sp>
      <p:sp>
        <p:nvSpPr>
          <p:cNvPr id="10" name="worker-a">
            <a:extLst xmlns:a="http://schemas.openxmlformats.org/drawingml/2006/main">
              <a:ext uri="{FF2B5EF4-FFF2-40B4-BE49-F238E27FC236}">
                <a16:creationId xmlns:a16="http://schemas.microsoft.com/office/drawing/2014/main" id="{A6ACA52D-3FBF-4BEC-87AB-DB547D808170}"/>
              </a:ext>
            </a:extLst>
          </p:cNvPr>
          <p:cNvSpPr>
            <a:spLocks xmlns:a="http://schemas.openxmlformats.org/drawingml/2006/main" noGrp="1"/>
          </p:cNvSpPr>
          <p:nvPr/>
        </p:nvSpPr>
        <p:spPr>
          <a:xfrm xmlns:a="http://schemas.openxmlformats.org/drawingml/2006/main">
            <a:off x="762000" y="3724275"/>
            <a:ext cx="2667000" cy="857250"/>
          </a:xfrm>
          <a:prstGeom xmlns:a="http://schemas.openxmlformats.org/drawingml/2006/main" prst="rect">
            <a:avLst/>
          </a:prstGeom>
          <a:solidFill xmlns:a="http://schemas.openxmlformats.org/drawingml/2006/main">
            <a:srgbClr val="F4F6F8"/>
          </a:solidFill>
          <a:ln xmlns:a="http://schemas.openxmlformats.org/drawingml/2006/main" w="11430">
            <a:solidFill>
              <a:srgbClr val="A7B0BB"/>
            </a:solidFill>
          </a:ln>
        </p:spPr>
      </p:sp>
      <p:sp>
        <p:nvSpPr>
          <p:cNvPr id="11" name="worker-a-title">
            <a:extLst xmlns:a="http://schemas.openxmlformats.org/drawingml/2006/main">
              <a:ext uri="{FF2B5EF4-FFF2-40B4-BE49-F238E27FC236}">
                <a16:creationId xmlns:a16="http://schemas.microsoft.com/office/drawing/2014/main" id="{E8E79CF9-1877-4EFF-9789-CE944FAD8B47}"/>
              </a:ext>
            </a:extLst>
          </p:cNvPr>
          <p:cNvSpPr>
            <a:spLocks xmlns:a="http://schemas.openxmlformats.org/drawingml/2006/main" noGrp="1"/>
          </p:cNvSpPr>
          <p:nvPr/>
        </p:nvSpPr>
        <p:spPr>
          <a:xfrm xmlns:a="http://schemas.openxmlformats.org/drawingml/2006/main">
            <a:off x="914400" y="3848100"/>
            <a:ext cx="2362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30343B"/>
                </a:solidFill>
                <a:latin typeface="Helvetica Neue"/>
                <a:ea typeface="Helvetica Neue"/>
                <a:cs typeface="Helvetica Neue"/>
              </a:defRPr>
            </a:pPr>
            <a:r>
              <a:rPr sz="1950" b="1">
                <a:solidFill>
                  <a:srgbClr val="30343B"/>
                </a:solidFill>
                <a:latin typeface="Helvetica Neue"/>
                <a:ea typeface="Helvetica Neue"/>
                <a:cs typeface="Helvetica Neue"/>
              </a:rPr>
              <a:t>Worker A (model A)</a:t>
            </a:r>
          </a:p>
        </p:txBody>
      </p:sp>
      <p:sp>
        <p:nvSpPr>
          <p:cNvPr id="12" name="worker-a-body">
            <a:extLst xmlns:a="http://schemas.openxmlformats.org/drawingml/2006/main">
              <a:ext uri="{FF2B5EF4-FFF2-40B4-BE49-F238E27FC236}">
                <a16:creationId xmlns:a16="http://schemas.microsoft.com/office/drawing/2014/main" id="{F95D1FD1-32EC-436F-83BD-0F718FFF9F2F}"/>
              </a:ext>
            </a:extLst>
          </p:cNvPr>
          <p:cNvSpPr>
            <a:spLocks xmlns:a="http://schemas.openxmlformats.org/drawingml/2006/main" noGrp="1"/>
          </p:cNvSpPr>
          <p:nvPr/>
        </p:nvSpPr>
        <p:spPr>
          <a:xfrm xmlns:a="http://schemas.openxmlformats.org/drawingml/2006/main">
            <a:off x="914400" y="4219575"/>
            <a:ext cx="2362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26970"/>
                </a:solidFill>
                <a:latin typeface="Helvetica Neue"/>
                <a:ea typeface="Helvetica Neue"/>
                <a:cs typeface="Helvetica Neue"/>
              </a:defRPr>
            </a:pPr>
            <a:r>
              <a:rPr sz="1725" b="0">
                <a:solidFill>
                  <a:srgbClr val="626970"/>
                </a:solidFill>
                <a:latin typeface="Helvetica Neue"/>
                <a:ea typeface="Helvetica Neue"/>
                <a:cs typeface="Helvetica Neue"/>
              </a:rPr>
              <a:t>Draft the method</a:t>
            </a:r>
          </a:p>
        </p:txBody>
      </p:sp>
      <p:sp>
        <p:nvSpPr>
          <p:cNvPr id="13" name="worker-b">
            <a:extLst xmlns:a="http://schemas.openxmlformats.org/drawingml/2006/main">
              <a:ext uri="{FF2B5EF4-FFF2-40B4-BE49-F238E27FC236}">
                <a16:creationId xmlns:a16="http://schemas.microsoft.com/office/drawing/2014/main" id="{533C6692-8231-4869-AC05-29A2BE09524D}"/>
              </a:ext>
            </a:extLst>
          </p:cNvPr>
          <p:cNvSpPr>
            <a:spLocks xmlns:a="http://schemas.openxmlformats.org/drawingml/2006/main" noGrp="1"/>
          </p:cNvSpPr>
          <p:nvPr/>
        </p:nvSpPr>
        <p:spPr>
          <a:xfrm xmlns:a="http://schemas.openxmlformats.org/drawingml/2006/main">
            <a:off x="4572000" y="3724275"/>
            <a:ext cx="2952750" cy="857250"/>
          </a:xfrm>
          <a:prstGeom xmlns:a="http://schemas.openxmlformats.org/drawingml/2006/main" prst="rect">
            <a:avLst/>
          </a:prstGeom>
          <a:solidFill xmlns:a="http://schemas.openxmlformats.org/drawingml/2006/main">
            <a:srgbClr val="F4F6F8"/>
          </a:solidFill>
          <a:ln xmlns:a="http://schemas.openxmlformats.org/drawingml/2006/main" w="11430">
            <a:solidFill>
              <a:srgbClr val="A7B0BB"/>
            </a:solidFill>
          </a:ln>
        </p:spPr>
      </p:sp>
      <p:sp>
        <p:nvSpPr>
          <p:cNvPr id="14" name="worker-b-title">
            <a:extLst xmlns:a="http://schemas.openxmlformats.org/drawingml/2006/main">
              <a:ext uri="{FF2B5EF4-FFF2-40B4-BE49-F238E27FC236}">
                <a16:creationId xmlns:a16="http://schemas.microsoft.com/office/drawing/2014/main" id="{E120D07C-3B67-4CE6-A1C8-9C8014C1EB14}"/>
              </a:ext>
            </a:extLst>
          </p:cNvPr>
          <p:cNvSpPr>
            <a:spLocks xmlns:a="http://schemas.openxmlformats.org/drawingml/2006/main" noGrp="1"/>
          </p:cNvSpPr>
          <p:nvPr/>
        </p:nvSpPr>
        <p:spPr>
          <a:xfrm xmlns:a="http://schemas.openxmlformats.org/drawingml/2006/main">
            <a:off x="4724400" y="3848100"/>
            <a:ext cx="2647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30343B"/>
                </a:solidFill>
                <a:latin typeface="Helvetica Neue"/>
                <a:ea typeface="Helvetica Neue"/>
                <a:cs typeface="Helvetica Neue"/>
              </a:defRPr>
            </a:pPr>
            <a:r>
              <a:rPr sz="1950" b="1">
                <a:solidFill>
                  <a:srgbClr val="30343B"/>
                </a:solidFill>
                <a:latin typeface="Helvetica Neue"/>
                <a:ea typeface="Helvetica Neue"/>
                <a:cs typeface="Helvetica Neue"/>
              </a:rPr>
              <a:t>Worker B (model B)</a:t>
            </a:r>
          </a:p>
        </p:txBody>
      </p:sp>
      <p:sp>
        <p:nvSpPr>
          <p:cNvPr id="15" name="worker-b-body">
            <a:extLst xmlns:a="http://schemas.openxmlformats.org/drawingml/2006/main">
              <a:ext uri="{FF2B5EF4-FFF2-40B4-BE49-F238E27FC236}">
                <a16:creationId xmlns:a16="http://schemas.microsoft.com/office/drawing/2014/main" id="{2FF37EC3-5FEB-4637-9A5C-53DEC911B7EB}"/>
              </a:ext>
            </a:extLst>
          </p:cNvPr>
          <p:cNvSpPr>
            <a:spLocks xmlns:a="http://schemas.openxmlformats.org/drawingml/2006/main" noGrp="1"/>
          </p:cNvSpPr>
          <p:nvPr/>
        </p:nvSpPr>
        <p:spPr>
          <a:xfrm xmlns:a="http://schemas.openxmlformats.org/drawingml/2006/main">
            <a:off x="4724400" y="4219575"/>
            <a:ext cx="2647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26970"/>
                </a:solidFill>
                <a:latin typeface="Helvetica Neue"/>
                <a:ea typeface="Helvetica Neue"/>
                <a:cs typeface="Helvetica Neue"/>
              </a:defRPr>
            </a:pPr>
            <a:r>
              <a:rPr sz="1725" b="0">
                <a:solidFill>
                  <a:srgbClr val="626970"/>
                </a:solidFill>
                <a:latin typeface="Helvetica Neue"/>
                <a:ea typeface="Helvetica Neue"/>
                <a:cs typeface="Helvetica Neue"/>
              </a:rPr>
              <a:t>Use A’s full output</a:t>
            </a:r>
          </a:p>
        </p:txBody>
      </p:sp>
      <p:sp>
        <p:nvSpPr>
          <p:cNvPr id="16" name="review">
            <a:extLst xmlns:a="http://schemas.openxmlformats.org/drawingml/2006/main">
              <a:ext uri="{FF2B5EF4-FFF2-40B4-BE49-F238E27FC236}">
                <a16:creationId xmlns:a16="http://schemas.microsoft.com/office/drawing/2014/main" id="{1430D4B9-1A97-47EA-AE66-2FF1F368BCB9}"/>
              </a:ext>
            </a:extLst>
          </p:cNvPr>
          <p:cNvSpPr>
            <a:spLocks xmlns:a="http://schemas.openxmlformats.org/drawingml/2006/main" noGrp="1"/>
          </p:cNvSpPr>
          <p:nvPr/>
        </p:nvSpPr>
        <p:spPr>
          <a:xfrm xmlns:a="http://schemas.openxmlformats.org/drawingml/2006/main">
            <a:off x="4572000" y="5248275"/>
            <a:ext cx="2952750" cy="857250"/>
          </a:xfrm>
          <a:prstGeom xmlns:a="http://schemas.openxmlformats.org/drawingml/2006/main" prst="rect">
            <a:avLst/>
          </a:prstGeom>
          <a:solidFill xmlns:a="http://schemas.openxmlformats.org/drawingml/2006/main">
            <a:srgbClr val="F4F6F8"/>
          </a:solidFill>
          <a:ln xmlns:a="http://schemas.openxmlformats.org/drawingml/2006/main" w="11430">
            <a:solidFill>
              <a:srgbClr val="A7B0BB"/>
            </a:solidFill>
          </a:ln>
        </p:spPr>
      </p:sp>
      <p:sp>
        <p:nvSpPr>
          <p:cNvPr id="17" name="review-title">
            <a:extLst xmlns:a="http://schemas.openxmlformats.org/drawingml/2006/main">
              <a:ext uri="{FF2B5EF4-FFF2-40B4-BE49-F238E27FC236}">
                <a16:creationId xmlns:a16="http://schemas.microsoft.com/office/drawing/2014/main" id="{E9689D31-3ECF-43DC-B051-37940D33ACC1}"/>
              </a:ext>
            </a:extLst>
          </p:cNvPr>
          <p:cNvSpPr>
            <a:spLocks xmlns:a="http://schemas.openxmlformats.org/drawingml/2006/main" noGrp="1"/>
          </p:cNvSpPr>
          <p:nvPr/>
        </p:nvSpPr>
        <p:spPr>
          <a:xfrm xmlns:a="http://schemas.openxmlformats.org/drawingml/2006/main">
            <a:off x="4724400" y="5372100"/>
            <a:ext cx="2647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30343B"/>
                </a:solidFill>
                <a:latin typeface="Helvetica Neue"/>
                <a:ea typeface="Helvetica Neue"/>
                <a:cs typeface="Helvetica Neue"/>
              </a:defRPr>
            </a:pPr>
            <a:r>
              <a:rPr sz="1950" b="1">
                <a:solidFill>
                  <a:srgbClr val="30343B"/>
                </a:solidFill>
                <a:latin typeface="Helvetica Neue"/>
                <a:ea typeface="Helvetica Neue"/>
                <a:cs typeface="Helvetica Neue"/>
              </a:rPr>
              <a:t>Lead reviewer</a:t>
            </a:r>
          </a:p>
        </p:txBody>
      </p:sp>
      <p:sp>
        <p:nvSpPr>
          <p:cNvPr id="18" name="review-body">
            <a:extLst xmlns:a="http://schemas.openxmlformats.org/drawingml/2006/main">
              <a:ext uri="{FF2B5EF4-FFF2-40B4-BE49-F238E27FC236}">
                <a16:creationId xmlns:a16="http://schemas.microsoft.com/office/drawing/2014/main" id="{FF6C8AF8-7721-479D-85E1-97E56C058490}"/>
              </a:ext>
            </a:extLst>
          </p:cNvPr>
          <p:cNvSpPr>
            <a:spLocks xmlns:a="http://schemas.openxmlformats.org/drawingml/2006/main" noGrp="1"/>
          </p:cNvSpPr>
          <p:nvPr/>
        </p:nvSpPr>
        <p:spPr>
          <a:xfrm xmlns:a="http://schemas.openxmlformats.org/drawingml/2006/main">
            <a:off x="4724400" y="5743575"/>
            <a:ext cx="2647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26970"/>
                </a:solidFill>
                <a:latin typeface="Helvetica Neue"/>
                <a:ea typeface="Helvetica Neue"/>
                <a:cs typeface="Helvetica Neue"/>
              </a:defRPr>
            </a:pPr>
            <a:r>
              <a:rPr sz="1725" b="0">
                <a:solidFill>
                  <a:srgbClr val="626970"/>
                </a:solidFill>
                <a:latin typeface="Helvetica Neue"/>
                <a:ea typeface="Helvetica Neue"/>
                <a:cs typeface="Helvetica Neue"/>
              </a:rPr>
              <a:t>All drafts + criteria</a:t>
            </a:r>
          </a:p>
        </p:txBody>
      </p:sp>
      <p:sp>
        <p:nvSpPr>
          <p:cNvPr id="19" name="answer">
            <a:extLst xmlns:a="http://schemas.openxmlformats.org/drawingml/2006/main">
              <a:ext uri="{FF2B5EF4-FFF2-40B4-BE49-F238E27FC236}">
                <a16:creationId xmlns:a16="http://schemas.microsoft.com/office/drawing/2014/main" id="{DFA1A30D-953A-4E8F-BED1-7B5F1E536C52}"/>
              </a:ext>
            </a:extLst>
          </p:cNvPr>
          <p:cNvSpPr>
            <a:spLocks xmlns:a="http://schemas.openxmlformats.org/drawingml/2006/main" noGrp="1"/>
          </p:cNvSpPr>
          <p:nvPr/>
        </p:nvSpPr>
        <p:spPr>
          <a:xfrm xmlns:a="http://schemas.openxmlformats.org/drawingml/2006/main">
            <a:off x="762000" y="5248275"/>
            <a:ext cx="2667000" cy="857250"/>
          </a:xfrm>
          <a:prstGeom xmlns:a="http://schemas.openxmlformats.org/drawingml/2006/main" prst="rect">
            <a:avLst/>
          </a:prstGeom>
          <a:solidFill xmlns:a="http://schemas.openxmlformats.org/drawingml/2006/main">
            <a:srgbClr val="F4F6F8"/>
          </a:solidFill>
          <a:ln xmlns:a="http://schemas.openxmlformats.org/drawingml/2006/main" w="11430">
            <a:solidFill>
              <a:srgbClr val="A7B0BB"/>
            </a:solidFill>
          </a:ln>
        </p:spPr>
      </p:sp>
      <p:sp>
        <p:nvSpPr>
          <p:cNvPr id="20" name="answer-title">
            <a:extLst xmlns:a="http://schemas.openxmlformats.org/drawingml/2006/main">
              <a:ext uri="{FF2B5EF4-FFF2-40B4-BE49-F238E27FC236}">
                <a16:creationId xmlns:a16="http://schemas.microsoft.com/office/drawing/2014/main" id="{4FDDE914-10D7-4133-92B0-6E7E4E80385E}"/>
              </a:ext>
            </a:extLst>
          </p:cNvPr>
          <p:cNvSpPr>
            <a:spLocks xmlns:a="http://schemas.openxmlformats.org/drawingml/2006/main" noGrp="1"/>
          </p:cNvSpPr>
          <p:nvPr/>
        </p:nvSpPr>
        <p:spPr>
          <a:xfrm xmlns:a="http://schemas.openxmlformats.org/drawingml/2006/main">
            <a:off x="914400" y="5372100"/>
            <a:ext cx="2362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30343B"/>
                </a:solidFill>
                <a:latin typeface="Helvetica Neue"/>
                <a:ea typeface="Helvetica Neue"/>
                <a:cs typeface="Helvetica Neue"/>
              </a:defRPr>
            </a:pPr>
            <a:r>
              <a:rPr sz="1950" b="1">
                <a:solidFill>
                  <a:srgbClr val="30343B"/>
                </a:solidFill>
                <a:latin typeface="Helvetica Neue"/>
                <a:ea typeface="Helvetica Neue"/>
                <a:cs typeface="Helvetica Neue"/>
              </a:rPr>
              <a:t>Combined answer</a:t>
            </a:r>
          </a:p>
        </p:txBody>
      </p:sp>
      <p:sp>
        <p:nvSpPr>
          <p:cNvPr id="21" name="answer-body">
            <a:extLst xmlns:a="http://schemas.openxmlformats.org/drawingml/2006/main">
              <a:ext uri="{FF2B5EF4-FFF2-40B4-BE49-F238E27FC236}">
                <a16:creationId xmlns:a16="http://schemas.microsoft.com/office/drawing/2014/main" id="{BB111AF9-4456-41FD-905E-D48B7C45BC8A}"/>
              </a:ext>
            </a:extLst>
          </p:cNvPr>
          <p:cNvSpPr>
            <a:spLocks xmlns:a="http://schemas.openxmlformats.org/drawingml/2006/main" noGrp="1"/>
          </p:cNvSpPr>
          <p:nvPr/>
        </p:nvSpPr>
        <p:spPr>
          <a:xfrm xmlns:a="http://schemas.openxmlformats.org/drawingml/2006/main">
            <a:off x="914400" y="5743575"/>
            <a:ext cx="2362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26970"/>
                </a:solidFill>
                <a:latin typeface="Helvetica Neue"/>
                <a:ea typeface="Helvetica Neue"/>
                <a:cs typeface="Helvetica Neue"/>
              </a:defRPr>
            </a:pPr>
            <a:r>
              <a:rPr sz="1725" b="0">
                <a:solidFill>
                  <a:srgbClr val="626970"/>
                </a:solidFill>
                <a:latin typeface="Helvetica Neue"/>
                <a:ea typeface="Helvetica Neue"/>
                <a:cs typeface="Helvetica Neue"/>
              </a:rPr>
              <a:t>Review status retained</a:t>
            </a:r>
          </a:p>
        </p:txBody>
      </p:sp>
      <p:cxnSp>
        <p:nvCxnSpPr>
          <p:cNvPr id="57" name=""/>
          <p:cNvCxnSpPr>
            <a:stCxn xmlns:a="http://schemas.openxmlformats.org/drawingml/2006/main" id="4" idx="3"/>
            <a:endCxn xmlns:a="http://schemas.openxmlformats.org/drawingml/2006/main" id="7" idx="1"/>
          </p:cNvCxnSpPr>
          <p:nvPr/>
        </p:nvCxnSpPr>
        <p:spPr>
          <a:xfrm xmlns:a="http://schemas.openxmlformats.org/drawingml/2006/main">
            <a:off x="3429000" y="2667000"/>
            <a:ext cx="1143000" cy="0"/>
          </a:xfrm>
          <a:prstGeom xmlns:a="http://schemas.openxmlformats.org/drawingml/2006/main" prst="straightConnector1">
            <a:avLst/>
          </a:prstGeom>
          <a:ln xmlns:a="http://schemas.openxmlformats.org/drawingml/2006/main" w="17145">
            <a:solidFill>
              <a:srgbClr val="334A68"/>
            </a:solidFill>
            <a:prstDash val="solid"/>
            <a:tailEnd type="triangle" w="sm" len="sm"/>
          </a:ln>
        </p:spPr>
      </p:cxnSp>
      <p:cxnSp>
        <p:nvCxnSpPr>
          <p:cNvPr id="58" name=""/>
          <p:cNvCxnSpPr>
            <a:stCxn xmlns:a="http://schemas.openxmlformats.org/drawingml/2006/main" id="7" idx="2"/>
            <a:endCxn xmlns:a="http://schemas.openxmlformats.org/drawingml/2006/main" id="10" idx="0"/>
          </p:cNvCxnSpPr>
          <p:nvPr/>
        </p:nvCxnSpPr>
        <p:spPr>
          <a:xfrm xmlns:a="http://schemas.openxmlformats.org/drawingml/2006/main" flipH="1">
            <a:off x="2095500" y="3200400"/>
            <a:ext cx="3952875" cy="523875"/>
          </a:xfrm>
          <a:prstGeom xmlns:a="http://schemas.openxmlformats.org/drawingml/2006/main" prst="bentConnector4">
            <a:avLst>
              <a:gd name="adj1" fmla="val 0"/>
              <a:gd name="adj2" fmla="val 50000"/>
            </a:avLst>
          </a:prstGeom>
          <a:ln xmlns:a="http://schemas.openxmlformats.org/drawingml/2006/main" w="17145">
            <a:solidFill>
              <a:srgbClr val="334A68"/>
            </a:solidFill>
            <a:prstDash val="solid"/>
            <a:tailEnd type="triangle" w="sm" len="sm"/>
          </a:ln>
        </p:spPr>
      </p:cxnSp>
      <p:cxnSp>
        <p:nvCxnSpPr>
          <p:cNvPr id="59" name=""/>
          <p:cNvCxnSpPr>
            <a:stCxn xmlns:a="http://schemas.openxmlformats.org/drawingml/2006/main" id="7" idx="2"/>
            <a:endCxn xmlns:a="http://schemas.openxmlformats.org/drawingml/2006/main" id="13" idx="0"/>
          </p:cNvCxnSpPr>
          <p:nvPr/>
        </p:nvCxnSpPr>
        <p:spPr>
          <a:xfrm xmlns:a="http://schemas.openxmlformats.org/drawingml/2006/main">
            <a:off x="6048375" y="3200400"/>
            <a:ext cx="0" cy="523875"/>
          </a:xfrm>
          <a:prstGeom xmlns:a="http://schemas.openxmlformats.org/drawingml/2006/main" prst="straightConnector1">
            <a:avLst/>
          </a:prstGeom>
          <a:ln xmlns:a="http://schemas.openxmlformats.org/drawingml/2006/main" w="17145">
            <a:solidFill>
              <a:srgbClr val="334A68"/>
            </a:solidFill>
            <a:prstDash val="solid"/>
            <a:tailEnd type="triangle" w="sm" len="sm"/>
          </a:ln>
        </p:spPr>
      </p:cxnSp>
      <p:cxnSp>
        <p:nvCxnSpPr>
          <p:cNvPr id="60" name=""/>
          <p:cNvCxnSpPr>
            <a:stCxn xmlns:a="http://schemas.openxmlformats.org/drawingml/2006/main" id="10" idx="3"/>
            <a:endCxn xmlns:a="http://schemas.openxmlformats.org/drawingml/2006/main" id="13" idx="1"/>
          </p:cNvCxnSpPr>
          <p:nvPr/>
        </p:nvCxnSpPr>
        <p:spPr>
          <a:xfrm xmlns:a="http://schemas.openxmlformats.org/drawingml/2006/main">
            <a:off x="3429000" y="4152900"/>
            <a:ext cx="1143000" cy="0"/>
          </a:xfrm>
          <a:prstGeom xmlns:a="http://schemas.openxmlformats.org/drawingml/2006/main" prst="straightConnector1">
            <a:avLst/>
          </a:prstGeom>
          <a:ln xmlns:a="http://schemas.openxmlformats.org/drawingml/2006/main" w="17145">
            <a:solidFill>
              <a:srgbClr val="334A68"/>
            </a:solidFill>
            <a:prstDash val="solid"/>
            <a:tailEnd type="triangle" w="sm" len="sm"/>
          </a:ln>
        </p:spPr>
      </p:cxnSp>
      <p:sp>
        <p:nvSpPr>
          <p:cNvPr id="26" name="text">
            <a:extLst xmlns:a="http://schemas.openxmlformats.org/drawingml/2006/main">
              <a:ext uri="{FF2B5EF4-FFF2-40B4-BE49-F238E27FC236}">
                <a16:creationId xmlns:a16="http://schemas.microsoft.com/office/drawing/2014/main" id="{84B09CEF-0E5A-4EA8-807C-62F96D4BA727}"/>
              </a:ext>
            </a:extLst>
          </p:cNvPr>
          <p:cNvSpPr>
            <a:spLocks xmlns:a="http://schemas.openxmlformats.org/drawingml/2006/main" noGrp="1"/>
          </p:cNvSpPr>
          <p:nvPr/>
        </p:nvSpPr>
        <p:spPr>
          <a:xfrm xmlns:a="http://schemas.openxmlformats.org/drawingml/2006/main">
            <a:off x="3505200" y="3829050"/>
            <a:ext cx="99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334A68"/>
                </a:solidFill>
                <a:latin typeface="Helvetica Neue"/>
                <a:ea typeface="Helvetica Neue"/>
                <a:cs typeface="Helvetica Neue"/>
              </a:defRPr>
            </a:pPr>
            <a:r>
              <a:rPr sz="1500" b="0">
                <a:solidFill>
                  <a:srgbClr val="334A68"/>
                </a:solidFill>
                <a:latin typeface="Helvetica Neue"/>
                <a:ea typeface="Helvetica Neue"/>
                <a:cs typeface="Helvetica Neue"/>
              </a:rPr>
              <a:t>Full draft</a:t>
            </a:r>
          </a:p>
        </p:txBody>
      </p:sp>
      <p:cxnSp>
        <p:nvCxnSpPr>
          <p:cNvPr id="62" name=""/>
          <p:cNvCxnSpPr>
            <a:stCxn xmlns:a="http://schemas.openxmlformats.org/drawingml/2006/main" id="10" idx="2"/>
            <a:endCxn xmlns:a="http://schemas.openxmlformats.org/drawingml/2006/main" id="16" idx="0"/>
          </p:cNvCxnSpPr>
          <p:nvPr/>
        </p:nvCxnSpPr>
        <p:spPr>
          <a:xfrm xmlns:a="http://schemas.openxmlformats.org/drawingml/2006/main">
            <a:off x="2095500" y="4581525"/>
            <a:ext cx="3952875" cy="666750"/>
          </a:xfrm>
          <a:prstGeom xmlns:a="http://schemas.openxmlformats.org/drawingml/2006/main" prst="bentConnector4">
            <a:avLst>
              <a:gd name="adj1" fmla="val 0"/>
              <a:gd name="adj2" fmla="val 50000"/>
            </a:avLst>
          </a:prstGeom>
          <a:ln xmlns:a="http://schemas.openxmlformats.org/drawingml/2006/main" w="17145">
            <a:solidFill>
              <a:srgbClr val="334A68"/>
            </a:solidFill>
            <a:prstDash val="solid"/>
            <a:tailEnd type="triangle" w="sm" len="sm"/>
          </a:ln>
        </p:spPr>
      </p:cxnSp>
      <p:cxnSp>
        <p:nvCxnSpPr>
          <p:cNvPr id="63" name=""/>
          <p:cNvCxnSpPr>
            <a:stCxn xmlns:a="http://schemas.openxmlformats.org/drawingml/2006/main" id="13" idx="2"/>
            <a:endCxn xmlns:a="http://schemas.openxmlformats.org/drawingml/2006/main" id="16" idx="0"/>
          </p:cNvCxnSpPr>
          <p:nvPr/>
        </p:nvCxnSpPr>
        <p:spPr>
          <a:xfrm xmlns:a="http://schemas.openxmlformats.org/drawingml/2006/main">
            <a:off x="6048375" y="4581525"/>
            <a:ext cx="0" cy="666750"/>
          </a:xfrm>
          <a:prstGeom xmlns:a="http://schemas.openxmlformats.org/drawingml/2006/main" prst="straightConnector1">
            <a:avLst/>
          </a:prstGeom>
          <a:ln xmlns:a="http://schemas.openxmlformats.org/drawingml/2006/main" w="17145">
            <a:solidFill>
              <a:srgbClr val="334A68"/>
            </a:solidFill>
            <a:prstDash val="solid"/>
            <a:tailEnd type="triangle" w="sm" len="sm"/>
          </a:ln>
        </p:spPr>
      </p:cxnSp>
      <p:sp>
        <p:nvSpPr>
          <p:cNvPr id="29" name="targeted-revision">
            <a:extLst xmlns:a="http://schemas.openxmlformats.org/drawingml/2006/main">
              <a:ext uri="{FF2B5EF4-FFF2-40B4-BE49-F238E27FC236}">
                <a16:creationId xmlns:a16="http://schemas.microsoft.com/office/drawing/2014/main" id="{856C7F11-C4F0-4A4E-8C7B-13C4C7DFA70D}"/>
              </a:ext>
            </a:extLst>
          </p:cNvPr>
          <p:cNvSpPr>
            <a:spLocks xmlns:a="http://schemas.openxmlformats.org/drawingml/2006/main" noGrp="1"/>
          </p:cNvSpPr>
          <p:nvPr/>
        </p:nvSpPr>
        <p:spPr>
          <a:xfrm xmlns:a="http://schemas.openxmlformats.org/drawingml/2006/main">
            <a:off x="7524750" y="4105275"/>
            <a:ext cx="571500" cy="1571625"/>
          </a:xfrm>
          <a:custGeom xmlns:a="http://schemas.openxmlformats.org/drawingml/2006/main">
            <a:pathLst>
              <a:path w="571500" h="1571625">
                <a:moveTo>
                  <a:pt x="0" y="1571625"/>
                </a:moveTo>
                <a:lnTo>
                  <a:pt x="571500" y="1571625"/>
                </a:lnTo>
                <a:lnTo>
                  <a:pt x="571500" y="47625"/>
                </a:lnTo>
                <a:lnTo>
                  <a:pt x="0" y="47625"/>
                </a:lnTo>
                <a:moveTo>
                  <a:pt x="95250" y="0"/>
                </a:moveTo>
                <a:lnTo>
                  <a:pt x="0" y="47625"/>
                </a:lnTo>
                <a:lnTo>
                  <a:pt x="95250" y="95250"/>
                </a:lnTo>
              </a:path>
            </a:pathLst>
          </a:custGeom>
          <a:noFill xmlns:a="http://schemas.openxmlformats.org/drawingml/2006/main"/>
          <a:ln xmlns:a="http://schemas.openxmlformats.org/drawingml/2006/main" w="17145">
            <a:solidFill>
              <a:srgbClr val="334A68"/>
            </a:solidFill>
            <a:prstDash val="solid"/>
          </a:ln>
        </p:spPr>
      </p:sp>
      <p:sp>
        <p:nvSpPr>
          <p:cNvPr id="30" name="text">
            <a:extLst xmlns:a="http://schemas.openxmlformats.org/drawingml/2006/main">
              <a:ext uri="{FF2B5EF4-FFF2-40B4-BE49-F238E27FC236}">
                <a16:creationId xmlns:a16="http://schemas.microsoft.com/office/drawing/2014/main" id="{D16E5E62-BE9D-400E-B06E-919F944AC33B}"/>
              </a:ext>
            </a:extLst>
          </p:cNvPr>
          <p:cNvSpPr>
            <a:spLocks xmlns:a="http://schemas.openxmlformats.org/drawingml/2006/main" noGrp="1"/>
          </p:cNvSpPr>
          <p:nvPr/>
        </p:nvSpPr>
        <p:spPr>
          <a:xfrm xmlns:a="http://schemas.openxmlformats.org/drawingml/2006/main">
            <a:off x="7686675" y="3629025"/>
            <a:ext cx="9810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334A68"/>
                </a:solidFill>
                <a:latin typeface="Helvetica Neue"/>
                <a:ea typeface="Helvetica Neue"/>
                <a:cs typeface="Helvetica Neue"/>
              </a:defRPr>
            </a:pPr>
            <a:r>
              <a:rPr sz="1425" b="0">
                <a:solidFill>
                  <a:srgbClr val="334A68"/>
                </a:solidFill>
                <a:latin typeface="Helvetica Neue"/>
                <a:ea typeface="Helvetica Neue"/>
                <a:cs typeface="Helvetica Neue"/>
              </a:rPr>
              <a:t>Targeted</a:t>
            </a:r>
          </a:p>
          <a:p xmlns:a="http://schemas.openxmlformats.org/drawingml/2006/main">
            <a:pPr>
              <a:defRPr sz="1425" b="0">
                <a:solidFill>
                  <a:srgbClr val="334A68"/>
                </a:solidFill>
                <a:latin typeface="Helvetica Neue"/>
                <a:ea typeface="Helvetica Neue"/>
                <a:cs typeface="Helvetica Neue"/>
              </a:defRPr>
            </a:pPr>
            <a:r>
              <a:rPr sz="1425" b="0">
                <a:solidFill>
                  <a:srgbClr val="334A68"/>
                </a:solidFill>
                <a:latin typeface="Helvetica Neue"/>
                <a:ea typeface="Helvetica Neue"/>
                <a:cs typeface="Helvetica Neue"/>
              </a:rPr>
              <a:t>revision</a:t>
            </a:r>
          </a:p>
        </p:txBody>
      </p:sp>
      <p:cxnSp>
        <p:nvCxnSpPr>
          <p:cNvPr id="66" name=""/>
          <p:cNvCxnSpPr>
            <a:stCxn xmlns:a="http://schemas.openxmlformats.org/drawingml/2006/main" id="16" idx="1"/>
            <a:endCxn xmlns:a="http://schemas.openxmlformats.org/drawingml/2006/main" id="19" idx="3"/>
          </p:cNvCxnSpPr>
          <p:nvPr/>
        </p:nvCxnSpPr>
        <p:spPr>
          <a:xfrm xmlns:a="http://schemas.openxmlformats.org/drawingml/2006/main" flipH="1">
            <a:off x="3429000" y="5676900"/>
            <a:ext cx="1143000" cy="0"/>
          </a:xfrm>
          <a:prstGeom xmlns:a="http://schemas.openxmlformats.org/drawingml/2006/main" prst="straightConnector1">
            <a:avLst/>
          </a:prstGeom>
          <a:ln xmlns:a="http://schemas.openxmlformats.org/drawingml/2006/main" w="17145">
            <a:solidFill>
              <a:srgbClr val="334A68"/>
            </a:solidFill>
            <a:prstDash val="solid"/>
            <a:tailEnd type="triangle" w="sm" len="sm"/>
          </a:ln>
        </p:spPr>
      </p:cxnSp>
      <p:sp>
        <p:nvSpPr>
          <p:cNvPr id="32" name="text">
            <a:extLst xmlns:a="http://schemas.openxmlformats.org/drawingml/2006/main">
              <a:ext uri="{FF2B5EF4-FFF2-40B4-BE49-F238E27FC236}">
                <a16:creationId xmlns:a16="http://schemas.microsoft.com/office/drawing/2014/main" id="{F15B3FEE-0970-459D-A2F3-763426D52B21}"/>
              </a:ext>
            </a:extLst>
          </p:cNvPr>
          <p:cNvSpPr>
            <a:spLocks xmlns:a="http://schemas.openxmlformats.org/drawingml/2006/main" noGrp="1"/>
          </p:cNvSpPr>
          <p:nvPr/>
        </p:nvSpPr>
        <p:spPr>
          <a:xfrm xmlns:a="http://schemas.openxmlformats.org/drawingml/2006/main">
            <a:off x="3543300" y="5334000"/>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334A68"/>
                </a:solidFill>
                <a:latin typeface="Helvetica Neue"/>
                <a:ea typeface="Helvetica Neue"/>
                <a:cs typeface="Helvetica Neue"/>
              </a:defRPr>
            </a:pPr>
            <a:r>
              <a:rPr sz="1500" b="0">
                <a:solidFill>
                  <a:srgbClr val="334A68"/>
                </a:solidFill>
                <a:latin typeface="Helvetica Neue"/>
                <a:ea typeface="Helvetica Neue"/>
                <a:cs typeface="Helvetica Neue"/>
              </a:rPr>
              <a:t>Combine</a:t>
            </a:r>
          </a:p>
        </p:txBody>
      </p:sp>
      <p:sp>
        <p:nvSpPr>
          <p:cNvPr id="33" name="text">
            <a:extLst xmlns:a="http://schemas.openxmlformats.org/drawingml/2006/main">
              <a:ext uri="{FF2B5EF4-FFF2-40B4-BE49-F238E27FC236}">
                <a16:creationId xmlns:a16="http://schemas.microsoft.com/office/drawing/2014/main" id="{76773D25-7C57-4001-B35F-F0111732C2C6}"/>
              </a:ext>
            </a:extLst>
          </p:cNvPr>
          <p:cNvSpPr>
            <a:spLocks xmlns:a="http://schemas.openxmlformats.org/drawingml/2006/main" noGrp="1"/>
          </p:cNvSpPr>
          <p:nvPr/>
        </p:nvSpPr>
        <p:spPr>
          <a:xfrm xmlns:a="http://schemas.openxmlformats.org/drawingml/2006/main">
            <a:off x="8858250" y="2200275"/>
            <a:ext cx="2571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34A68"/>
                </a:solidFill>
                <a:latin typeface="Helvetica Neue"/>
                <a:ea typeface="Helvetica Neue"/>
                <a:cs typeface="Helvetica Neue"/>
              </a:defRPr>
            </a:pPr>
            <a:r>
              <a:rPr sz="2025" b="1">
                <a:solidFill>
                  <a:srgbClr val="334A68"/>
                </a:solidFill>
                <a:latin typeface="Helvetica Neue"/>
                <a:ea typeface="Helvetica Neue"/>
                <a:cs typeface="Helvetica Neue"/>
              </a:rPr>
              <a:t>Shared with each call</a:t>
            </a:r>
          </a:p>
        </p:txBody>
      </p:sp>
      <p:sp>
        <p:nvSpPr>
          <p:cNvPr id="34" name="text">
            <a:extLst xmlns:a="http://schemas.openxmlformats.org/drawingml/2006/main">
              <a:ext uri="{FF2B5EF4-FFF2-40B4-BE49-F238E27FC236}">
                <a16:creationId xmlns:a16="http://schemas.microsoft.com/office/drawing/2014/main" id="{E337299E-28FE-4A05-8FD5-57BA369856DD}"/>
              </a:ext>
            </a:extLst>
          </p:cNvPr>
          <p:cNvSpPr>
            <a:spLocks xmlns:a="http://schemas.openxmlformats.org/drawingml/2006/main" noGrp="1"/>
          </p:cNvSpPr>
          <p:nvPr/>
        </p:nvSpPr>
        <p:spPr>
          <a:xfrm xmlns:a="http://schemas.openxmlformats.org/drawingml/2006/main">
            <a:off x="8839200" y="3152775"/>
            <a:ext cx="261937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165100" indent="-88900">
              <a:spcAft>
                <a:spcPts val="1200"/>
              </a:spcAft>
              <a:buChar char="•"/>
              <a:defRPr sz="1725" b="0">
                <a:solidFill>
                  <a:srgbClr val="30343B"/>
                </a:solidFill>
                <a:latin typeface="Helvetica Neue"/>
                <a:ea typeface="Helvetica Neue"/>
                <a:cs typeface="Helvetica Neue"/>
              </a:defRPr>
            </a:pPr>
            <a:r>
              <a:t>Current goal and instructions</a:t>
            </a:r>
          </a:p>
          <a:p xmlns:a="http://schemas.openxmlformats.org/drawingml/2006/main">
            <a:pPr marL="165100" indent="-88900">
              <a:spcAft>
                <a:spcPts val="1200"/>
              </a:spcAft>
              <a:buChar char="•"/>
              <a:defRPr sz="1725" b="0">
                <a:solidFill>
                  <a:srgbClr val="30343B"/>
                </a:solidFill>
                <a:latin typeface="Helvetica Neue"/>
                <a:ea typeface="Helvetica Neue"/>
                <a:cs typeface="Helvetica Neue"/>
              </a:defRPr>
            </a:pPr>
            <a:r>
              <a:t>Required dependency outputs</a:t>
            </a:r>
          </a:p>
          <a:p xmlns:a="http://schemas.openxmlformats.org/drawingml/2006/main">
            <a:pPr marL="165100" indent="-88900">
              <a:spcAft>
                <a:spcPts val="1200"/>
              </a:spcAft>
              <a:buChar char="•"/>
              <a:defRPr sz="1725" b="0">
                <a:solidFill>
                  <a:srgbClr val="30343B"/>
                </a:solidFill>
                <a:latin typeface="Helvetica Neue"/>
                <a:ea typeface="Helvetica Neue"/>
                <a:cs typeface="Helvetica Neue"/>
              </a:defRPr>
            </a:pPr>
            <a:r>
              <a:t>Task memory and conversation history</a:t>
            </a:r>
          </a:p>
          <a:p xmlns:a="http://schemas.openxmlformats.org/drawingml/2006/main">
            <a:pPr marL="165100" indent="-88900">
              <a:spcAft>
                <a:spcPts val="1200"/>
              </a:spcAft>
              <a:buChar char="•"/>
              <a:defRPr sz="1725" b="0">
                <a:solidFill>
                  <a:srgbClr val="30343B"/>
                </a:solidFill>
                <a:latin typeface="Helvetica Neue"/>
                <a:ea typeface="Helvetica Neue"/>
                <a:cs typeface="Helvetica Neue"/>
              </a:defRPr>
            </a:pPr>
            <a:r>
              <a:t>Project excerpts, when enabled</a:t>
            </a:r>
          </a:p>
        </p:txBody>
      </p:sp>
      <p:sp>
        <p:nvSpPr>
          <p:cNvPr id="35" name="text">
            <a:extLst xmlns:a="http://schemas.openxmlformats.org/drawingml/2006/main">
              <a:ext uri="{FF2B5EF4-FFF2-40B4-BE49-F238E27FC236}">
                <a16:creationId xmlns:a16="http://schemas.microsoft.com/office/drawing/2014/main" id="{4254BB2D-4BD3-4A11-9FF8-1C2F054261F4}"/>
              </a:ext>
            </a:extLst>
          </p:cNvPr>
          <p:cNvSpPr>
            <a:spLocks xmlns:a="http://schemas.openxmlformats.org/drawingml/2006/main" noGrp="1"/>
          </p:cNvSpPr>
          <p:nvPr/>
        </p:nvSpPr>
        <p:spPr>
          <a:xfrm xmlns:a="http://schemas.openxmlformats.org/drawingml/2006/main">
            <a:off x="762000" y="6353175"/>
            <a:ext cx="10239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626970"/>
                </a:solidFill>
                <a:latin typeface="Helvetica Neue"/>
                <a:ea typeface="Helvetica Neue"/>
                <a:cs typeface="Helvetica Neue"/>
              </a:defRPr>
            </a:pPr>
            <a:r>
              <a:rPr sz="1425" b="0">
                <a:solidFill>
                  <a:srgbClr val="626970"/>
                </a:solidFill>
                <a:latin typeface="Helvetica Neue"/>
                <a:ea typeface="Helvetica Neue"/>
                <a:cs typeface="Helvetica Neue"/>
              </a:rPr>
              <a:t>Only requested tasks and their dependents rerun. Independent work is retained.</a:t>
            </a:r>
          </a:p>
        </p:txBody>
      </p:sp>
    </p:spTree>
    <p:extLst>
      <p:ext uri="{BB962C8B-B14F-4D97-AF65-F5344CB8AC3E}">
        <p14:creationId xmlns:p14="http://schemas.microsoft.com/office/powerpoint/2010/main" val="142133329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
            <a:extLst xmlns:a="http://schemas.openxmlformats.org/drawingml/2006/main">
              <a:ext uri="{FF2B5EF4-FFF2-40B4-BE49-F238E27FC236}">
                <a16:creationId xmlns:a16="http://schemas.microsoft.com/office/drawing/2014/main" id="{78360E72-3BC4-4CBB-9C01-C53D18426007}"/>
              </a:ext>
            </a:extLst>
          </p:cNvPr>
          <p:cNvSpPr>
            <a:spLocks xmlns:a="http://schemas.openxmlformats.org/drawingml/2006/main" noGrp="1"/>
          </p:cNvSpPr>
          <p:nvPr/>
        </p:nvSpPr>
        <p:spPr>
          <a:xfrm xmlns:a="http://schemas.openxmlformats.org/drawingml/2006/main">
            <a:off x="762000" y="5429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334A68"/>
                </a:solidFill>
                <a:latin typeface="Helvetica Neue"/>
                <a:ea typeface="Helvetica Neue"/>
                <a:cs typeface="Helvetica Neue"/>
              </a:defRPr>
            </a:pPr>
            <a:r>
              <a:rPr sz="3150" b="1">
                <a:solidFill>
                  <a:srgbClr val="334A68"/>
                </a:solidFill>
                <a:latin typeface="Helvetica Neue"/>
                <a:ea typeface="Helvetica Neue"/>
                <a:cs typeface="Helvetica Neue"/>
              </a:rPr>
              <a:t>Appendix B. Where the data is saved</a:t>
            </a:r>
          </a:p>
        </p:txBody>
      </p:sp>
      <p:sp>
        <p:nvSpPr>
          <p:cNvPr id="2" name="subtitle">
            <a:extLst xmlns:a="http://schemas.openxmlformats.org/drawingml/2006/main">
              <a:ext uri="{FF2B5EF4-FFF2-40B4-BE49-F238E27FC236}">
                <a16:creationId xmlns:a16="http://schemas.microsoft.com/office/drawing/2014/main" id="{9BCC04C1-8759-47FA-A8BA-28739AFE9F78}"/>
              </a:ext>
            </a:extLst>
          </p:cNvPr>
          <p:cNvSpPr>
            <a:spLocks xmlns:a="http://schemas.openxmlformats.org/drawingml/2006/main" noGrp="1"/>
          </p:cNvSpPr>
          <p:nvPr/>
        </p:nvSpPr>
        <p:spPr>
          <a:xfrm xmlns:a="http://schemas.openxmlformats.org/drawingml/2006/main">
            <a:off x="762000" y="13525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626970"/>
                </a:solidFill>
                <a:latin typeface="Helvetica Neue"/>
                <a:ea typeface="Helvetica Neue"/>
                <a:cs typeface="Helvetica Neue"/>
              </a:defRPr>
            </a:pPr>
            <a:r>
              <a:rPr sz="2025" b="0">
                <a:solidFill>
                  <a:srgbClr val="626970"/>
                </a:solidFill>
                <a:latin typeface="Helvetica Neue"/>
                <a:ea typeface="Helvetica Neue"/>
                <a:cs typeface="Helvetica Neue"/>
              </a:rPr>
              <a:t>Local JSON files keep the full records used by the project knowledge service.</a:t>
            </a:r>
          </a:p>
        </p:txBody>
      </p:sp>
      <p:sp>
        <p:nvSpPr>
          <p:cNvPr id="3" name="page-number">
            <a:extLst xmlns:a="http://schemas.openxmlformats.org/drawingml/2006/main">
              <a:ext uri="{FF2B5EF4-FFF2-40B4-BE49-F238E27FC236}">
                <a16:creationId xmlns:a16="http://schemas.microsoft.com/office/drawing/2014/main" id="{8756A54D-9CD6-456F-9973-BFF821722D1E}"/>
              </a:ext>
            </a:extLst>
          </p:cNvPr>
          <p:cNvSpPr>
            <a:spLocks xmlns:a="http://schemas.openxmlformats.org/drawingml/2006/main" noGrp="1"/>
          </p:cNvSpPr>
          <p:nvPr/>
        </p:nvSpPr>
        <p:spPr>
          <a:xfrm xmlns:a="http://schemas.openxmlformats.org/drawingml/2006/main">
            <a:off x="11163300" y="63817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626970"/>
                </a:solidFill>
                <a:latin typeface="Helvetica Neue"/>
                <a:ea typeface="Helvetica Neue"/>
                <a:cs typeface="Helvetica Neue"/>
              </a:defRPr>
            </a:pPr>
            <a:r>
              <a:rPr sz="1350" b="0">
                <a:solidFill>
                  <a:srgbClr val="626970"/>
                </a:solidFill>
                <a:latin typeface="Helvetica Neue"/>
                <a:ea typeface="Helvetica Neue"/>
                <a:cs typeface="Helvetica Neue"/>
              </a:rPr>
              <a:t>8</a:t>
            </a:r>
          </a:p>
        </p:txBody>
      </p:sp>
      <p:sp>
        <p:nvSpPr>
          <p:cNvPr id="4" name="materials">
            <a:extLst xmlns:a="http://schemas.openxmlformats.org/drawingml/2006/main">
              <a:ext uri="{FF2B5EF4-FFF2-40B4-BE49-F238E27FC236}">
                <a16:creationId xmlns:a16="http://schemas.microsoft.com/office/drawing/2014/main" id="{B3C42CAD-F5F3-4315-AA43-7886797B3A9F}"/>
              </a:ext>
            </a:extLst>
          </p:cNvPr>
          <p:cNvSpPr>
            <a:spLocks xmlns:a="http://schemas.openxmlformats.org/drawingml/2006/main" noGrp="1"/>
          </p:cNvSpPr>
          <p:nvPr/>
        </p:nvSpPr>
        <p:spPr>
          <a:xfrm xmlns:a="http://schemas.openxmlformats.org/drawingml/2006/main">
            <a:off x="762000" y="2171700"/>
            <a:ext cx="4095750" cy="876300"/>
          </a:xfrm>
          <a:prstGeom xmlns:a="http://schemas.openxmlformats.org/drawingml/2006/main" prst="rect">
            <a:avLst/>
          </a:prstGeom>
          <a:solidFill xmlns:a="http://schemas.openxmlformats.org/drawingml/2006/main">
            <a:srgbClr val="F4F6F8"/>
          </a:solidFill>
          <a:ln xmlns:a="http://schemas.openxmlformats.org/drawingml/2006/main" w="11430">
            <a:solidFill>
              <a:srgbClr val="A7B0BB"/>
            </a:solidFill>
          </a:ln>
        </p:spPr>
      </p:sp>
      <p:sp>
        <p:nvSpPr>
          <p:cNvPr id="5" name="materials-title">
            <a:extLst xmlns:a="http://schemas.openxmlformats.org/drawingml/2006/main">
              <a:ext uri="{FF2B5EF4-FFF2-40B4-BE49-F238E27FC236}">
                <a16:creationId xmlns:a16="http://schemas.microsoft.com/office/drawing/2014/main" id="{4E7BDD28-32B3-4BB2-9483-CDA8C72A1A05}"/>
              </a:ext>
            </a:extLst>
          </p:cNvPr>
          <p:cNvSpPr>
            <a:spLocks xmlns:a="http://schemas.openxmlformats.org/drawingml/2006/main" noGrp="1"/>
          </p:cNvSpPr>
          <p:nvPr/>
        </p:nvSpPr>
        <p:spPr>
          <a:xfrm xmlns:a="http://schemas.openxmlformats.org/drawingml/2006/main">
            <a:off x="914400" y="2295525"/>
            <a:ext cx="3790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30343B"/>
                </a:solidFill>
                <a:latin typeface="Helvetica Neue"/>
                <a:ea typeface="Helvetica Neue"/>
                <a:cs typeface="Helvetica Neue"/>
              </a:defRPr>
            </a:pPr>
            <a:r>
              <a:rPr sz="1950" b="1">
                <a:solidFill>
                  <a:srgbClr val="30343B"/>
                </a:solidFill>
                <a:latin typeface="Helvetica Neue"/>
                <a:ea typeface="Helvetica Neue"/>
                <a:cs typeface="Helvetica Neue"/>
              </a:rPr>
              <a:t>Project materials</a:t>
            </a:r>
          </a:p>
        </p:txBody>
      </p:sp>
      <p:sp>
        <p:nvSpPr>
          <p:cNvPr id="6" name="materials-body">
            <a:extLst xmlns:a="http://schemas.openxmlformats.org/drawingml/2006/main">
              <a:ext uri="{FF2B5EF4-FFF2-40B4-BE49-F238E27FC236}">
                <a16:creationId xmlns:a16="http://schemas.microsoft.com/office/drawing/2014/main" id="{0BEFE25D-F48D-4BBC-A271-6F78002B8072}"/>
              </a:ext>
            </a:extLst>
          </p:cNvPr>
          <p:cNvSpPr>
            <a:spLocks xmlns:a="http://schemas.openxmlformats.org/drawingml/2006/main" noGrp="1"/>
          </p:cNvSpPr>
          <p:nvPr/>
        </p:nvSpPr>
        <p:spPr>
          <a:xfrm xmlns:a="http://schemas.openxmlformats.org/drawingml/2006/main">
            <a:off x="914400" y="2667000"/>
            <a:ext cx="3790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26970"/>
                </a:solidFill>
                <a:latin typeface="Helvetica Neue"/>
                <a:ea typeface="Helvetica Neue"/>
                <a:cs typeface="Helvetica Neue"/>
              </a:defRPr>
            </a:pPr>
            <a:r>
              <a:rPr sz="1725" b="0">
                <a:solidFill>
                  <a:srgbClr val="626970"/>
                </a:solidFill>
                <a:latin typeface="Helvetica Neue"/>
                <a:ea typeface="Helvetica Neue"/>
                <a:cs typeface="Helvetica Neue"/>
              </a:rPr>
              <a:t>Documents and link descriptions</a:t>
            </a:r>
          </a:p>
        </p:txBody>
      </p:sp>
      <p:sp>
        <p:nvSpPr>
          <p:cNvPr id="7" name="generated">
            <a:extLst xmlns:a="http://schemas.openxmlformats.org/drawingml/2006/main">
              <a:ext uri="{FF2B5EF4-FFF2-40B4-BE49-F238E27FC236}">
                <a16:creationId xmlns:a16="http://schemas.microsoft.com/office/drawing/2014/main" id="{B48E4A80-93DE-48B1-991B-75704519DBE6}"/>
              </a:ext>
            </a:extLst>
          </p:cNvPr>
          <p:cNvSpPr>
            <a:spLocks xmlns:a="http://schemas.openxmlformats.org/drawingml/2006/main" noGrp="1"/>
          </p:cNvSpPr>
          <p:nvPr/>
        </p:nvSpPr>
        <p:spPr>
          <a:xfrm xmlns:a="http://schemas.openxmlformats.org/drawingml/2006/main">
            <a:off x="6953250" y="2171700"/>
            <a:ext cx="4476750" cy="876300"/>
          </a:xfrm>
          <a:prstGeom xmlns:a="http://schemas.openxmlformats.org/drawingml/2006/main" prst="rect">
            <a:avLst/>
          </a:prstGeom>
          <a:solidFill xmlns:a="http://schemas.openxmlformats.org/drawingml/2006/main">
            <a:srgbClr val="F4F6F8"/>
          </a:solidFill>
          <a:ln xmlns:a="http://schemas.openxmlformats.org/drawingml/2006/main" w="11430">
            <a:solidFill>
              <a:srgbClr val="A7B0BB"/>
            </a:solidFill>
          </a:ln>
        </p:spPr>
      </p:sp>
      <p:sp>
        <p:nvSpPr>
          <p:cNvPr id="8" name="generated-title">
            <a:extLst xmlns:a="http://schemas.openxmlformats.org/drawingml/2006/main">
              <a:ext uri="{FF2B5EF4-FFF2-40B4-BE49-F238E27FC236}">
                <a16:creationId xmlns:a16="http://schemas.microsoft.com/office/drawing/2014/main" id="{057BA18B-2336-4270-B22B-668E256907BD}"/>
              </a:ext>
            </a:extLst>
          </p:cNvPr>
          <p:cNvSpPr>
            <a:spLocks xmlns:a="http://schemas.openxmlformats.org/drawingml/2006/main" noGrp="1"/>
          </p:cNvSpPr>
          <p:nvPr/>
        </p:nvSpPr>
        <p:spPr>
          <a:xfrm xmlns:a="http://schemas.openxmlformats.org/drawingml/2006/main">
            <a:off x="7105650" y="2295525"/>
            <a:ext cx="4171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30343B"/>
                </a:solidFill>
                <a:latin typeface="Helvetica Neue"/>
                <a:ea typeface="Helvetica Neue"/>
                <a:cs typeface="Helvetica Neue"/>
              </a:defRPr>
            </a:pPr>
            <a:r>
              <a:rPr sz="1950" b="1">
                <a:solidFill>
                  <a:srgbClr val="30343B"/>
                </a:solidFill>
                <a:latin typeface="Helvetica Neue"/>
                <a:ea typeface="Helvetica Neue"/>
                <a:cs typeface="Helvetica Neue"/>
              </a:rPr>
              <a:t>Generated work</a:t>
            </a:r>
          </a:p>
        </p:txBody>
      </p:sp>
      <p:sp>
        <p:nvSpPr>
          <p:cNvPr id="9" name="generated-body">
            <a:extLst xmlns:a="http://schemas.openxmlformats.org/drawingml/2006/main">
              <a:ext uri="{FF2B5EF4-FFF2-40B4-BE49-F238E27FC236}">
                <a16:creationId xmlns:a16="http://schemas.microsoft.com/office/drawing/2014/main" id="{35D71F6A-F03E-43AD-878B-F85EB8562979}"/>
              </a:ext>
            </a:extLst>
          </p:cNvPr>
          <p:cNvSpPr>
            <a:spLocks xmlns:a="http://schemas.openxmlformats.org/drawingml/2006/main" noGrp="1"/>
          </p:cNvSpPr>
          <p:nvPr/>
        </p:nvSpPr>
        <p:spPr>
          <a:xfrm xmlns:a="http://schemas.openxmlformats.org/drawingml/2006/main">
            <a:off x="7105650" y="2667000"/>
            <a:ext cx="4171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26970"/>
                </a:solidFill>
                <a:latin typeface="Helvetica Neue"/>
                <a:ea typeface="Helvetica Neue"/>
                <a:cs typeface="Helvetica Neue"/>
              </a:defRPr>
            </a:pPr>
            <a:r>
              <a:rPr sz="1725" b="0">
                <a:solidFill>
                  <a:srgbClr val="626970"/>
                </a:solidFill>
                <a:latin typeface="Helvetica Neue"/>
                <a:ea typeface="Helvetica Neue"/>
                <a:cs typeface="Helvetica Neue"/>
              </a:rPr>
              <a:t>Drafts, versions, reviews and answers</a:t>
            </a:r>
          </a:p>
        </p:txBody>
      </p:sp>
      <p:sp>
        <p:nvSpPr>
          <p:cNvPr id="10" name="data-file">
            <a:extLst xmlns:a="http://schemas.openxmlformats.org/drawingml/2006/main">
              <a:ext uri="{FF2B5EF4-FFF2-40B4-BE49-F238E27FC236}">
                <a16:creationId xmlns:a16="http://schemas.microsoft.com/office/drawing/2014/main" id="{830CCA16-7931-486B-B4B2-4591C0089BEE}"/>
              </a:ext>
            </a:extLst>
          </p:cNvPr>
          <p:cNvSpPr>
            <a:spLocks xmlns:a="http://schemas.openxmlformats.org/drawingml/2006/main" noGrp="1"/>
          </p:cNvSpPr>
          <p:nvPr/>
        </p:nvSpPr>
        <p:spPr>
          <a:xfrm xmlns:a="http://schemas.openxmlformats.org/drawingml/2006/main">
            <a:off x="762000" y="3638550"/>
            <a:ext cx="4095750" cy="1047750"/>
          </a:xfrm>
          <a:prstGeom xmlns:a="http://schemas.openxmlformats.org/drawingml/2006/main" prst="rect">
            <a:avLst/>
          </a:prstGeom>
          <a:solidFill xmlns:a="http://schemas.openxmlformats.org/drawingml/2006/main">
            <a:srgbClr val="F4F6F8"/>
          </a:solidFill>
          <a:ln xmlns:a="http://schemas.openxmlformats.org/drawingml/2006/main" w="11430">
            <a:solidFill>
              <a:srgbClr val="A7B0BB"/>
            </a:solidFill>
          </a:ln>
        </p:spPr>
      </p:sp>
      <p:sp>
        <p:nvSpPr>
          <p:cNvPr id="11" name="data-file-title">
            <a:extLst xmlns:a="http://schemas.openxmlformats.org/drawingml/2006/main">
              <a:ext uri="{FF2B5EF4-FFF2-40B4-BE49-F238E27FC236}">
                <a16:creationId xmlns:a16="http://schemas.microsoft.com/office/drawing/2014/main" id="{22BC620C-23BC-477A-B148-2A05339B6782}"/>
              </a:ext>
            </a:extLst>
          </p:cNvPr>
          <p:cNvSpPr>
            <a:spLocks xmlns:a="http://schemas.openxmlformats.org/drawingml/2006/main" noGrp="1"/>
          </p:cNvSpPr>
          <p:nvPr/>
        </p:nvSpPr>
        <p:spPr>
          <a:xfrm xmlns:a="http://schemas.openxmlformats.org/drawingml/2006/main">
            <a:off x="914400" y="3762375"/>
            <a:ext cx="3790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43B"/>
                </a:solidFill>
                <a:latin typeface="Helvetica Neue"/>
                <a:ea typeface="Helvetica Neue"/>
                <a:cs typeface="Helvetica Neue"/>
              </a:defRPr>
            </a:pPr>
            <a:r>
              <a:rPr sz="1875" b="1">
                <a:solidFill>
                  <a:srgbClr val="30343B"/>
                </a:solidFill>
                <a:latin typeface="Helvetica Neue"/>
                <a:ea typeface="Helvetica Neue"/>
                <a:cs typeface="Helvetica Neue"/>
              </a:rPr>
              <a:t>~/.self_mcp/data.json</a:t>
            </a:r>
          </a:p>
        </p:txBody>
      </p:sp>
      <p:sp>
        <p:nvSpPr>
          <p:cNvPr id="12" name="data-file-body">
            <a:extLst xmlns:a="http://schemas.openxmlformats.org/drawingml/2006/main">
              <a:ext uri="{FF2B5EF4-FFF2-40B4-BE49-F238E27FC236}">
                <a16:creationId xmlns:a16="http://schemas.microsoft.com/office/drawing/2014/main" id="{AA21324B-59C4-4140-A198-6759CC6F34F5}"/>
              </a:ext>
            </a:extLst>
          </p:cNvPr>
          <p:cNvSpPr>
            <a:spLocks xmlns:a="http://schemas.openxmlformats.org/drawingml/2006/main" noGrp="1"/>
          </p:cNvSpPr>
          <p:nvPr/>
        </p:nvSpPr>
        <p:spPr>
          <a:xfrm xmlns:a="http://schemas.openxmlformats.org/drawingml/2006/main">
            <a:off x="914400" y="4133850"/>
            <a:ext cx="37909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26970"/>
                </a:solidFill>
                <a:latin typeface="Helvetica Neue"/>
                <a:ea typeface="Helvetica Neue"/>
                <a:cs typeface="Helvetica Neue"/>
              </a:defRPr>
            </a:pPr>
            <a:r>
              <a:rPr sz="1725" b="0">
                <a:solidFill>
                  <a:srgbClr val="626970"/>
                </a:solidFill>
                <a:latin typeface="Helvetica Neue"/>
                <a:ea typeface="Helvetica Neue"/>
                <a:cs typeface="Helvetica Neue"/>
              </a:rPr>
              <a:t>Project records and materials</a:t>
            </a:r>
          </a:p>
        </p:txBody>
      </p:sp>
      <p:sp>
        <p:nvSpPr>
          <p:cNvPr id="13" name="task-file">
            <a:extLst xmlns:a="http://schemas.openxmlformats.org/drawingml/2006/main">
              <a:ext uri="{FF2B5EF4-FFF2-40B4-BE49-F238E27FC236}">
                <a16:creationId xmlns:a16="http://schemas.microsoft.com/office/drawing/2014/main" id="{FF2E1011-7489-4D46-8CF4-422C53FE3268}"/>
              </a:ext>
            </a:extLst>
          </p:cNvPr>
          <p:cNvSpPr>
            <a:spLocks xmlns:a="http://schemas.openxmlformats.org/drawingml/2006/main" noGrp="1"/>
          </p:cNvSpPr>
          <p:nvPr/>
        </p:nvSpPr>
        <p:spPr>
          <a:xfrm xmlns:a="http://schemas.openxmlformats.org/drawingml/2006/main">
            <a:off x="6953250" y="3638550"/>
            <a:ext cx="4476750" cy="1047750"/>
          </a:xfrm>
          <a:prstGeom xmlns:a="http://schemas.openxmlformats.org/drawingml/2006/main" prst="rect">
            <a:avLst/>
          </a:prstGeom>
          <a:solidFill xmlns:a="http://schemas.openxmlformats.org/drawingml/2006/main">
            <a:srgbClr val="F4F6F8"/>
          </a:solidFill>
          <a:ln xmlns:a="http://schemas.openxmlformats.org/drawingml/2006/main" w="11430">
            <a:solidFill>
              <a:srgbClr val="A7B0BB"/>
            </a:solidFill>
          </a:ln>
        </p:spPr>
      </p:sp>
      <p:sp>
        <p:nvSpPr>
          <p:cNvPr id="14" name="task-file-title">
            <a:extLst xmlns:a="http://schemas.openxmlformats.org/drawingml/2006/main">
              <a:ext uri="{FF2B5EF4-FFF2-40B4-BE49-F238E27FC236}">
                <a16:creationId xmlns:a16="http://schemas.microsoft.com/office/drawing/2014/main" id="{9302443B-3DF5-4A2B-B61C-3D9A51C7CC28}"/>
              </a:ext>
            </a:extLst>
          </p:cNvPr>
          <p:cNvSpPr>
            <a:spLocks xmlns:a="http://schemas.openxmlformats.org/drawingml/2006/main" noGrp="1"/>
          </p:cNvSpPr>
          <p:nvPr/>
        </p:nvSpPr>
        <p:spPr>
          <a:xfrm xmlns:a="http://schemas.openxmlformats.org/drawingml/2006/main">
            <a:off x="7105650" y="3762375"/>
            <a:ext cx="4171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43B"/>
                </a:solidFill>
                <a:latin typeface="Helvetica Neue"/>
                <a:ea typeface="Helvetica Neue"/>
                <a:cs typeface="Helvetica Neue"/>
              </a:defRPr>
            </a:pPr>
            <a:r>
              <a:rPr sz="1875" b="1">
                <a:solidFill>
                  <a:srgbClr val="30343B"/>
                </a:solidFill>
                <a:latin typeface="Helvetica Neue"/>
                <a:ea typeface="Helvetica Neue"/>
                <a:cs typeface="Helvetica Neue"/>
              </a:rPr>
              <a:t>~/.self_mcp/task_runs.json</a:t>
            </a:r>
          </a:p>
        </p:txBody>
      </p:sp>
      <p:sp>
        <p:nvSpPr>
          <p:cNvPr id="15" name="task-file-body">
            <a:extLst xmlns:a="http://schemas.openxmlformats.org/drawingml/2006/main">
              <a:ext uri="{FF2B5EF4-FFF2-40B4-BE49-F238E27FC236}">
                <a16:creationId xmlns:a16="http://schemas.microsoft.com/office/drawing/2014/main" id="{586BDDB4-EABD-4369-8F76-1DF6BFAB2CFA}"/>
              </a:ext>
            </a:extLst>
          </p:cNvPr>
          <p:cNvSpPr>
            <a:spLocks xmlns:a="http://schemas.openxmlformats.org/drawingml/2006/main" noGrp="1"/>
          </p:cNvSpPr>
          <p:nvPr/>
        </p:nvSpPr>
        <p:spPr>
          <a:xfrm xmlns:a="http://schemas.openxmlformats.org/drawingml/2006/main">
            <a:off x="7105650" y="4133850"/>
            <a:ext cx="41719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26970"/>
                </a:solidFill>
                <a:latin typeface="Helvetica Neue"/>
                <a:ea typeface="Helvetica Neue"/>
                <a:cs typeface="Helvetica Neue"/>
              </a:defRPr>
            </a:pPr>
            <a:r>
              <a:rPr sz="1725" b="0">
                <a:solidFill>
                  <a:srgbClr val="626970"/>
                </a:solidFill>
                <a:latin typeface="Helvetica Neue"/>
                <a:ea typeface="Helvetica Neue"/>
                <a:cs typeface="Helvetica Neue"/>
              </a:rPr>
              <a:t>Task turns, outputs, usage</a:t>
            </a:r>
          </a:p>
          <a:p xmlns:a="http://schemas.openxmlformats.org/drawingml/2006/main">
            <a:pPr>
              <a:defRPr sz="1725" b="0">
                <a:solidFill>
                  <a:srgbClr val="626970"/>
                </a:solidFill>
                <a:latin typeface="Helvetica Neue"/>
                <a:ea typeface="Helvetica Neue"/>
                <a:cs typeface="Helvetica Neue"/>
              </a:defRPr>
            </a:pPr>
            <a:r>
              <a:rPr sz="1725" b="0">
                <a:solidFill>
                  <a:srgbClr val="626970"/>
                </a:solidFill>
                <a:latin typeface="Helvetica Neue"/>
                <a:ea typeface="Helvetica Neue"/>
                <a:cs typeface="Helvetica Neue"/>
              </a:rPr>
              <a:t>and retrieval records</a:t>
            </a:r>
          </a:p>
        </p:txBody>
      </p:sp>
      <p:sp>
        <p:nvSpPr>
          <p:cNvPr id="16" name="source-records">
            <a:extLst xmlns:a="http://schemas.openxmlformats.org/drawingml/2006/main">
              <a:ext uri="{FF2B5EF4-FFF2-40B4-BE49-F238E27FC236}">
                <a16:creationId xmlns:a16="http://schemas.microsoft.com/office/drawing/2014/main" id="{9E74E480-4825-41F6-B2D9-8BAE50F6C6C2}"/>
              </a:ext>
            </a:extLst>
          </p:cNvPr>
          <p:cNvSpPr>
            <a:spLocks xmlns:a="http://schemas.openxmlformats.org/drawingml/2006/main" noGrp="1"/>
          </p:cNvSpPr>
          <p:nvPr/>
        </p:nvSpPr>
        <p:spPr>
          <a:xfrm xmlns:a="http://schemas.openxmlformats.org/drawingml/2006/main">
            <a:off x="3667125" y="5286375"/>
            <a:ext cx="4857750" cy="857250"/>
          </a:xfrm>
          <a:prstGeom xmlns:a="http://schemas.openxmlformats.org/drawingml/2006/main" prst="rect">
            <a:avLst/>
          </a:prstGeom>
          <a:solidFill xmlns:a="http://schemas.openxmlformats.org/drawingml/2006/main">
            <a:srgbClr val="F4F6F8"/>
          </a:solidFill>
          <a:ln xmlns:a="http://schemas.openxmlformats.org/drawingml/2006/main" w="11430">
            <a:solidFill>
              <a:srgbClr val="A7B0BB"/>
            </a:solidFill>
          </a:ln>
        </p:spPr>
      </p:sp>
      <p:sp>
        <p:nvSpPr>
          <p:cNvPr id="17" name="source-records-title">
            <a:extLst xmlns:a="http://schemas.openxmlformats.org/drawingml/2006/main">
              <a:ext uri="{FF2B5EF4-FFF2-40B4-BE49-F238E27FC236}">
                <a16:creationId xmlns:a16="http://schemas.microsoft.com/office/drawing/2014/main" id="{DF30CD33-8539-47F6-A264-102CBB59D4FC}"/>
              </a:ext>
            </a:extLst>
          </p:cNvPr>
          <p:cNvSpPr>
            <a:spLocks xmlns:a="http://schemas.openxmlformats.org/drawingml/2006/main" noGrp="1"/>
          </p:cNvSpPr>
          <p:nvPr/>
        </p:nvSpPr>
        <p:spPr>
          <a:xfrm xmlns:a="http://schemas.openxmlformats.org/drawingml/2006/main">
            <a:off x="3819525" y="5410200"/>
            <a:ext cx="4552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30343B"/>
                </a:solidFill>
                <a:latin typeface="Helvetica Neue"/>
                <a:ea typeface="Helvetica Neue"/>
                <a:cs typeface="Helvetica Neue"/>
              </a:defRPr>
            </a:pPr>
            <a:r>
              <a:rPr sz="1950" b="1">
                <a:solidFill>
                  <a:srgbClr val="30343B"/>
                </a:solidFill>
                <a:latin typeface="Helvetica Neue"/>
                <a:ea typeface="Helvetica Neue"/>
                <a:cs typeface="Helvetica Neue"/>
              </a:rPr>
              <a:t>Project source records</a:t>
            </a:r>
          </a:p>
        </p:txBody>
      </p:sp>
      <p:sp>
        <p:nvSpPr>
          <p:cNvPr id="18" name="source-records-body">
            <a:extLst xmlns:a="http://schemas.openxmlformats.org/drawingml/2006/main">
              <a:ext uri="{FF2B5EF4-FFF2-40B4-BE49-F238E27FC236}">
                <a16:creationId xmlns:a16="http://schemas.microsoft.com/office/drawing/2014/main" id="{CB72EDC0-8514-4115-B5E8-2412A7E7587D}"/>
              </a:ext>
            </a:extLst>
          </p:cNvPr>
          <p:cNvSpPr>
            <a:spLocks xmlns:a="http://schemas.openxmlformats.org/drawingml/2006/main" noGrp="1"/>
          </p:cNvSpPr>
          <p:nvPr/>
        </p:nvSpPr>
        <p:spPr>
          <a:xfrm xmlns:a="http://schemas.openxmlformats.org/drawingml/2006/main">
            <a:off x="3819525" y="5781675"/>
            <a:ext cx="4552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26970"/>
                </a:solidFill>
                <a:latin typeface="Helvetica Neue"/>
                <a:ea typeface="Helvetica Neue"/>
                <a:cs typeface="Helvetica Neue"/>
              </a:defRPr>
            </a:pPr>
            <a:r>
              <a:rPr sz="1725" b="0">
                <a:solidFill>
                  <a:srgbClr val="626970"/>
                </a:solidFill>
                <a:latin typeface="Helvetica Neue"/>
                <a:ea typeface="Helvetica Neue"/>
                <a:cs typeface="Helvetica Neue"/>
              </a:rPr>
              <a:t>Selected by project ID; derived on read</a:t>
            </a:r>
          </a:p>
        </p:txBody>
      </p:sp>
      <p:cxnSp>
        <p:nvCxnSpPr>
          <p:cNvPr id="43" name=""/>
          <p:cNvCxnSpPr>
            <a:stCxn xmlns:a="http://schemas.openxmlformats.org/drawingml/2006/main" id="4" idx="2"/>
            <a:endCxn xmlns:a="http://schemas.openxmlformats.org/drawingml/2006/main" id="10" idx="0"/>
          </p:cNvCxnSpPr>
          <p:nvPr/>
        </p:nvCxnSpPr>
        <p:spPr>
          <a:xfrm xmlns:a="http://schemas.openxmlformats.org/drawingml/2006/main">
            <a:off x="2809875" y="3048000"/>
            <a:ext cx="0" cy="590550"/>
          </a:xfrm>
          <a:prstGeom xmlns:a="http://schemas.openxmlformats.org/drawingml/2006/main" prst="straightConnector1">
            <a:avLst/>
          </a:prstGeom>
          <a:ln xmlns:a="http://schemas.openxmlformats.org/drawingml/2006/main" w="17145">
            <a:solidFill>
              <a:srgbClr val="334A68"/>
            </a:solidFill>
            <a:prstDash val="solid"/>
            <a:tailEnd type="triangle" w="sm" len="sm"/>
          </a:ln>
        </p:spPr>
      </p:cxnSp>
      <p:cxnSp>
        <p:nvCxnSpPr>
          <p:cNvPr id="44" name=""/>
          <p:cNvCxnSpPr>
            <a:stCxn xmlns:a="http://schemas.openxmlformats.org/drawingml/2006/main" id="7" idx="2"/>
            <a:endCxn xmlns:a="http://schemas.openxmlformats.org/drawingml/2006/main" id="13" idx="0"/>
          </p:cNvCxnSpPr>
          <p:nvPr/>
        </p:nvCxnSpPr>
        <p:spPr>
          <a:xfrm xmlns:a="http://schemas.openxmlformats.org/drawingml/2006/main">
            <a:off x="9191625" y="3048000"/>
            <a:ext cx="0" cy="590550"/>
          </a:xfrm>
          <a:prstGeom xmlns:a="http://schemas.openxmlformats.org/drawingml/2006/main" prst="straightConnector1">
            <a:avLst/>
          </a:prstGeom>
          <a:ln xmlns:a="http://schemas.openxmlformats.org/drawingml/2006/main" w="17145">
            <a:solidFill>
              <a:srgbClr val="334A68"/>
            </a:solidFill>
            <a:prstDash val="solid"/>
            <a:tailEnd type="triangle" w="sm" len="sm"/>
          </a:ln>
        </p:spPr>
      </p:cxnSp>
      <p:cxnSp>
        <p:nvCxnSpPr>
          <p:cNvPr id="45" name=""/>
          <p:cNvCxnSpPr>
            <a:stCxn xmlns:a="http://schemas.openxmlformats.org/drawingml/2006/main" id="10" idx="2"/>
            <a:endCxn xmlns:a="http://schemas.openxmlformats.org/drawingml/2006/main" id="16" idx="0"/>
          </p:cNvCxnSpPr>
          <p:nvPr/>
        </p:nvCxnSpPr>
        <p:spPr>
          <a:xfrm xmlns:a="http://schemas.openxmlformats.org/drawingml/2006/main">
            <a:off x="2809875" y="4686300"/>
            <a:ext cx="3286125" cy="600075"/>
          </a:xfrm>
          <a:prstGeom xmlns:a="http://schemas.openxmlformats.org/drawingml/2006/main" prst="bentConnector4">
            <a:avLst>
              <a:gd name="adj1" fmla="val 0"/>
              <a:gd name="adj2" fmla="val 50000"/>
            </a:avLst>
          </a:prstGeom>
          <a:ln xmlns:a="http://schemas.openxmlformats.org/drawingml/2006/main" w="17145">
            <a:solidFill>
              <a:srgbClr val="334A68"/>
            </a:solidFill>
            <a:prstDash val="solid"/>
            <a:tailEnd type="triangle" w="sm" len="sm"/>
          </a:ln>
        </p:spPr>
      </p:cxnSp>
      <p:cxnSp>
        <p:nvCxnSpPr>
          <p:cNvPr id="46" name=""/>
          <p:cNvCxnSpPr>
            <a:stCxn xmlns:a="http://schemas.openxmlformats.org/drawingml/2006/main" id="13" idx="2"/>
            <a:endCxn xmlns:a="http://schemas.openxmlformats.org/drawingml/2006/main" id="16" idx="0"/>
          </p:cNvCxnSpPr>
          <p:nvPr/>
        </p:nvCxnSpPr>
        <p:spPr>
          <a:xfrm xmlns:a="http://schemas.openxmlformats.org/drawingml/2006/main" flipH="1">
            <a:off x="6096000" y="4686300"/>
            <a:ext cx="3095625" cy="600075"/>
          </a:xfrm>
          <a:prstGeom xmlns:a="http://schemas.openxmlformats.org/drawingml/2006/main" prst="bentConnector4">
            <a:avLst>
              <a:gd name="adj1" fmla="val 0"/>
              <a:gd name="adj2" fmla="val 50000"/>
            </a:avLst>
          </a:prstGeom>
          <a:ln xmlns:a="http://schemas.openxmlformats.org/drawingml/2006/main" w="17145">
            <a:solidFill>
              <a:srgbClr val="334A68"/>
            </a:solidFill>
            <a:prstDash val="solid"/>
            <a:tailEnd type="triangle" w="sm" len="sm"/>
          </a:ln>
        </p:spPr>
      </p:cxnSp>
      <p:sp>
        <p:nvSpPr>
          <p:cNvPr id="23" name="text">
            <a:extLst xmlns:a="http://schemas.openxmlformats.org/drawingml/2006/main">
              <a:ext uri="{FF2B5EF4-FFF2-40B4-BE49-F238E27FC236}">
                <a16:creationId xmlns:a16="http://schemas.microsoft.com/office/drawing/2014/main" id="{C1CC064C-3021-4512-A2AD-797C29E768F1}"/>
              </a:ext>
            </a:extLst>
          </p:cNvPr>
          <p:cNvSpPr>
            <a:spLocks xmlns:a="http://schemas.openxmlformats.org/drawingml/2006/main" noGrp="1"/>
          </p:cNvSpPr>
          <p:nvPr/>
        </p:nvSpPr>
        <p:spPr>
          <a:xfrm xmlns:a="http://schemas.openxmlformats.org/drawingml/2006/main">
            <a:off x="762000" y="5419725"/>
            <a:ext cx="2428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26970"/>
                </a:solidFill>
                <a:latin typeface="Helvetica Neue"/>
                <a:ea typeface="Helvetica Neue"/>
                <a:cs typeface="Helvetica Neue"/>
              </a:defRPr>
            </a:pPr>
            <a:r>
              <a:rPr sz="1800" b="0">
                <a:solidFill>
                  <a:srgbClr val="626970"/>
                </a:solidFill>
                <a:latin typeface="Helvetica Neue"/>
                <a:ea typeface="Helvetica Neue"/>
                <a:cs typeface="Helvetica Neue"/>
              </a:rPr>
              <a:t>No extra</a:t>
            </a:r>
          </a:p>
          <a:p xmlns:a="http://schemas.openxmlformats.org/drawingml/2006/main">
            <a:pPr>
              <a:defRPr sz="1800" b="0">
                <a:solidFill>
                  <a:srgbClr val="626970"/>
                </a:solidFill>
                <a:latin typeface="Helvetica Neue"/>
                <a:ea typeface="Helvetica Neue"/>
                <a:cs typeface="Helvetica Neue"/>
              </a:defRPr>
            </a:pPr>
            <a:r>
              <a:rPr sz="1800" b="0">
                <a:solidFill>
                  <a:srgbClr val="626970"/>
                </a:solidFill>
                <a:latin typeface="Helvetica Neue"/>
                <a:ea typeface="Helvetica Neue"/>
                <a:cs typeface="Helvetica Neue"/>
              </a:rPr>
              <a:t>document copy</a:t>
            </a:r>
          </a:p>
        </p:txBody>
      </p:sp>
      <p:sp>
        <p:nvSpPr>
          <p:cNvPr id="24" name="text">
            <a:extLst xmlns:a="http://schemas.openxmlformats.org/drawingml/2006/main">
              <a:ext uri="{FF2B5EF4-FFF2-40B4-BE49-F238E27FC236}">
                <a16:creationId xmlns:a16="http://schemas.microsoft.com/office/drawing/2014/main" id="{790C30BE-8ADD-4C98-A33D-88F30C30E597}"/>
              </a:ext>
            </a:extLst>
          </p:cNvPr>
          <p:cNvSpPr>
            <a:spLocks xmlns:a="http://schemas.openxmlformats.org/drawingml/2006/main" noGrp="1"/>
          </p:cNvSpPr>
          <p:nvPr/>
        </p:nvSpPr>
        <p:spPr>
          <a:xfrm xmlns:a="http://schemas.openxmlformats.org/drawingml/2006/main">
            <a:off x="762000" y="6353175"/>
            <a:ext cx="10239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626970"/>
                </a:solidFill>
                <a:latin typeface="Helvetica Neue"/>
                <a:ea typeface="Helvetica Neue"/>
                <a:cs typeface="Helvetica Neue"/>
              </a:defRPr>
            </a:pPr>
            <a:r>
              <a:rPr sz="1425" b="0">
                <a:solidFill>
                  <a:srgbClr val="626970"/>
                </a:solidFill>
                <a:latin typeface="Helvetica Neue"/>
                <a:ea typeface="Helvetica Neue"/>
                <a:cs typeface="Helvetica Neue"/>
              </a:rPr>
              <a:t>Drafts are saved as work completes, even if a later review or model call fails.</a:t>
            </a:r>
          </a:p>
        </p:txBody>
      </p:sp>
    </p:spTree>
    <p:extLst>
      <p:ext uri="{BB962C8B-B14F-4D97-AF65-F5344CB8AC3E}">
        <p14:creationId xmlns:p14="http://schemas.microsoft.com/office/powerpoint/2010/main" val="209315372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slide-title">
            <a:extLst xmlns:a="http://schemas.openxmlformats.org/drawingml/2006/main">
              <a:ext uri="{FF2B5EF4-FFF2-40B4-BE49-F238E27FC236}">
                <a16:creationId xmlns:a16="http://schemas.microsoft.com/office/drawing/2014/main" id="{3883FAB3-365D-46F0-BFC8-8DAB88CBF251}"/>
              </a:ext>
            </a:extLst>
          </p:cNvPr>
          <p:cNvSpPr>
            <a:spLocks xmlns:a="http://schemas.openxmlformats.org/drawingml/2006/main" noGrp="1"/>
          </p:cNvSpPr>
          <p:nvPr/>
        </p:nvSpPr>
        <p:spPr>
          <a:xfrm xmlns:a="http://schemas.openxmlformats.org/drawingml/2006/main">
            <a:off x="762000" y="5429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334A68"/>
                </a:solidFill>
                <a:latin typeface="Helvetica Neue"/>
                <a:ea typeface="Helvetica Neue"/>
                <a:cs typeface="Helvetica Neue"/>
              </a:defRPr>
            </a:pPr>
            <a:r>
              <a:rPr sz="3150" b="1">
                <a:solidFill>
                  <a:srgbClr val="334A68"/>
                </a:solidFill>
                <a:latin typeface="Helvetica Neue"/>
                <a:ea typeface="Helvetica Neue"/>
                <a:cs typeface="Helvetica Neue"/>
              </a:rPr>
              <a:t>Appendix C. How retrieval works</a:t>
            </a:r>
          </a:p>
        </p:txBody>
      </p:sp>
      <p:sp>
        <p:nvSpPr>
          <p:cNvPr id="2" name="subtitle">
            <a:extLst xmlns:a="http://schemas.openxmlformats.org/drawingml/2006/main">
              <a:ext uri="{FF2B5EF4-FFF2-40B4-BE49-F238E27FC236}">
                <a16:creationId xmlns:a16="http://schemas.microsoft.com/office/drawing/2014/main" id="{75CACFD1-9097-415F-A097-62F690F635D1}"/>
              </a:ext>
            </a:extLst>
          </p:cNvPr>
          <p:cNvSpPr>
            <a:spLocks xmlns:a="http://schemas.openxmlformats.org/drawingml/2006/main" noGrp="1"/>
          </p:cNvSpPr>
          <p:nvPr/>
        </p:nvSpPr>
        <p:spPr>
          <a:xfrm xmlns:a="http://schemas.openxmlformats.org/drawingml/2006/main">
            <a:off x="762000" y="13525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626970"/>
                </a:solidFill>
                <a:latin typeface="Helvetica Neue"/>
                <a:ea typeface="Helvetica Neue"/>
                <a:cs typeface="Helvetica Neue"/>
              </a:defRPr>
            </a:pPr>
            <a:r>
              <a:rPr sz="2025" b="0">
                <a:solidFill>
                  <a:srgbClr val="626970"/>
                </a:solidFill>
                <a:latin typeface="Helvetica Neue"/>
                <a:ea typeface="Helvetica Neue"/>
                <a:cs typeface="Helvetica Neue"/>
              </a:rPr>
              <a:t>Agents and MCP clients query the same project retrieval service.</a:t>
            </a:r>
          </a:p>
        </p:txBody>
      </p:sp>
      <p:sp>
        <p:nvSpPr>
          <p:cNvPr id="3" name="page-number">
            <a:extLst xmlns:a="http://schemas.openxmlformats.org/drawingml/2006/main">
              <a:ext uri="{FF2B5EF4-FFF2-40B4-BE49-F238E27FC236}">
                <a16:creationId xmlns:a16="http://schemas.microsoft.com/office/drawing/2014/main" id="{C01BDF01-C634-4A0F-8AC4-16348AA1C363}"/>
              </a:ext>
            </a:extLst>
          </p:cNvPr>
          <p:cNvSpPr>
            <a:spLocks xmlns:a="http://schemas.openxmlformats.org/drawingml/2006/main" noGrp="1"/>
          </p:cNvSpPr>
          <p:nvPr/>
        </p:nvSpPr>
        <p:spPr>
          <a:xfrm xmlns:a="http://schemas.openxmlformats.org/drawingml/2006/main">
            <a:off x="11163300" y="63817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626970"/>
                </a:solidFill>
                <a:latin typeface="Helvetica Neue"/>
                <a:ea typeface="Helvetica Neue"/>
                <a:cs typeface="Helvetica Neue"/>
              </a:defRPr>
            </a:pPr>
            <a:r>
              <a:rPr sz="1350" b="0">
                <a:solidFill>
                  <a:srgbClr val="626970"/>
                </a:solidFill>
                <a:latin typeface="Helvetica Neue"/>
                <a:ea typeface="Helvetica Neue"/>
                <a:cs typeface="Helvetica Neue"/>
              </a:rPr>
              <a:t>9</a:t>
            </a:r>
          </a:p>
        </p:txBody>
      </p:sp>
      <p:sp>
        <p:nvSpPr>
          <p:cNvPr id="4" name="internal-agent">
            <a:extLst xmlns:a="http://schemas.openxmlformats.org/drawingml/2006/main">
              <a:ext uri="{FF2B5EF4-FFF2-40B4-BE49-F238E27FC236}">
                <a16:creationId xmlns:a16="http://schemas.microsoft.com/office/drawing/2014/main" id="{1BF34D04-874B-45AD-BCFF-B0EBFADA7A1D}"/>
              </a:ext>
            </a:extLst>
          </p:cNvPr>
          <p:cNvSpPr>
            <a:spLocks xmlns:a="http://schemas.openxmlformats.org/drawingml/2006/main" noGrp="1"/>
          </p:cNvSpPr>
          <p:nvPr/>
        </p:nvSpPr>
        <p:spPr>
          <a:xfrm xmlns:a="http://schemas.openxmlformats.org/drawingml/2006/main">
            <a:off x="762000" y="2171700"/>
            <a:ext cx="2952750" cy="876300"/>
          </a:xfrm>
          <a:prstGeom xmlns:a="http://schemas.openxmlformats.org/drawingml/2006/main" prst="rect">
            <a:avLst/>
          </a:prstGeom>
          <a:solidFill xmlns:a="http://schemas.openxmlformats.org/drawingml/2006/main">
            <a:srgbClr val="F4F6F8"/>
          </a:solidFill>
          <a:ln xmlns:a="http://schemas.openxmlformats.org/drawingml/2006/main" w="11430">
            <a:solidFill>
              <a:srgbClr val="A7B0BB"/>
            </a:solidFill>
          </a:ln>
        </p:spPr>
      </p:sp>
      <p:sp>
        <p:nvSpPr>
          <p:cNvPr id="5" name="internal-agent-title">
            <a:extLst xmlns:a="http://schemas.openxmlformats.org/drawingml/2006/main">
              <a:ext uri="{FF2B5EF4-FFF2-40B4-BE49-F238E27FC236}">
                <a16:creationId xmlns:a16="http://schemas.microsoft.com/office/drawing/2014/main" id="{3A0FB30D-0CB1-4CA9-A171-3B5218DA8226}"/>
              </a:ext>
            </a:extLst>
          </p:cNvPr>
          <p:cNvSpPr>
            <a:spLocks xmlns:a="http://schemas.openxmlformats.org/drawingml/2006/main" noGrp="1"/>
          </p:cNvSpPr>
          <p:nvPr/>
        </p:nvSpPr>
        <p:spPr>
          <a:xfrm xmlns:a="http://schemas.openxmlformats.org/drawingml/2006/main">
            <a:off x="914400" y="2295525"/>
            <a:ext cx="2647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30343B"/>
                </a:solidFill>
                <a:latin typeface="Helvetica Neue"/>
                <a:ea typeface="Helvetica Neue"/>
                <a:cs typeface="Helvetica Neue"/>
              </a:defRPr>
            </a:pPr>
            <a:r>
              <a:rPr sz="1950" b="1">
                <a:solidFill>
                  <a:srgbClr val="30343B"/>
                </a:solidFill>
                <a:latin typeface="Helvetica Neue"/>
                <a:ea typeface="Helvetica Neue"/>
                <a:cs typeface="Helvetica Neue"/>
              </a:rPr>
              <a:t>Internal model call</a:t>
            </a:r>
          </a:p>
        </p:txBody>
      </p:sp>
      <p:sp>
        <p:nvSpPr>
          <p:cNvPr id="6" name="internal-agent-body">
            <a:extLst xmlns:a="http://schemas.openxmlformats.org/drawingml/2006/main">
              <a:ext uri="{FF2B5EF4-FFF2-40B4-BE49-F238E27FC236}">
                <a16:creationId xmlns:a16="http://schemas.microsoft.com/office/drawing/2014/main" id="{BD51E095-B055-4BC3-A34C-043E787E42DC}"/>
              </a:ext>
            </a:extLst>
          </p:cNvPr>
          <p:cNvSpPr>
            <a:spLocks xmlns:a="http://schemas.openxmlformats.org/drawingml/2006/main" noGrp="1"/>
          </p:cNvSpPr>
          <p:nvPr/>
        </p:nvSpPr>
        <p:spPr>
          <a:xfrm xmlns:a="http://schemas.openxmlformats.org/drawingml/2006/main">
            <a:off x="914400" y="2667000"/>
            <a:ext cx="2647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26970"/>
                </a:solidFill>
                <a:latin typeface="Helvetica Neue"/>
                <a:ea typeface="Helvetica Neue"/>
                <a:cs typeface="Helvetica Neue"/>
              </a:defRPr>
            </a:pPr>
            <a:r>
              <a:rPr sz="1725" b="0">
                <a:solidFill>
                  <a:srgbClr val="626970"/>
                </a:solidFill>
                <a:latin typeface="Helvetica Neue"/>
                <a:ea typeface="Helvetica Neue"/>
                <a:cs typeface="Helvetica Neue"/>
              </a:rPr>
              <a:t>Project knowledge on</a:t>
            </a:r>
          </a:p>
        </p:txBody>
      </p:sp>
      <p:sp>
        <p:nvSpPr>
          <p:cNvPr id="7" name="mcp-client">
            <a:extLst xmlns:a="http://schemas.openxmlformats.org/drawingml/2006/main">
              <a:ext uri="{FF2B5EF4-FFF2-40B4-BE49-F238E27FC236}">
                <a16:creationId xmlns:a16="http://schemas.microsoft.com/office/drawing/2014/main" id="{B27C29F4-16CD-44E7-A512-2A2746B764CB}"/>
              </a:ext>
            </a:extLst>
          </p:cNvPr>
          <p:cNvSpPr>
            <a:spLocks xmlns:a="http://schemas.openxmlformats.org/drawingml/2006/main" noGrp="1"/>
          </p:cNvSpPr>
          <p:nvPr/>
        </p:nvSpPr>
        <p:spPr>
          <a:xfrm xmlns:a="http://schemas.openxmlformats.org/drawingml/2006/main">
            <a:off x="762000" y="3752850"/>
            <a:ext cx="2952750" cy="1066800"/>
          </a:xfrm>
          <a:prstGeom xmlns:a="http://schemas.openxmlformats.org/drawingml/2006/main" prst="rect">
            <a:avLst/>
          </a:prstGeom>
          <a:solidFill xmlns:a="http://schemas.openxmlformats.org/drawingml/2006/main">
            <a:srgbClr val="F4F6F8"/>
          </a:solidFill>
          <a:ln xmlns:a="http://schemas.openxmlformats.org/drawingml/2006/main" w="11430">
            <a:solidFill>
              <a:srgbClr val="A7B0BB"/>
            </a:solidFill>
          </a:ln>
        </p:spPr>
      </p:sp>
      <p:sp>
        <p:nvSpPr>
          <p:cNvPr id="8" name="mcp-client-title">
            <a:extLst xmlns:a="http://schemas.openxmlformats.org/drawingml/2006/main">
              <a:ext uri="{FF2B5EF4-FFF2-40B4-BE49-F238E27FC236}">
                <a16:creationId xmlns:a16="http://schemas.microsoft.com/office/drawing/2014/main" id="{B4AB9FCF-644F-4F73-8436-9BF784FD2F92}"/>
              </a:ext>
            </a:extLst>
          </p:cNvPr>
          <p:cNvSpPr>
            <a:spLocks xmlns:a="http://schemas.openxmlformats.org/drawingml/2006/main" noGrp="1"/>
          </p:cNvSpPr>
          <p:nvPr/>
        </p:nvSpPr>
        <p:spPr>
          <a:xfrm xmlns:a="http://schemas.openxmlformats.org/drawingml/2006/main">
            <a:off x="914400" y="3876675"/>
            <a:ext cx="2647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30343B"/>
                </a:solidFill>
                <a:latin typeface="Helvetica Neue"/>
                <a:ea typeface="Helvetica Neue"/>
                <a:cs typeface="Helvetica Neue"/>
              </a:defRPr>
            </a:pPr>
            <a:r>
              <a:rPr sz="1950" b="1">
                <a:solidFill>
                  <a:srgbClr val="30343B"/>
                </a:solidFill>
                <a:latin typeface="Helvetica Neue"/>
                <a:ea typeface="Helvetica Neue"/>
                <a:cs typeface="Helvetica Neue"/>
              </a:rPr>
              <a:t>MCP client</a:t>
            </a:r>
          </a:p>
        </p:txBody>
      </p:sp>
      <p:sp>
        <p:nvSpPr>
          <p:cNvPr id="9" name="mcp-client-body">
            <a:extLst xmlns:a="http://schemas.openxmlformats.org/drawingml/2006/main">
              <a:ext uri="{FF2B5EF4-FFF2-40B4-BE49-F238E27FC236}">
                <a16:creationId xmlns:a16="http://schemas.microsoft.com/office/drawing/2014/main" id="{65766B33-EBBD-43C1-96F7-AEA7B3C62387}"/>
              </a:ext>
            </a:extLst>
          </p:cNvPr>
          <p:cNvSpPr>
            <a:spLocks xmlns:a="http://schemas.openxmlformats.org/drawingml/2006/main" noGrp="1"/>
          </p:cNvSpPr>
          <p:nvPr/>
        </p:nvSpPr>
        <p:spPr>
          <a:xfrm xmlns:a="http://schemas.openxmlformats.org/drawingml/2006/main">
            <a:off x="914400" y="4248150"/>
            <a:ext cx="2647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26970"/>
                </a:solidFill>
                <a:latin typeface="Helvetica Neue"/>
                <a:ea typeface="Helvetica Neue"/>
                <a:cs typeface="Helvetica Neue"/>
              </a:defRPr>
            </a:pPr>
            <a:r>
              <a:rPr sz="1725" b="0">
                <a:solidFill>
                  <a:srgbClr val="626970"/>
                </a:solidFill>
                <a:latin typeface="Helvetica Neue"/>
                <a:ea typeface="Helvetica Neue"/>
                <a:cs typeface="Helvetica Neue"/>
              </a:rPr>
              <a:t>Project endpoint</a:t>
            </a:r>
          </a:p>
        </p:txBody>
      </p:sp>
      <p:sp>
        <p:nvSpPr>
          <p:cNvPr id="10" name="project-scope">
            <a:extLst xmlns:a="http://schemas.openxmlformats.org/drawingml/2006/main">
              <a:ext uri="{FF2B5EF4-FFF2-40B4-BE49-F238E27FC236}">
                <a16:creationId xmlns:a16="http://schemas.microsoft.com/office/drawing/2014/main" id="{B893FC92-86D0-43CA-94A8-ECAF635E0D6F}"/>
              </a:ext>
            </a:extLst>
          </p:cNvPr>
          <p:cNvSpPr>
            <a:spLocks xmlns:a="http://schemas.openxmlformats.org/drawingml/2006/main" noGrp="1"/>
          </p:cNvSpPr>
          <p:nvPr/>
        </p:nvSpPr>
        <p:spPr>
          <a:xfrm xmlns:a="http://schemas.openxmlformats.org/drawingml/2006/main">
            <a:off x="4619625" y="2171700"/>
            <a:ext cx="2857500" cy="876300"/>
          </a:xfrm>
          <a:prstGeom xmlns:a="http://schemas.openxmlformats.org/drawingml/2006/main" prst="rect">
            <a:avLst/>
          </a:prstGeom>
          <a:solidFill xmlns:a="http://schemas.openxmlformats.org/drawingml/2006/main">
            <a:srgbClr val="F4F6F8"/>
          </a:solidFill>
          <a:ln xmlns:a="http://schemas.openxmlformats.org/drawingml/2006/main" w="11430">
            <a:solidFill>
              <a:srgbClr val="A7B0BB"/>
            </a:solidFill>
          </a:ln>
        </p:spPr>
      </p:sp>
      <p:sp>
        <p:nvSpPr>
          <p:cNvPr id="11" name="project-scope-title">
            <a:extLst xmlns:a="http://schemas.openxmlformats.org/drawingml/2006/main">
              <a:ext uri="{FF2B5EF4-FFF2-40B4-BE49-F238E27FC236}">
                <a16:creationId xmlns:a16="http://schemas.microsoft.com/office/drawing/2014/main" id="{E733D85C-27F7-4047-95E8-C4A8F0C2B83F}"/>
              </a:ext>
            </a:extLst>
          </p:cNvPr>
          <p:cNvSpPr>
            <a:spLocks xmlns:a="http://schemas.openxmlformats.org/drawingml/2006/main" noGrp="1"/>
          </p:cNvSpPr>
          <p:nvPr/>
        </p:nvSpPr>
        <p:spPr>
          <a:xfrm xmlns:a="http://schemas.openxmlformats.org/drawingml/2006/main">
            <a:off x="4772025" y="2295525"/>
            <a:ext cx="2552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30343B"/>
                </a:solidFill>
                <a:latin typeface="Helvetica Neue"/>
                <a:ea typeface="Helvetica Neue"/>
                <a:cs typeface="Helvetica Neue"/>
              </a:defRPr>
            </a:pPr>
            <a:r>
              <a:rPr sz="1950" b="1">
                <a:solidFill>
                  <a:srgbClr val="30343B"/>
                </a:solidFill>
                <a:latin typeface="Helvetica Neue"/>
                <a:ea typeface="Helvetica Neue"/>
                <a:cs typeface="Helvetica Neue"/>
              </a:rPr>
              <a:t>Project scope</a:t>
            </a:r>
          </a:p>
        </p:txBody>
      </p:sp>
      <p:sp>
        <p:nvSpPr>
          <p:cNvPr id="12" name="project-scope-body">
            <a:extLst xmlns:a="http://schemas.openxmlformats.org/drawingml/2006/main">
              <a:ext uri="{FF2B5EF4-FFF2-40B4-BE49-F238E27FC236}">
                <a16:creationId xmlns:a16="http://schemas.microsoft.com/office/drawing/2014/main" id="{6FA263AC-C9A4-4F87-ACB1-35BFB9EBB9D3}"/>
              </a:ext>
            </a:extLst>
          </p:cNvPr>
          <p:cNvSpPr>
            <a:spLocks xmlns:a="http://schemas.openxmlformats.org/drawingml/2006/main" noGrp="1"/>
          </p:cNvSpPr>
          <p:nvPr/>
        </p:nvSpPr>
        <p:spPr>
          <a:xfrm xmlns:a="http://schemas.openxmlformats.org/drawingml/2006/main">
            <a:off x="4772025" y="2667000"/>
            <a:ext cx="2552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26970"/>
                </a:solidFill>
                <a:latin typeface="Helvetica Neue"/>
                <a:ea typeface="Helvetica Neue"/>
                <a:cs typeface="Helvetica Neue"/>
              </a:defRPr>
            </a:pPr>
            <a:r>
              <a:rPr sz="1725" b="0">
                <a:solidFill>
                  <a:srgbClr val="626970"/>
                </a:solidFill>
                <a:latin typeface="Helvetica Neue"/>
                <a:ea typeface="Helvetica Neue"/>
                <a:cs typeface="Helvetica Neue"/>
              </a:rPr>
              <a:t>Only this project</a:t>
            </a:r>
          </a:p>
        </p:txBody>
      </p:sp>
      <p:sp>
        <p:nvSpPr>
          <p:cNvPr id="13" name="cache">
            <a:extLst xmlns:a="http://schemas.openxmlformats.org/drawingml/2006/main">
              <a:ext uri="{FF2B5EF4-FFF2-40B4-BE49-F238E27FC236}">
                <a16:creationId xmlns:a16="http://schemas.microsoft.com/office/drawing/2014/main" id="{6AC0909B-407E-4BF3-B15F-F9023E6EA50C}"/>
              </a:ext>
            </a:extLst>
          </p:cNvPr>
          <p:cNvSpPr>
            <a:spLocks xmlns:a="http://schemas.openxmlformats.org/drawingml/2006/main" noGrp="1"/>
          </p:cNvSpPr>
          <p:nvPr/>
        </p:nvSpPr>
        <p:spPr>
          <a:xfrm xmlns:a="http://schemas.openxmlformats.org/drawingml/2006/main">
            <a:off x="4619625" y="3752850"/>
            <a:ext cx="2857500" cy="1066800"/>
          </a:xfrm>
          <a:prstGeom xmlns:a="http://schemas.openxmlformats.org/drawingml/2006/main" prst="rect">
            <a:avLst/>
          </a:prstGeom>
          <a:solidFill xmlns:a="http://schemas.openxmlformats.org/drawingml/2006/main">
            <a:srgbClr val="F4F6F8"/>
          </a:solidFill>
          <a:ln xmlns:a="http://schemas.openxmlformats.org/drawingml/2006/main" w="11430">
            <a:solidFill>
              <a:srgbClr val="A7B0BB"/>
            </a:solidFill>
          </a:ln>
        </p:spPr>
      </p:sp>
      <p:sp>
        <p:nvSpPr>
          <p:cNvPr id="14" name="cache-title">
            <a:extLst xmlns:a="http://schemas.openxmlformats.org/drawingml/2006/main">
              <a:ext uri="{FF2B5EF4-FFF2-40B4-BE49-F238E27FC236}">
                <a16:creationId xmlns:a16="http://schemas.microsoft.com/office/drawing/2014/main" id="{6263DC0F-4219-434C-83D9-A038333C2C42}"/>
              </a:ext>
            </a:extLst>
          </p:cNvPr>
          <p:cNvSpPr>
            <a:spLocks xmlns:a="http://schemas.openxmlformats.org/drawingml/2006/main" noGrp="1"/>
          </p:cNvSpPr>
          <p:nvPr/>
        </p:nvSpPr>
        <p:spPr>
          <a:xfrm xmlns:a="http://schemas.openxmlformats.org/drawingml/2006/main">
            <a:off x="4772025" y="3876675"/>
            <a:ext cx="2552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30343B"/>
                </a:solidFill>
                <a:latin typeface="Helvetica Neue"/>
                <a:ea typeface="Helvetica Neue"/>
                <a:cs typeface="Helvetica Neue"/>
              </a:defRPr>
            </a:pPr>
            <a:r>
              <a:rPr sz="1950" b="1">
                <a:solidFill>
                  <a:srgbClr val="30343B"/>
                </a:solidFill>
                <a:latin typeface="Helvetica Neue"/>
                <a:ea typeface="Helvetica Neue"/>
                <a:cs typeface="Helvetica Neue"/>
              </a:rPr>
              <a:t>In-memory index</a:t>
            </a:r>
          </a:p>
        </p:txBody>
      </p:sp>
      <p:sp>
        <p:nvSpPr>
          <p:cNvPr id="15" name="cache-body">
            <a:extLst xmlns:a="http://schemas.openxmlformats.org/drawingml/2006/main">
              <a:ext uri="{FF2B5EF4-FFF2-40B4-BE49-F238E27FC236}">
                <a16:creationId xmlns:a16="http://schemas.microsoft.com/office/drawing/2014/main" id="{5B6B1024-554B-43C6-A93E-46BD39A7373D}"/>
              </a:ext>
            </a:extLst>
          </p:cNvPr>
          <p:cNvSpPr>
            <a:spLocks xmlns:a="http://schemas.openxmlformats.org/drawingml/2006/main" noGrp="1"/>
          </p:cNvSpPr>
          <p:nvPr/>
        </p:nvSpPr>
        <p:spPr>
          <a:xfrm xmlns:a="http://schemas.openxmlformats.org/drawingml/2006/main">
            <a:off x="4772025" y="4248150"/>
            <a:ext cx="2552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26970"/>
                </a:solidFill>
                <a:latin typeface="Helvetica Neue"/>
                <a:ea typeface="Helvetica Neue"/>
                <a:cs typeface="Helvetica Neue"/>
              </a:defRPr>
            </a:pPr>
            <a:r>
              <a:rPr sz="1725" b="0">
                <a:solidFill>
                  <a:srgbClr val="626970"/>
                </a:solidFill>
                <a:latin typeface="Helvetica Neue"/>
                <a:ea typeface="Helvetica Neue"/>
                <a:cs typeface="Helvetica Neue"/>
              </a:rPr>
              <a:t>Reuse if unchanged</a:t>
            </a:r>
          </a:p>
          <a:p xmlns:a="http://schemas.openxmlformats.org/drawingml/2006/main">
            <a:pPr>
              <a:defRPr sz="1725" b="0">
                <a:solidFill>
                  <a:srgbClr val="626970"/>
                </a:solidFill>
                <a:latin typeface="Helvetica Neue"/>
                <a:ea typeface="Helvetica Neue"/>
                <a:cs typeface="Helvetica Neue"/>
              </a:defRPr>
            </a:pPr>
            <a:r>
              <a:rPr sz="1725" b="0">
                <a:solidFill>
                  <a:srgbClr val="626970"/>
                </a:solidFill>
                <a:latin typeface="Helvetica Neue"/>
                <a:ea typeface="Helvetica Neue"/>
                <a:cs typeface="Helvetica Neue"/>
              </a:rPr>
              <a:t>Refresh after changes</a:t>
            </a:r>
          </a:p>
        </p:txBody>
      </p:sp>
      <p:sp>
        <p:nvSpPr>
          <p:cNvPr id="16" name="rank">
            <a:extLst xmlns:a="http://schemas.openxmlformats.org/drawingml/2006/main">
              <a:ext uri="{FF2B5EF4-FFF2-40B4-BE49-F238E27FC236}">
                <a16:creationId xmlns:a16="http://schemas.microsoft.com/office/drawing/2014/main" id="{80F519B3-CDCF-4D83-AD60-1853829C3297}"/>
              </a:ext>
            </a:extLst>
          </p:cNvPr>
          <p:cNvSpPr>
            <a:spLocks xmlns:a="http://schemas.openxmlformats.org/drawingml/2006/main" noGrp="1"/>
          </p:cNvSpPr>
          <p:nvPr/>
        </p:nvSpPr>
        <p:spPr>
          <a:xfrm xmlns:a="http://schemas.openxmlformats.org/drawingml/2006/main">
            <a:off x="8572500" y="3752850"/>
            <a:ext cx="2857500" cy="1066800"/>
          </a:xfrm>
          <a:prstGeom xmlns:a="http://schemas.openxmlformats.org/drawingml/2006/main" prst="rect">
            <a:avLst/>
          </a:prstGeom>
          <a:solidFill xmlns:a="http://schemas.openxmlformats.org/drawingml/2006/main">
            <a:srgbClr val="F4F6F8"/>
          </a:solidFill>
          <a:ln xmlns:a="http://schemas.openxmlformats.org/drawingml/2006/main" w="11430">
            <a:solidFill>
              <a:srgbClr val="A7B0BB"/>
            </a:solidFill>
          </a:ln>
        </p:spPr>
      </p:sp>
      <p:sp>
        <p:nvSpPr>
          <p:cNvPr id="17" name="rank-title">
            <a:extLst xmlns:a="http://schemas.openxmlformats.org/drawingml/2006/main">
              <a:ext uri="{FF2B5EF4-FFF2-40B4-BE49-F238E27FC236}">
                <a16:creationId xmlns:a16="http://schemas.microsoft.com/office/drawing/2014/main" id="{2FF1F1D6-F155-4485-9046-A8050472370F}"/>
              </a:ext>
            </a:extLst>
          </p:cNvPr>
          <p:cNvSpPr>
            <a:spLocks xmlns:a="http://schemas.openxmlformats.org/drawingml/2006/main" noGrp="1"/>
          </p:cNvSpPr>
          <p:nvPr/>
        </p:nvSpPr>
        <p:spPr>
          <a:xfrm xmlns:a="http://schemas.openxmlformats.org/drawingml/2006/main">
            <a:off x="8724900" y="3876675"/>
            <a:ext cx="2552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30343B"/>
                </a:solidFill>
                <a:latin typeface="Helvetica Neue"/>
                <a:ea typeface="Helvetica Neue"/>
                <a:cs typeface="Helvetica Neue"/>
              </a:defRPr>
            </a:pPr>
            <a:r>
              <a:rPr sz="1950" b="1">
                <a:solidFill>
                  <a:srgbClr val="30343B"/>
                </a:solidFill>
                <a:latin typeface="Helvetica Neue"/>
                <a:ea typeface="Helvetica Neue"/>
                <a:cs typeface="Helvetica Neue"/>
              </a:rPr>
              <a:t>Rank passages</a:t>
            </a:r>
          </a:p>
        </p:txBody>
      </p:sp>
      <p:sp>
        <p:nvSpPr>
          <p:cNvPr id="18" name="rank-body">
            <a:extLst xmlns:a="http://schemas.openxmlformats.org/drawingml/2006/main">
              <a:ext uri="{FF2B5EF4-FFF2-40B4-BE49-F238E27FC236}">
                <a16:creationId xmlns:a16="http://schemas.microsoft.com/office/drawing/2014/main" id="{3BA226DA-4C55-4CA5-962C-39E9E0DB57EE}"/>
              </a:ext>
            </a:extLst>
          </p:cNvPr>
          <p:cNvSpPr>
            <a:spLocks xmlns:a="http://schemas.openxmlformats.org/drawingml/2006/main" noGrp="1"/>
          </p:cNvSpPr>
          <p:nvPr/>
        </p:nvSpPr>
        <p:spPr>
          <a:xfrm xmlns:a="http://schemas.openxmlformats.org/drawingml/2006/main">
            <a:off x="8724900" y="4248150"/>
            <a:ext cx="2552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26970"/>
                </a:solidFill>
                <a:latin typeface="Helvetica Neue"/>
                <a:ea typeface="Helvetica Neue"/>
                <a:cs typeface="Helvetica Neue"/>
              </a:defRPr>
            </a:pPr>
            <a:r>
              <a:rPr sz="1725" b="0">
                <a:solidFill>
                  <a:srgbClr val="626970"/>
                </a:solidFill>
                <a:latin typeface="Helvetica Neue"/>
                <a:ea typeface="Helvetica Neue"/>
                <a:cs typeface="Helvetica Neue"/>
              </a:rPr>
              <a:t>Keyword / BM25-style</a:t>
            </a:r>
          </a:p>
          <a:p xmlns:a="http://schemas.openxmlformats.org/drawingml/2006/main">
            <a:pPr>
              <a:defRPr sz="1725" b="0">
                <a:solidFill>
                  <a:srgbClr val="626970"/>
                </a:solidFill>
                <a:latin typeface="Helvetica Neue"/>
                <a:ea typeface="Helvetica Neue"/>
                <a:cs typeface="Helvetica Neue"/>
              </a:defRPr>
            </a:pPr>
            <a:r>
              <a:rPr sz="1725" b="0">
                <a:solidFill>
                  <a:srgbClr val="626970"/>
                </a:solidFill>
                <a:latin typeface="Helvetica Neue"/>
                <a:ea typeface="Helvetica Neue"/>
                <a:cs typeface="Helvetica Neue"/>
              </a:rPr>
              <a:t>Remove duplicates</a:t>
            </a:r>
          </a:p>
        </p:txBody>
      </p:sp>
      <p:sp>
        <p:nvSpPr>
          <p:cNvPr id="19" name="evidence">
            <a:extLst xmlns:a="http://schemas.openxmlformats.org/drawingml/2006/main">
              <a:ext uri="{FF2B5EF4-FFF2-40B4-BE49-F238E27FC236}">
                <a16:creationId xmlns:a16="http://schemas.microsoft.com/office/drawing/2014/main" id="{ECB6CE91-9A6E-402E-80BB-22189B724316}"/>
              </a:ext>
            </a:extLst>
          </p:cNvPr>
          <p:cNvSpPr>
            <a:spLocks xmlns:a="http://schemas.openxmlformats.org/drawingml/2006/main" noGrp="1"/>
          </p:cNvSpPr>
          <p:nvPr/>
        </p:nvSpPr>
        <p:spPr>
          <a:xfrm xmlns:a="http://schemas.openxmlformats.org/drawingml/2006/main">
            <a:off x="8572500" y="5238750"/>
            <a:ext cx="2857500" cy="1009650"/>
          </a:xfrm>
          <a:prstGeom xmlns:a="http://schemas.openxmlformats.org/drawingml/2006/main" prst="rect">
            <a:avLst/>
          </a:prstGeom>
          <a:solidFill xmlns:a="http://schemas.openxmlformats.org/drawingml/2006/main">
            <a:srgbClr val="F4F6F8"/>
          </a:solidFill>
          <a:ln xmlns:a="http://schemas.openxmlformats.org/drawingml/2006/main" w="11430">
            <a:solidFill>
              <a:srgbClr val="A7B0BB"/>
            </a:solidFill>
          </a:ln>
        </p:spPr>
      </p:sp>
      <p:sp>
        <p:nvSpPr>
          <p:cNvPr id="20" name="evidence-title">
            <a:extLst xmlns:a="http://schemas.openxmlformats.org/drawingml/2006/main">
              <a:ext uri="{FF2B5EF4-FFF2-40B4-BE49-F238E27FC236}">
                <a16:creationId xmlns:a16="http://schemas.microsoft.com/office/drawing/2014/main" id="{986D9F21-2CB5-4031-BC53-5500EB17D4C4}"/>
              </a:ext>
            </a:extLst>
          </p:cNvPr>
          <p:cNvSpPr>
            <a:spLocks xmlns:a="http://schemas.openxmlformats.org/drawingml/2006/main" noGrp="1"/>
          </p:cNvSpPr>
          <p:nvPr/>
        </p:nvSpPr>
        <p:spPr>
          <a:xfrm xmlns:a="http://schemas.openxmlformats.org/drawingml/2006/main">
            <a:off x="8724900" y="5362575"/>
            <a:ext cx="2552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30343B"/>
                </a:solidFill>
                <a:latin typeface="Helvetica Neue"/>
                <a:ea typeface="Helvetica Neue"/>
                <a:cs typeface="Helvetica Neue"/>
              </a:defRPr>
            </a:pPr>
            <a:r>
              <a:rPr sz="1950" b="1">
                <a:solidFill>
                  <a:srgbClr val="30343B"/>
                </a:solidFill>
                <a:latin typeface="Helvetica Neue"/>
                <a:ea typeface="Helvetica Neue"/>
                <a:cs typeface="Helvetica Neue"/>
              </a:rPr>
              <a:t>Retrieved excerpts</a:t>
            </a:r>
          </a:p>
        </p:txBody>
      </p:sp>
      <p:sp>
        <p:nvSpPr>
          <p:cNvPr id="21" name="evidence-body">
            <a:extLst xmlns:a="http://schemas.openxmlformats.org/drawingml/2006/main">
              <a:ext uri="{FF2B5EF4-FFF2-40B4-BE49-F238E27FC236}">
                <a16:creationId xmlns:a16="http://schemas.microsoft.com/office/drawing/2014/main" id="{0731A95B-A17A-4E7F-AE34-5905857096E5}"/>
              </a:ext>
            </a:extLst>
          </p:cNvPr>
          <p:cNvSpPr>
            <a:spLocks xmlns:a="http://schemas.openxmlformats.org/drawingml/2006/main" noGrp="1"/>
          </p:cNvSpPr>
          <p:nvPr/>
        </p:nvSpPr>
        <p:spPr>
          <a:xfrm xmlns:a="http://schemas.openxmlformats.org/drawingml/2006/main">
            <a:off x="8724900" y="5734050"/>
            <a:ext cx="25527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26970"/>
                </a:solidFill>
                <a:latin typeface="Helvetica Neue"/>
                <a:ea typeface="Helvetica Neue"/>
                <a:cs typeface="Helvetica Neue"/>
              </a:defRPr>
            </a:pPr>
            <a:r>
              <a:rPr sz="1725" b="0">
                <a:solidFill>
                  <a:srgbClr val="626970"/>
                </a:solidFill>
                <a:latin typeface="Helvetica Neue"/>
                <a:ea typeface="Helvetica Neue"/>
                <a:cs typeface="Helvetica Neue"/>
              </a:rPr>
              <a:t>Source, version, offsets</a:t>
            </a:r>
          </a:p>
        </p:txBody>
      </p:sp>
      <p:cxnSp>
        <p:nvCxnSpPr>
          <p:cNvPr id="50" name=""/>
          <p:cNvCxnSpPr>
            <a:stCxn xmlns:a="http://schemas.openxmlformats.org/drawingml/2006/main" id="4" idx="3"/>
            <a:endCxn xmlns:a="http://schemas.openxmlformats.org/drawingml/2006/main" id="10" idx="1"/>
          </p:cNvCxnSpPr>
          <p:nvPr/>
        </p:nvCxnSpPr>
        <p:spPr>
          <a:xfrm xmlns:a="http://schemas.openxmlformats.org/drawingml/2006/main">
            <a:off x="3714750" y="2609850"/>
            <a:ext cx="904875" cy="0"/>
          </a:xfrm>
          <a:prstGeom xmlns:a="http://schemas.openxmlformats.org/drawingml/2006/main" prst="straightConnector1">
            <a:avLst/>
          </a:prstGeom>
          <a:ln xmlns:a="http://schemas.openxmlformats.org/drawingml/2006/main" w="17145">
            <a:solidFill>
              <a:srgbClr val="334A68"/>
            </a:solidFill>
            <a:prstDash val="solid"/>
            <a:tailEnd type="triangle" w="sm" len="sm"/>
          </a:ln>
        </p:spPr>
      </p:cxnSp>
      <p:cxnSp>
        <p:nvCxnSpPr>
          <p:cNvPr id="51" name=""/>
          <p:cNvCxnSpPr>
            <a:stCxn xmlns:a="http://schemas.openxmlformats.org/drawingml/2006/main" id="7" idx="3"/>
            <a:endCxn xmlns:a="http://schemas.openxmlformats.org/drawingml/2006/main" id="10" idx="1"/>
          </p:cNvCxnSpPr>
          <p:nvPr/>
        </p:nvCxnSpPr>
        <p:spPr>
          <a:xfrm xmlns:a="http://schemas.openxmlformats.org/drawingml/2006/main" flipV="1">
            <a:off x="3714750" y="2609850"/>
            <a:ext cx="904875" cy="1676400"/>
          </a:xfrm>
          <a:prstGeom xmlns:a="http://schemas.openxmlformats.org/drawingml/2006/main" prst="bentConnector3">
            <a:avLst>
              <a:gd name="adj1" fmla="val 50000"/>
            </a:avLst>
          </a:prstGeom>
          <a:ln xmlns:a="http://schemas.openxmlformats.org/drawingml/2006/main" w="17145">
            <a:solidFill>
              <a:srgbClr val="334A68"/>
            </a:solidFill>
            <a:prstDash val="solid"/>
            <a:tailEnd type="triangle" w="sm" len="sm"/>
          </a:ln>
        </p:spPr>
      </p:cxnSp>
      <p:cxnSp>
        <p:nvCxnSpPr>
          <p:cNvPr id="52" name=""/>
          <p:cNvCxnSpPr>
            <a:stCxn xmlns:a="http://schemas.openxmlformats.org/drawingml/2006/main" id="10" idx="2"/>
            <a:endCxn xmlns:a="http://schemas.openxmlformats.org/drawingml/2006/main" id="13" idx="0"/>
          </p:cNvCxnSpPr>
          <p:nvPr/>
        </p:nvCxnSpPr>
        <p:spPr>
          <a:xfrm xmlns:a="http://schemas.openxmlformats.org/drawingml/2006/main">
            <a:off x="6048375" y="3048000"/>
            <a:ext cx="0" cy="704850"/>
          </a:xfrm>
          <a:prstGeom xmlns:a="http://schemas.openxmlformats.org/drawingml/2006/main" prst="straightConnector1">
            <a:avLst/>
          </a:prstGeom>
          <a:ln xmlns:a="http://schemas.openxmlformats.org/drawingml/2006/main" w="17145">
            <a:solidFill>
              <a:srgbClr val="334A68"/>
            </a:solidFill>
            <a:prstDash val="solid"/>
            <a:tailEnd type="triangle" w="sm" len="sm"/>
          </a:ln>
        </p:spPr>
      </p:cxnSp>
      <p:cxnSp>
        <p:nvCxnSpPr>
          <p:cNvPr id="53" name=""/>
          <p:cNvCxnSpPr>
            <a:stCxn xmlns:a="http://schemas.openxmlformats.org/drawingml/2006/main" id="13" idx="3"/>
            <a:endCxn xmlns:a="http://schemas.openxmlformats.org/drawingml/2006/main" id="16" idx="1"/>
          </p:cNvCxnSpPr>
          <p:nvPr/>
        </p:nvCxnSpPr>
        <p:spPr>
          <a:xfrm xmlns:a="http://schemas.openxmlformats.org/drawingml/2006/main">
            <a:off x="7477125" y="4286250"/>
            <a:ext cx="1095375" cy="0"/>
          </a:xfrm>
          <a:prstGeom xmlns:a="http://schemas.openxmlformats.org/drawingml/2006/main" prst="straightConnector1">
            <a:avLst/>
          </a:prstGeom>
          <a:ln xmlns:a="http://schemas.openxmlformats.org/drawingml/2006/main" w="17145">
            <a:solidFill>
              <a:srgbClr val="334A68"/>
            </a:solidFill>
            <a:prstDash val="solid"/>
            <a:tailEnd type="triangle" w="sm" len="sm"/>
          </a:ln>
        </p:spPr>
      </p:cxnSp>
      <p:cxnSp>
        <p:nvCxnSpPr>
          <p:cNvPr id="54" name=""/>
          <p:cNvCxnSpPr>
            <a:stCxn xmlns:a="http://schemas.openxmlformats.org/drawingml/2006/main" id="16" idx="2"/>
            <a:endCxn xmlns:a="http://schemas.openxmlformats.org/drawingml/2006/main" id="19" idx="0"/>
          </p:cNvCxnSpPr>
          <p:nvPr/>
        </p:nvCxnSpPr>
        <p:spPr>
          <a:xfrm xmlns:a="http://schemas.openxmlformats.org/drawingml/2006/main">
            <a:off x="10001250" y="4819650"/>
            <a:ext cx="0" cy="419100"/>
          </a:xfrm>
          <a:prstGeom xmlns:a="http://schemas.openxmlformats.org/drawingml/2006/main" prst="straightConnector1">
            <a:avLst/>
          </a:prstGeom>
          <a:ln xmlns:a="http://schemas.openxmlformats.org/drawingml/2006/main" w="17145">
            <a:solidFill>
              <a:srgbClr val="334A68"/>
            </a:solidFill>
            <a:prstDash val="solid"/>
            <a:tailEnd type="triangle" w="sm" len="sm"/>
          </a:ln>
        </p:spPr>
      </p:cxnSp>
      <p:sp>
        <p:nvSpPr>
          <p:cNvPr id="27" name="text">
            <a:extLst xmlns:a="http://schemas.openxmlformats.org/drawingml/2006/main">
              <a:ext uri="{FF2B5EF4-FFF2-40B4-BE49-F238E27FC236}">
                <a16:creationId xmlns:a16="http://schemas.microsoft.com/office/drawing/2014/main" id="{9DC9D7A8-DA94-4239-A0ED-94943803298B}"/>
              </a:ext>
            </a:extLst>
          </p:cNvPr>
          <p:cNvSpPr>
            <a:spLocks xmlns:a="http://schemas.openxmlformats.org/drawingml/2006/main" noGrp="1"/>
          </p:cNvSpPr>
          <p:nvPr/>
        </p:nvSpPr>
        <p:spPr>
          <a:xfrm xmlns:a="http://schemas.openxmlformats.org/drawingml/2006/main">
            <a:off x="762000" y="5305425"/>
            <a:ext cx="69056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0343B"/>
                </a:solidFill>
                <a:latin typeface="Helvetica Neue"/>
                <a:ea typeface="Helvetica Neue"/>
                <a:cs typeface="Helvetica Neue"/>
              </a:defRPr>
            </a:pPr>
            <a:r>
              <a:rPr sz="2025" b="0">
                <a:solidFill>
                  <a:srgbClr val="30343B"/>
                </a:solidFill>
                <a:latin typeface="Helvetica Neue"/>
                <a:ea typeface="Helvetica Neue"/>
                <a:cs typeface="Helvetica Neue"/>
              </a:rPr>
              <a:t>Agents: up to 1,500 extra context tokens.</a:t>
            </a:r>
          </a:p>
          <a:p xmlns:a="http://schemas.openxmlformats.org/drawingml/2006/main">
            <a:pPr>
              <a:defRPr sz="2025" b="0">
                <a:solidFill>
                  <a:srgbClr val="30343B"/>
                </a:solidFill>
                <a:latin typeface="Helvetica Neue"/>
                <a:ea typeface="Helvetica Neue"/>
                <a:cs typeface="Helvetica Neue"/>
              </a:defRPr>
            </a:pPr>
            <a:r>
              <a:rPr sz="2025" b="0">
                <a:solidFill>
                  <a:srgbClr val="30343B"/>
                </a:solidFill>
                <a:latin typeface="Helvetica Neue"/>
                <a:ea typeface="Helvetica Neue"/>
                <a:cs typeface="Helvetica Neue"/>
              </a:rPr>
              <a:t>MCP: search, then read full sources by ID.</a:t>
            </a:r>
          </a:p>
        </p:txBody>
      </p:sp>
      <p:sp>
        <p:nvSpPr>
          <p:cNvPr id="28" name="text">
            <a:extLst xmlns:a="http://schemas.openxmlformats.org/drawingml/2006/main">
              <a:ext uri="{FF2B5EF4-FFF2-40B4-BE49-F238E27FC236}">
                <a16:creationId xmlns:a16="http://schemas.microsoft.com/office/drawing/2014/main" id="{CD4D71A7-0946-4139-B6BC-F8C56A2C7C5F}"/>
              </a:ext>
            </a:extLst>
          </p:cNvPr>
          <p:cNvSpPr>
            <a:spLocks xmlns:a="http://schemas.openxmlformats.org/drawingml/2006/main" noGrp="1"/>
          </p:cNvSpPr>
          <p:nvPr/>
        </p:nvSpPr>
        <p:spPr>
          <a:xfrm xmlns:a="http://schemas.openxmlformats.org/drawingml/2006/main">
            <a:off x="762000" y="6353175"/>
            <a:ext cx="10239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626970"/>
                </a:solidFill>
                <a:latin typeface="Helvetica Neue"/>
                <a:ea typeface="Helvetica Neue"/>
                <a:cs typeface="Helvetica Neue"/>
              </a:defRPr>
            </a:pPr>
            <a:r>
              <a:rPr sz="1425" b="0">
                <a:solidFill>
                  <a:srgbClr val="626970"/>
                </a:solidFill>
                <a:latin typeface="Helvetica Neue"/>
                <a:ea typeface="Helvetica Neue"/>
                <a:cs typeface="Helvetica Neue"/>
              </a:rPr>
              <a:t>Current retrieval is lexical. It adds no embedding or model call.</a:t>
            </a:r>
          </a:p>
        </p:txBody>
      </p:sp>
    </p:spTree>
    <p:extLst>
      <p:ext uri="{BB962C8B-B14F-4D97-AF65-F5344CB8AC3E}">
        <p14:creationId xmlns:p14="http://schemas.microsoft.com/office/powerpoint/2010/main" val="45378595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slide-title">
            <a:extLst xmlns:a="http://schemas.openxmlformats.org/drawingml/2006/main">
              <a:ext uri="{FF2B5EF4-FFF2-40B4-BE49-F238E27FC236}">
                <a16:creationId xmlns:a16="http://schemas.microsoft.com/office/drawing/2014/main" id="{68BF5843-6F4F-43C9-9F56-ECAA973D610C}"/>
              </a:ext>
            </a:extLst>
          </p:cNvPr>
          <p:cNvSpPr>
            <a:spLocks xmlns:a="http://schemas.openxmlformats.org/drawingml/2006/main" noGrp="1"/>
          </p:cNvSpPr>
          <p:nvPr/>
        </p:nvSpPr>
        <p:spPr>
          <a:xfrm xmlns:a="http://schemas.openxmlformats.org/drawingml/2006/main">
            <a:off x="762000" y="5429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334A68"/>
                </a:solidFill>
                <a:latin typeface="Helvetica Neue"/>
                <a:ea typeface="Helvetica Neue"/>
                <a:cs typeface="Helvetica Neue"/>
              </a:defRPr>
            </a:pPr>
            <a:r>
              <a:rPr sz="3150" b="1">
                <a:solidFill>
                  <a:srgbClr val="334A68"/>
                </a:solidFill>
                <a:latin typeface="Helvetica Neue"/>
                <a:ea typeface="Helvetica Neue"/>
                <a:cs typeface="Helvetica Neue"/>
              </a:rPr>
              <a:t>Appendix D. What carries into the next request</a:t>
            </a:r>
          </a:p>
        </p:txBody>
      </p:sp>
      <p:sp>
        <p:nvSpPr>
          <p:cNvPr id="2" name="subtitle">
            <a:extLst xmlns:a="http://schemas.openxmlformats.org/drawingml/2006/main">
              <a:ext uri="{FF2B5EF4-FFF2-40B4-BE49-F238E27FC236}">
                <a16:creationId xmlns:a16="http://schemas.microsoft.com/office/drawing/2014/main" id="{6B29511C-E015-4DF2-84B1-D1D5A1980B19}"/>
              </a:ext>
            </a:extLst>
          </p:cNvPr>
          <p:cNvSpPr>
            <a:spLocks xmlns:a="http://schemas.openxmlformats.org/drawingml/2006/main" noGrp="1"/>
          </p:cNvSpPr>
          <p:nvPr/>
        </p:nvSpPr>
        <p:spPr>
          <a:xfrm xmlns:a="http://schemas.openxmlformats.org/drawingml/2006/main">
            <a:off x="762000" y="13525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626970"/>
                </a:solidFill>
                <a:latin typeface="Helvetica Neue"/>
                <a:ea typeface="Helvetica Neue"/>
                <a:cs typeface="Helvetica Neue"/>
              </a:defRPr>
            </a:pPr>
            <a:r>
              <a:rPr sz="2025" b="0">
                <a:solidFill>
                  <a:srgbClr val="626970"/>
                </a:solidFill>
                <a:latin typeface="Helvetica Neue"/>
                <a:ea typeface="Helvetica Neue"/>
                <a:cs typeface="Helvetica Neue"/>
              </a:rPr>
              <a:t>The task ID stays the same. Each new message gets its own turn ID.</a:t>
            </a:r>
          </a:p>
        </p:txBody>
      </p:sp>
      <p:sp>
        <p:nvSpPr>
          <p:cNvPr id="3" name="page-number">
            <a:extLst xmlns:a="http://schemas.openxmlformats.org/drawingml/2006/main">
              <a:ext uri="{FF2B5EF4-FFF2-40B4-BE49-F238E27FC236}">
                <a16:creationId xmlns:a16="http://schemas.microsoft.com/office/drawing/2014/main" id="{A0E55247-61AE-4A54-A5E4-E239A4310873}"/>
              </a:ext>
            </a:extLst>
          </p:cNvPr>
          <p:cNvSpPr>
            <a:spLocks xmlns:a="http://schemas.openxmlformats.org/drawingml/2006/main" noGrp="1"/>
          </p:cNvSpPr>
          <p:nvPr/>
        </p:nvSpPr>
        <p:spPr>
          <a:xfrm xmlns:a="http://schemas.openxmlformats.org/drawingml/2006/main">
            <a:off x="11163300" y="63817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626970"/>
                </a:solidFill>
                <a:latin typeface="Helvetica Neue"/>
                <a:ea typeface="Helvetica Neue"/>
                <a:cs typeface="Helvetica Neue"/>
              </a:defRPr>
            </a:pPr>
            <a:r>
              <a:rPr sz="1350" b="0">
                <a:solidFill>
                  <a:srgbClr val="626970"/>
                </a:solidFill>
                <a:latin typeface="Helvetica Neue"/>
                <a:ea typeface="Helvetica Neue"/>
                <a:cs typeface="Helvetica Neue"/>
              </a:rPr>
              <a:t>10</a:t>
            </a:r>
          </a:p>
        </p:txBody>
      </p:sp>
      <p:sp>
        <p:nvSpPr>
          <p:cNvPr id="4" name="history">
            <a:extLst xmlns:a="http://schemas.openxmlformats.org/drawingml/2006/main">
              <a:ext uri="{FF2B5EF4-FFF2-40B4-BE49-F238E27FC236}">
                <a16:creationId xmlns:a16="http://schemas.microsoft.com/office/drawing/2014/main" id="{C1B85740-557A-4DCE-8115-DFAE24FFA714}"/>
              </a:ext>
            </a:extLst>
          </p:cNvPr>
          <p:cNvSpPr>
            <a:spLocks xmlns:a="http://schemas.openxmlformats.org/drawingml/2006/main" noGrp="1"/>
          </p:cNvSpPr>
          <p:nvPr/>
        </p:nvSpPr>
        <p:spPr>
          <a:xfrm xmlns:a="http://schemas.openxmlformats.org/drawingml/2006/main">
            <a:off x="762000" y="2305050"/>
            <a:ext cx="3143250" cy="1238250"/>
          </a:xfrm>
          <a:prstGeom xmlns:a="http://schemas.openxmlformats.org/drawingml/2006/main" prst="rect">
            <a:avLst/>
          </a:prstGeom>
          <a:solidFill xmlns:a="http://schemas.openxmlformats.org/drawingml/2006/main">
            <a:srgbClr val="F4F6F8"/>
          </a:solidFill>
          <a:ln xmlns:a="http://schemas.openxmlformats.org/drawingml/2006/main" w="11430">
            <a:solidFill>
              <a:srgbClr val="A7B0BB"/>
            </a:solidFill>
          </a:ln>
        </p:spPr>
      </p:sp>
      <p:sp>
        <p:nvSpPr>
          <p:cNvPr id="5" name="history-title">
            <a:extLst xmlns:a="http://schemas.openxmlformats.org/drawingml/2006/main">
              <a:ext uri="{FF2B5EF4-FFF2-40B4-BE49-F238E27FC236}">
                <a16:creationId xmlns:a16="http://schemas.microsoft.com/office/drawing/2014/main" id="{2C4812AE-A7A1-478C-BDBD-66382C5AB3CE}"/>
              </a:ext>
            </a:extLst>
          </p:cNvPr>
          <p:cNvSpPr>
            <a:spLocks xmlns:a="http://schemas.openxmlformats.org/drawingml/2006/main" noGrp="1"/>
          </p:cNvSpPr>
          <p:nvPr/>
        </p:nvSpPr>
        <p:spPr>
          <a:xfrm xmlns:a="http://schemas.openxmlformats.org/drawingml/2006/main">
            <a:off x="914400" y="2428875"/>
            <a:ext cx="28384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30343B"/>
                </a:solidFill>
                <a:latin typeface="Helvetica Neue"/>
                <a:ea typeface="Helvetica Neue"/>
                <a:cs typeface="Helvetica Neue"/>
              </a:defRPr>
            </a:pPr>
            <a:r>
              <a:rPr sz="1950" b="1">
                <a:solidFill>
                  <a:srgbClr val="30343B"/>
                </a:solidFill>
                <a:latin typeface="Helvetica Neue"/>
                <a:ea typeface="Helvetica Neue"/>
                <a:cs typeface="Helvetica Neue"/>
              </a:rPr>
              <a:t>Task history</a:t>
            </a:r>
          </a:p>
        </p:txBody>
      </p:sp>
      <p:sp>
        <p:nvSpPr>
          <p:cNvPr id="6" name="history-body">
            <a:extLst xmlns:a="http://schemas.openxmlformats.org/drawingml/2006/main">
              <a:ext uri="{FF2B5EF4-FFF2-40B4-BE49-F238E27FC236}">
                <a16:creationId xmlns:a16="http://schemas.microsoft.com/office/drawing/2014/main" id="{9FF0C852-9BD9-44F6-A57B-22CEAE4A345F}"/>
              </a:ext>
            </a:extLst>
          </p:cNvPr>
          <p:cNvSpPr>
            <a:spLocks xmlns:a="http://schemas.openxmlformats.org/drawingml/2006/main" noGrp="1"/>
          </p:cNvSpPr>
          <p:nvPr/>
        </p:nvSpPr>
        <p:spPr>
          <a:xfrm xmlns:a="http://schemas.openxmlformats.org/drawingml/2006/main">
            <a:off x="914400" y="2800350"/>
            <a:ext cx="2838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26970"/>
                </a:solidFill>
                <a:latin typeface="Helvetica Neue"/>
                <a:ea typeface="Helvetica Neue"/>
                <a:cs typeface="Helvetica Neue"/>
              </a:defRPr>
            </a:pPr>
            <a:r>
              <a:rPr sz="1725" b="0">
                <a:solidFill>
                  <a:srgbClr val="626970"/>
                </a:solidFill>
                <a:latin typeface="Helvetica Neue"/>
                <a:ea typeface="Helvetica Neue"/>
                <a:cs typeface="Helvetica Neue"/>
              </a:rPr>
              <a:t>Latest request + selected</a:t>
            </a:r>
          </a:p>
          <a:p xmlns:a="http://schemas.openxmlformats.org/drawingml/2006/main">
            <a:pPr>
              <a:defRPr sz="1725" b="0">
                <a:solidFill>
                  <a:srgbClr val="626970"/>
                </a:solidFill>
                <a:latin typeface="Helvetica Neue"/>
                <a:ea typeface="Helvetica Neue"/>
                <a:cs typeface="Helvetica Neue"/>
              </a:defRPr>
            </a:pPr>
            <a:r>
              <a:rPr sz="1725" b="0">
                <a:solidFill>
                  <a:srgbClr val="626970"/>
                </a:solidFill>
                <a:latin typeface="Helvetica Neue"/>
                <a:ea typeface="Helvetica Neue"/>
                <a:cs typeface="Helvetica Neue"/>
              </a:rPr>
              <a:t>earlier exchanges</a:t>
            </a:r>
          </a:p>
        </p:txBody>
      </p:sp>
      <p:sp>
        <p:nvSpPr>
          <p:cNvPr id="7" name="handoffs">
            <a:extLst xmlns:a="http://schemas.openxmlformats.org/drawingml/2006/main">
              <a:ext uri="{FF2B5EF4-FFF2-40B4-BE49-F238E27FC236}">
                <a16:creationId xmlns:a16="http://schemas.microsoft.com/office/drawing/2014/main" id="{7675CD1F-2BA0-4F4A-81C0-6C81D2AE4C99}"/>
              </a:ext>
            </a:extLst>
          </p:cNvPr>
          <p:cNvSpPr>
            <a:spLocks xmlns:a="http://schemas.openxmlformats.org/drawingml/2006/main" noGrp="1"/>
          </p:cNvSpPr>
          <p:nvPr/>
        </p:nvSpPr>
        <p:spPr>
          <a:xfrm xmlns:a="http://schemas.openxmlformats.org/drawingml/2006/main">
            <a:off x="4524375" y="2305050"/>
            <a:ext cx="3143250" cy="1238250"/>
          </a:xfrm>
          <a:prstGeom xmlns:a="http://schemas.openxmlformats.org/drawingml/2006/main" prst="rect">
            <a:avLst/>
          </a:prstGeom>
          <a:solidFill xmlns:a="http://schemas.openxmlformats.org/drawingml/2006/main">
            <a:srgbClr val="F4F6F8"/>
          </a:solidFill>
          <a:ln xmlns:a="http://schemas.openxmlformats.org/drawingml/2006/main" w="11430">
            <a:solidFill>
              <a:srgbClr val="A7B0BB"/>
            </a:solidFill>
          </a:ln>
        </p:spPr>
      </p:sp>
      <p:sp>
        <p:nvSpPr>
          <p:cNvPr id="8" name="handoffs-title">
            <a:extLst xmlns:a="http://schemas.openxmlformats.org/drawingml/2006/main">
              <a:ext uri="{FF2B5EF4-FFF2-40B4-BE49-F238E27FC236}">
                <a16:creationId xmlns:a16="http://schemas.microsoft.com/office/drawing/2014/main" id="{0588A9F5-B662-4CF9-B4A4-AD59D8815EBE}"/>
              </a:ext>
            </a:extLst>
          </p:cNvPr>
          <p:cNvSpPr>
            <a:spLocks xmlns:a="http://schemas.openxmlformats.org/drawingml/2006/main" noGrp="1"/>
          </p:cNvSpPr>
          <p:nvPr/>
        </p:nvSpPr>
        <p:spPr>
          <a:xfrm xmlns:a="http://schemas.openxmlformats.org/drawingml/2006/main">
            <a:off x="4676775" y="2428875"/>
            <a:ext cx="28384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30343B"/>
                </a:solidFill>
                <a:latin typeface="Helvetica Neue"/>
                <a:ea typeface="Helvetica Neue"/>
                <a:cs typeface="Helvetica Neue"/>
              </a:defRPr>
            </a:pPr>
            <a:r>
              <a:rPr sz="1950" b="1">
                <a:solidFill>
                  <a:srgbClr val="30343B"/>
                </a:solidFill>
                <a:latin typeface="Helvetica Neue"/>
                <a:ea typeface="Helvetica Neue"/>
                <a:cs typeface="Helvetica Neue"/>
              </a:rPr>
              <a:t>Agent context</a:t>
            </a:r>
          </a:p>
        </p:txBody>
      </p:sp>
      <p:sp>
        <p:nvSpPr>
          <p:cNvPr id="9" name="handoffs-body">
            <a:extLst xmlns:a="http://schemas.openxmlformats.org/drawingml/2006/main">
              <a:ext uri="{FF2B5EF4-FFF2-40B4-BE49-F238E27FC236}">
                <a16:creationId xmlns:a16="http://schemas.microsoft.com/office/drawing/2014/main" id="{85FB1000-D95A-42AA-9B20-6FF7B306E576}"/>
              </a:ext>
            </a:extLst>
          </p:cNvPr>
          <p:cNvSpPr>
            <a:spLocks xmlns:a="http://schemas.openxmlformats.org/drawingml/2006/main" noGrp="1"/>
          </p:cNvSpPr>
          <p:nvPr/>
        </p:nvSpPr>
        <p:spPr>
          <a:xfrm xmlns:a="http://schemas.openxmlformats.org/drawingml/2006/main">
            <a:off x="4676775" y="2800350"/>
            <a:ext cx="2838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26970"/>
                </a:solidFill>
                <a:latin typeface="Helvetica Neue"/>
                <a:ea typeface="Helvetica Neue"/>
                <a:cs typeface="Helvetica Neue"/>
              </a:defRPr>
            </a:pPr>
            <a:r>
              <a:rPr sz="1725" b="0">
                <a:solidFill>
                  <a:srgbClr val="626970"/>
                </a:solidFill>
                <a:latin typeface="Helvetica Neue"/>
                <a:ea typeface="Helvetica Neue"/>
                <a:cs typeface="Helvetica Neue"/>
              </a:rPr>
              <a:t>Required full drafts +</a:t>
            </a:r>
          </a:p>
          <a:p xmlns:a="http://schemas.openxmlformats.org/drawingml/2006/main">
            <a:pPr>
              <a:defRPr sz="1725" b="0">
                <a:solidFill>
                  <a:srgbClr val="626970"/>
                </a:solidFill>
                <a:latin typeface="Helvetica Neue"/>
                <a:ea typeface="Helvetica Neue"/>
                <a:cs typeface="Helvetica Neue"/>
              </a:defRPr>
            </a:pPr>
            <a:r>
              <a:rPr sz="1725" b="0">
                <a:solidFill>
                  <a:srgbClr val="626970"/>
                </a:solidFill>
                <a:latin typeface="Helvetica Neue"/>
                <a:ea typeface="Helvetica Neue"/>
                <a:cs typeface="Helvetica Neue"/>
              </a:rPr>
              <a:t>bounded task memory</a:t>
            </a:r>
          </a:p>
        </p:txBody>
      </p:sp>
      <p:sp>
        <p:nvSpPr>
          <p:cNvPr id="10" name="retrieval">
            <a:extLst xmlns:a="http://schemas.openxmlformats.org/drawingml/2006/main">
              <a:ext uri="{FF2B5EF4-FFF2-40B4-BE49-F238E27FC236}">
                <a16:creationId xmlns:a16="http://schemas.microsoft.com/office/drawing/2014/main" id="{41C6581A-AC6B-40A7-B06E-319E26AED534}"/>
              </a:ext>
            </a:extLst>
          </p:cNvPr>
          <p:cNvSpPr>
            <a:spLocks xmlns:a="http://schemas.openxmlformats.org/drawingml/2006/main" noGrp="1"/>
          </p:cNvSpPr>
          <p:nvPr/>
        </p:nvSpPr>
        <p:spPr>
          <a:xfrm xmlns:a="http://schemas.openxmlformats.org/drawingml/2006/main">
            <a:off x="8286750" y="2305050"/>
            <a:ext cx="3143250" cy="1238250"/>
          </a:xfrm>
          <a:prstGeom xmlns:a="http://schemas.openxmlformats.org/drawingml/2006/main" prst="rect">
            <a:avLst/>
          </a:prstGeom>
          <a:solidFill xmlns:a="http://schemas.openxmlformats.org/drawingml/2006/main">
            <a:srgbClr val="F4F6F8"/>
          </a:solidFill>
          <a:ln xmlns:a="http://schemas.openxmlformats.org/drawingml/2006/main" w="11430">
            <a:solidFill>
              <a:srgbClr val="A7B0BB"/>
            </a:solidFill>
          </a:ln>
        </p:spPr>
      </p:sp>
      <p:sp>
        <p:nvSpPr>
          <p:cNvPr id="11" name="retrieval-title">
            <a:extLst xmlns:a="http://schemas.openxmlformats.org/drawingml/2006/main">
              <a:ext uri="{FF2B5EF4-FFF2-40B4-BE49-F238E27FC236}">
                <a16:creationId xmlns:a16="http://schemas.microsoft.com/office/drawing/2014/main" id="{D693A94F-C4AB-4BF0-ACA4-6BACA7019E0C}"/>
              </a:ext>
            </a:extLst>
          </p:cNvPr>
          <p:cNvSpPr>
            <a:spLocks xmlns:a="http://schemas.openxmlformats.org/drawingml/2006/main" noGrp="1"/>
          </p:cNvSpPr>
          <p:nvPr/>
        </p:nvSpPr>
        <p:spPr>
          <a:xfrm xmlns:a="http://schemas.openxmlformats.org/drawingml/2006/main">
            <a:off x="8439150" y="2428875"/>
            <a:ext cx="28384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30343B"/>
                </a:solidFill>
                <a:latin typeface="Helvetica Neue"/>
                <a:ea typeface="Helvetica Neue"/>
                <a:cs typeface="Helvetica Neue"/>
              </a:defRPr>
            </a:pPr>
            <a:r>
              <a:rPr sz="1950" b="1">
                <a:solidFill>
                  <a:srgbClr val="30343B"/>
                </a:solidFill>
                <a:latin typeface="Helvetica Neue"/>
                <a:ea typeface="Helvetica Neue"/>
                <a:cs typeface="Helvetica Neue"/>
              </a:rPr>
              <a:t>Project knowledge</a:t>
            </a:r>
          </a:p>
        </p:txBody>
      </p:sp>
      <p:sp>
        <p:nvSpPr>
          <p:cNvPr id="12" name="retrieval-body">
            <a:extLst xmlns:a="http://schemas.openxmlformats.org/drawingml/2006/main">
              <a:ext uri="{FF2B5EF4-FFF2-40B4-BE49-F238E27FC236}">
                <a16:creationId xmlns:a16="http://schemas.microsoft.com/office/drawing/2014/main" id="{DD7A753A-7C46-402B-9DFD-F57E2CEE805E}"/>
              </a:ext>
            </a:extLst>
          </p:cNvPr>
          <p:cNvSpPr>
            <a:spLocks xmlns:a="http://schemas.openxmlformats.org/drawingml/2006/main" noGrp="1"/>
          </p:cNvSpPr>
          <p:nvPr/>
        </p:nvSpPr>
        <p:spPr>
          <a:xfrm xmlns:a="http://schemas.openxmlformats.org/drawingml/2006/main">
            <a:off x="8439150" y="2800350"/>
            <a:ext cx="2838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26970"/>
                </a:solidFill>
                <a:latin typeface="Helvetica Neue"/>
                <a:ea typeface="Helvetica Neue"/>
                <a:cs typeface="Helvetica Neue"/>
              </a:defRPr>
            </a:pPr>
            <a:r>
              <a:rPr sz="1725" b="0">
                <a:solidFill>
                  <a:srgbClr val="626970"/>
                </a:solidFill>
                <a:latin typeface="Helvetica Neue"/>
                <a:ea typeface="Helvetica Neue"/>
                <a:cs typeface="Helvetica Neue"/>
              </a:rPr>
              <a:t>Optional ranked excerpts</a:t>
            </a:r>
          </a:p>
          <a:p xmlns:a="http://schemas.openxmlformats.org/drawingml/2006/main">
            <a:pPr>
              <a:defRPr sz="1725" b="0">
                <a:solidFill>
                  <a:srgbClr val="626970"/>
                </a:solidFill>
                <a:latin typeface="Helvetica Neue"/>
                <a:ea typeface="Helvetica Neue"/>
                <a:cs typeface="Helvetica Neue"/>
              </a:defRPr>
            </a:pPr>
            <a:r>
              <a:rPr sz="1725" b="0">
                <a:solidFill>
                  <a:srgbClr val="626970"/>
                </a:solidFill>
                <a:latin typeface="Helvetica Neue"/>
                <a:ea typeface="Helvetica Neue"/>
                <a:cs typeface="Helvetica Neue"/>
              </a:rPr>
              <a:t>from this project</a:t>
            </a:r>
          </a:p>
        </p:txBody>
      </p:sp>
      <p:sp>
        <p:nvSpPr>
          <p:cNvPr id="13" name="model-call">
            <a:extLst xmlns:a="http://schemas.openxmlformats.org/drawingml/2006/main">
              <a:ext uri="{FF2B5EF4-FFF2-40B4-BE49-F238E27FC236}">
                <a16:creationId xmlns:a16="http://schemas.microsoft.com/office/drawing/2014/main" id="{5358DE9F-05EE-4EB0-BE43-D590A8914D3A}"/>
              </a:ext>
            </a:extLst>
          </p:cNvPr>
          <p:cNvSpPr>
            <a:spLocks xmlns:a="http://schemas.openxmlformats.org/drawingml/2006/main" noGrp="1"/>
          </p:cNvSpPr>
          <p:nvPr/>
        </p:nvSpPr>
        <p:spPr>
          <a:xfrm xmlns:a="http://schemas.openxmlformats.org/drawingml/2006/main">
            <a:off x="4238625" y="4514850"/>
            <a:ext cx="3714750" cy="952500"/>
          </a:xfrm>
          <a:prstGeom xmlns:a="http://schemas.openxmlformats.org/drawingml/2006/main" prst="rect">
            <a:avLst/>
          </a:prstGeom>
          <a:solidFill xmlns:a="http://schemas.openxmlformats.org/drawingml/2006/main">
            <a:srgbClr val="F4F6F8"/>
          </a:solidFill>
          <a:ln xmlns:a="http://schemas.openxmlformats.org/drawingml/2006/main" w="11430">
            <a:solidFill>
              <a:srgbClr val="A7B0BB"/>
            </a:solidFill>
          </a:ln>
        </p:spPr>
      </p:sp>
      <p:sp>
        <p:nvSpPr>
          <p:cNvPr id="14" name="model-call-title">
            <a:extLst xmlns:a="http://schemas.openxmlformats.org/drawingml/2006/main">
              <a:ext uri="{FF2B5EF4-FFF2-40B4-BE49-F238E27FC236}">
                <a16:creationId xmlns:a16="http://schemas.microsoft.com/office/drawing/2014/main" id="{CE2FC4A9-84E1-4801-8A75-588D36767F13}"/>
              </a:ext>
            </a:extLst>
          </p:cNvPr>
          <p:cNvSpPr>
            <a:spLocks xmlns:a="http://schemas.openxmlformats.org/drawingml/2006/main" noGrp="1"/>
          </p:cNvSpPr>
          <p:nvPr/>
        </p:nvSpPr>
        <p:spPr>
          <a:xfrm xmlns:a="http://schemas.openxmlformats.org/drawingml/2006/main">
            <a:off x="4391025" y="4638675"/>
            <a:ext cx="3409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30343B"/>
                </a:solidFill>
                <a:latin typeface="Helvetica Neue"/>
                <a:ea typeface="Helvetica Neue"/>
                <a:cs typeface="Helvetica Neue"/>
              </a:defRPr>
            </a:pPr>
            <a:r>
              <a:rPr sz="1950" b="1">
                <a:solidFill>
                  <a:srgbClr val="30343B"/>
                </a:solidFill>
                <a:latin typeface="Helvetica Neue"/>
                <a:ea typeface="Helvetica Neue"/>
                <a:cs typeface="Helvetica Neue"/>
              </a:rPr>
              <a:t>Next model call</a:t>
            </a:r>
          </a:p>
        </p:txBody>
      </p:sp>
      <p:sp>
        <p:nvSpPr>
          <p:cNvPr id="15" name="model-call-body">
            <a:extLst xmlns:a="http://schemas.openxmlformats.org/drawingml/2006/main">
              <a:ext uri="{FF2B5EF4-FFF2-40B4-BE49-F238E27FC236}">
                <a16:creationId xmlns:a16="http://schemas.microsoft.com/office/drawing/2014/main" id="{33AEE3FB-A85F-4E83-972A-0FCEB9B94A8F}"/>
              </a:ext>
            </a:extLst>
          </p:cNvPr>
          <p:cNvSpPr>
            <a:spLocks xmlns:a="http://schemas.openxmlformats.org/drawingml/2006/main" noGrp="1"/>
          </p:cNvSpPr>
          <p:nvPr/>
        </p:nvSpPr>
        <p:spPr>
          <a:xfrm xmlns:a="http://schemas.openxmlformats.org/drawingml/2006/main">
            <a:off x="4391025" y="5010150"/>
            <a:ext cx="3409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26970"/>
                </a:solidFill>
                <a:latin typeface="Helvetica Neue"/>
                <a:ea typeface="Helvetica Neue"/>
                <a:cs typeface="Helvetica Neue"/>
              </a:defRPr>
            </a:pPr>
            <a:r>
              <a:rPr sz="1725" b="0">
                <a:solidFill>
                  <a:srgbClr val="626970"/>
                </a:solidFill>
                <a:latin typeface="Helvetica Neue"/>
                <a:ea typeface="Helvetica Neue"/>
                <a:cs typeface="Helvetica Neue"/>
              </a:rPr>
              <a:t>Context assembled for its stage</a:t>
            </a:r>
          </a:p>
        </p:txBody>
      </p:sp>
      <p:sp>
        <p:nvSpPr>
          <p:cNvPr id="16" name="saved-turn">
            <a:extLst xmlns:a="http://schemas.openxmlformats.org/drawingml/2006/main">
              <a:ext uri="{FF2B5EF4-FFF2-40B4-BE49-F238E27FC236}">
                <a16:creationId xmlns:a16="http://schemas.microsoft.com/office/drawing/2014/main" id="{F92D2C3B-AB64-4F75-9336-0E43A0C68DA2}"/>
              </a:ext>
            </a:extLst>
          </p:cNvPr>
          <p:cNvSpPr>
            <a:spLocks xmlns:a="http://schemas.openxmlformats.org/drawingml/2006/main" noGrp="1"/>
          </p:cNvSpPr>
          <p:nvPr/>
        </p:nvSpPr>
        <p:spPr>
          <a:xfrm xmlns:a="http://schemas.openxmlformats.org/drawingml/2006/main">
            <a:off x="8810625" y="4514850"/>
            <a:ext cx="2619375" cy="952500"/>
          </a:xfrm>
          <a:prstGeom xmlns:a="http://schemas.openxmlformats.org/drawingml/2006/main" prst="rect">
            <a:avLst/>
          </a:prstGeom>
          <a:solidFill xmlns:a="http://schemas.openxmlformats.org/drawingml/2006/main">
            <a:srgbClr val="F4F6F8"/>
          </a:solidFill>
          <a:ln xmlns:a="http://schemas.openxmlformats.org/drawingml/2006/main" w="11430">
            <a:solidFill>
              <a:srgbClr val="A7B0BB"/>
            </a:solidFill>
          </a:ln>
        </p:spPr>
      </p:sp>
      <p:sp>
        <p:nvSpPr>
          <p:cNvPr id="17" name="saved-turn-title">
            <a:extLst xmlns:a="http://schemas.openxmlformats.org/drawingml/2006/main">
              <a:ext uri="{FF2B5EF4-FFF2-40B4-BE49-F238E27FC236}">
                <a16:creationId xmlns:a16="http://schemas.microsoft.com/office/drawing/2014/main" id="{04DB09EE-0DE8-476A-BFBF-DBD87C0470F3}"/>
              </a:ext>
            </a:extLst>
          </p:cNvPr>
          <p:cNvSpPr>
            <a:spLocks xmlns:a="http://schemas.openxmlformats.org/drawingml/2006/main" noGrp="1"/>
          </p:cNvSpPr>
          <p:nvPr/>
        </p:nvSpPr>
        <p:spPr>
          <a:xfrm xmlns:a="http://schemas.openxmlformats.org/drawingml/2006/main">
            <a:off x="8963025" y="4638675"/>
            <a:ext cx="23145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30343B"/>
                </a:solidFill>
                <a:latin typeface="Helvetica Neue"/>
                <a:ea typeface="Helvetica Neue"/>
                <a:cs typeface="Helvetica Neue"/>
              </a:defRPr>
            </a:pPr>
            <a:r>
              <a:rPr sz="1950" b="1">
                <a:solidFill>
                  <a:srgbClr val="30343B"/>
                </a:solidFill>
                <a:latin typeface="Helvetica Neue"/>
                <a:ea typeface="Helvetica Neue"/>
                <a:cs typeface="Helvetica Neue"/>
              </a:rPr>
              <a:t>Saved turn</a:t>
            </a:r>
          </a:p>
        </p:txBody>
      </p:sp>
      <p:sp>
        <p:nvSpPr>
          <p:cNvPr id="18" name="saved-turn-body">
            <a:extLst xmlns:a="http://schemas.openxmlformats.org/drawingml/2006/main">
              <a:ext uri="{FF2B5EF4-FFF2-40B4-BE49-F238E27FC236}">
                <a16:creationId xmlns:a16="http://schemas.microsoft.com/office/drawing/2014/main" id="{4A829DD0-6570-46A7-A114-963FA4334077}"/>
              </a:ext>
            </a:extLst>
          </p:cNvPr>
          <p:cNvSpPr>
            <a:spLocks xmlns:a="http://schemas.openxmlformats.org/drawingml/2006/main" noGrp="1"/>
          </p:cNvSpPr>
          <p:nvPr/>
        </p:nvSpPr>
        <p:spPr>
          <a:xfrm xmlns:a="http://schemas.openxmlformats.org/drawingml/2006/main">
            <a:off x="8963025" y="5010150"/>
            <a:ext cx="2314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26970"/>
                </a:solidFill>
                <a:latin typeface="Helvetica Neue"/>
                <a:ea typeface="Helvetica Neue"/>
                <a:cs typeface="Helvetica Neue"/>
              </a:defRPr>
            </a:pPr>
            <a:r>
              <a:rPr sz="1725" b="0">
                <a:solidFill>
                  <a:srgbClr val="626970"/>
                </a:solidFill>
                <a:latin typeface="Helvetica Neue"/>
                <a:ea typeface="Helvetica Neue"/>
                <a:cs typeface="Helvetica Neue"/>
              </a:rPr>
              <a:t>Output + provenance</a:t>
            </a:r>
          </a:p>
        </p:txBody>
      </p:sp>
      <p:cxnSp>
        <p:nvCxnSpPr>
          <p:cNvPr id="44" name=""/>
          <p:cNvCxnSpPr>
            <a:stCxn xmlns:a="http://schemas.openxmlformats.org/drawingml/2006/main" id="4" idx="2"/>
            <a:endCxn xmlns:a="http://schemas.openxmlformats.org/drawingml/2006/main" id="13" idx="0"/>
          </p:cNvCxnSpPr>
          <p:nvPr/>
        </p:nvCxnSpPr>
        <p:spPr>
          <a:xfrm xmlns:a="http://schemas.openxmlformats.org/drawingml/2006/main">
            <a:off x="2333625" y="3543300"/>
            <a:ext cx="3762375" cy="971550"/>
          </a:xfrm>
          <a:prstGeom xmlns:a="http://schemas.openxmlformats.org/drawingml/2006/main" prst="bentConnector4">
            <a:avLst>
              <a:gd name="adj1" fmla="val 0"/>
              <a:gd name="adj2" fmla="val 50000"/>
            </a:avLst>
          </a:prstGeom>
          <a:ln xmlns:a="http://schemas.openxmlformats.org/drawingml/2006/main" w="17145">
            <a:solidFill>
              <a:srgbClr val="334A68"/>
            </a:solidFill>
            <a:prstDash val="solid"/>
            <a:tailEnd type="triangle" w="sm" len="sm"/>
          </a:ln>
        </p:spPr>
      </p:cxnSp>
      <p:cxnSp>
        <p:nvCxnSpPr>
          <p:cNvPr id="45" name=""/>
          <p:cNvCxnSpPr>
            <a:stCxn xmlns:a="http://schemas.openxmlformats.org/drawingml/2006/main" id="7" idx="2"/>
            <a:endCxn xmlns:a="http://schemas.openxmlformats.org/drawingml/2006/main" id="13" idx="0"/>
          </p:cNvCxnSpPr>
          <p:nvPr/>
        </p:nvCxnSpPr>
        <p:spPr>
          <a:xfrm xmlns:a="http://schemas.openxmlformats.org/drawingml/2006/main">
            <a:off x="6096000" y="3543300"/>
            <a:ext cx="0" cy="971550"/>
          </a:xfrm>
          <a:prstGeom xmlns:a="http://schemas.openxmlformats.org/drawingml/2006/main" prst="straightConnector1">
            <a:avLst/>
          </a:prstGeom>
          <a:ln xmlns:a="http://schemas.openxmlformats.org/drawingml/2006/main" w="17145">
            <a:solidFill>
              <a:srgbClr val="334A68"/>
            </a:solidFill>
            <a:prstDash val="solid"/>
            <a:tailEnd type="triangle" w="sm" len="sm"/>
          </a:ln>
        </p:spPr>
      </p:cxnSp>
      <p:cxnSp>
        <p:nvCxnSpPr>
          <p:cNvPr id="46" name=""/>
          <p:cNvCxnSpPr>
            <a:stCxn xmlns:a="http://schemas.openxmlformats.org/drawingml/2006/main" id="10" idx="2"/>
            <a:endCxn xmlns:a="http://schemas.openxmlformats.org/drawingml/2006/main" id="13" idx="0"/>
          </p:cNvCxnSpPr>
          <p:nvPr/>
        </p:nvCxnSpPr>
        <p:spPr>
          <a:xfrm xmlns:a="http://schemas.openxmlformats.org/drawingml/2006/main" flipH="1">
            <a:off x="6096000" y="3543300"/>
            <a:ext cx="3762375" cy="971550"/>
          </a:xfrm>
          <a:prstGeom xmlns:a="http://schemas.openxmlformats.org/drawingml/2006/main" prst="bentConnector4">
            <a:avLst>
              <a:gd name="adj1" fmla="val 0"/>
              <a:gd name="adj2" fmla="val 50000"/>
            </a:avLst>
          </a:prstGeom>
          <a:ln xmlns:a="http://schemas.openxmlformats.org/drawingml/2006/main" w="17145">
            <a:solidFill>
              <a:srgbClr val="334A68"/>
            </a:solidFill>
            <a:prstDash val="solid"/>
            <a:tailEnd type="triangle" w="sm" len="sm"/>
          </a:ln>
        </p:spPr>
      </p:cxnSp>
      <p:cxnSp>
        <p:nvCxnSpPr>
          <p:cNvPr id="47" name=""/>
          <p:cNvCxnSpPr>
            <a:stCxn xmlns:a="http://schemas.openxmlformats.org/drawingml/2006/main" id="13" idx="3"/>
            <a:endCxn xmlns:a="http://schemas.openxmlformats.org/drawingml/2006/main" id="16" idx="1"/>
          </p:cNvCxnSpPr>
          <p:nvPr/>
        </p:nvCxnSpPr>
        <p:spPr>
          <a:xfrm xmlns:a="http://schemas.openxmlformats.org/drawingml/2006/main">
            <a:off x="7953375" y="4991100"/>
            <a:ext cx="857250" cy="0"/>
          </a:xfrm>
          <a:prstGeom xmlns:a="http://schemas.openxmlformats.org/drawingml/2006/main" prst="straightConnector1">
            <a:avLst/>
          </a:prstGeom>
          <a:ln xmlns:a="http://schemas.openxmlformats.org/drawingml/2006/main" w="17145">
            <a:solidFill>
              <a:srgbClr val="334A68"/>
            </a:solidFill>
            <a:prstDash val="solid"/>
            <a:tailEnd type="triangle" w="sm" len="sm"/>
          </a:ln>
        </p:spPr>
      </p:cxnSp>
      <p:sp>
        <p:nvSpPr>
          <p:cNvPr id="23" name="reuse-on-next-message">
            <a:extLst xmlns:a="http://schemas.openxmlformats.org/drawingml/2006/main">
              <a:ext uri="{FF2B5EF4-FFF2-40B4-BE49-F238E27FC236}">
                <a16:creationId xmlns:a16="http://schemas.microsoft.com/office/drawing/2014/main" id="{B196CFCA-1AC1-4B03-9DAD-03A8509CF272}"/>
              </a:ext>
            </a:extLst>
          </p:cNvPr>
          <p:cNvSpPr>
            <a:spLocks xmlns:a="http://schemas.openxmlformats.org/drawingml/2006/main" noGrp="1"/>
          </p:cNvSpPr>
          <p:nvPr/>
        </p:nvSpPr>
        <p:spPr>
          <a:xfrm xmlns:a="http://schemas.openxmlformats.org/drawingml/2006/main">
            <a:off x="495300" y="2876550"/>
            <a:ext cx="9625013" cy="3105150"/>
          </a:xfrm>
          <a:custGeom xmlns:a="http://schemas.openxmlformats.org/drawingml/2006/main">
            <a:pathLst>
              <a:path w="9625013" h="3105150">
                <a:moveTo>
                  <a:pt x="9625013" y="2590800"/>
                </a:moveTo>
                <a:lnTo>
                  <a:pt x="9625013" y="3105150"/>
                </a:lnTo>
                <a:lnTo>
                  <a:pt x="0" y="3105150"/>
                </a:lnTo>
                <a:lnTo>
                  <a:pt x="0" y="47625"/>
                </a:lnTo>
                <a:lnTo>
                  <a:pt x="266700" y="47625"/>
                </a:lnTo>
                <a:moveTo>
                  <a:pt x="171450" y="95250"/>
                </a:moveTo>
                <a:lnTo>
                  <a:pt x="266700" y="47625"/>
                </a:lnTo>
                <a:lnTo>
                  <a:pt x="171450" y="0"/>
                </a:lnTo>
              </a:path>
            </a:pathLst>
          </a:custGeom>
          <a:noFill xmlns:a="http://schemas.openxmlformats.org/drawingml/2006/main"/>
          <a:ln xmlns:a="http://schemas.openxmlformats.org/drawingml/2006/main" w="17145">
            <a:solidFill>
              <a:srgbClr val="334A68"/>
            </a:solidFill>
            <a:prstDash val="solid"/>
          </a:ln>
        </p:spPr>
      </p:sp>
      <p:sp>
        <p:nvSpPr>
          <p:cNvPr id="24" name="text">
            <a:extLst xmlns:a="http://schemas.openxmlformats.org/drawingml/2006/main">
              <a:ext uri="{FF2B5EF4-FFF2-40B4-BE49-F238E27FC236}">
                <a16:creationId xmlns:a16="http://schemas.microsoft.com/office/drawing/2014/main" id="{A4E8E314-B052-42A4-A88C-D8F8AE18C026}"/>
              </a:ext>
            </a:extLst>
          </p:cNvPr>
          <p:cNvSpPr>
            <a:spLocks xmlns:a="http://schemas.openxmlformats.org/drawingml/2006/main" noGrp="1"/>
          </p:cNvSpPr>
          <p:nvPr/>
        </p:nvSpPr>
        <p:spPr>
          <a:xfrm xmlns:a="http://schemas.openxmlformats.org/drawingml/2006/main">
            <a:off x="762000" y="5534025"/>
            <a:ext cx="404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334A68"/>
                </a:solidFill>
                <a:latin typeface="Helvetica Neue"/>
                <a:ea typeface="Helvetica Neue"/>
                <a:cs typeface="Helvetica Neue"/>
              </a:defRPr>
            </a:pPr>
            <a:r>
              <a:rPr sz="1950" b="0">
                <a:solidFill>
                  <a:srgbClr val="334A68"/>
                </a:solidFill>
                <a:latin typeface="Helvetica Neue"/>
                <a:ea typeface="Helvetica Neue"/>
                <a:cs typeface="Helvetica Neue"/>
              </a:rPr>
              <a:t>Reuse on a later message</a:t>
            </a:r>
          </a:p>
        </p:txBody>
      </p:sp>
      <p:sp>
        <p:nvSpPr>
          <p:cNvPr id="25" name="text">
            <a:extLst xmlns:a="http://schemas.openxmlformats.org/drawingml/2006/main">
              <a:ext uri="{FF2B5EF4-FFF2-40B4-BE49-F238E27FC236}">
                <a16:creationId xmlns:a16="http://schemas.microsoft.com/office/drawing/2014/main" id="{400756B5-3697-4701-B587-89B2127D663E}"/>
              </a:ext>
            </a:extLst>
          </p:cNvPr>
          <p:cNvSpPr>
            <a:spLocks xmlns:a="http://schemas.openxmlformats.org/drawingml/2006/main" noGrp="1"/>
          </p:cNvSpPr>
          <p:nvPr/>
        </p:nvSpPr>
        <p:spPr>
          <a:xfrm xmlns:a="http://schemas.openxmlformats.org/drawingml/2006/main">
            <a:off x="762000" y="6353175"/>
            <a:ext cx="10239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626970"/>
                </a:solidFill>
                <a:latin typeface="Helvetica Neue"/>
                <a:ea typeface="Helvetica Neue"/>
                <a:cs typeface="Helvetica Neue"/>
              </a:defRPr>
            </a:pPr>
            <a:r>
              <a:rPr sz="1425" b="0">
                <a:solidFill>
                  <a:srgbClr val="626970"/>
                </a:solidFill>
                <a:latin typeface="Helvetica Neue"/>
                <a:ea typeface="Helvetica Neue"/>
                <a:cs typeface="Helvetica Neue"/>
              </a:rPr>
              <a:t>Turning off Project knowledge still keeps task history and required agent handoffs.</a:t>
            </a:r>
          </a:p>
        </p:txBody>
      </p:sp>
    </p:spTree>
    <p:extLst>
      <p:ext uri="{BB962C8B-B14F-4D97-AF65-F5344CB8AC3E}">
        <p14:creationId xmlns:p14="http://schemas.microsoft.com/office/powerpoint/2010/main" val="9911000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2026-10-14T11:02:05.0580000Z</dcterms:created>
  <dcterms:modified xsi:type="dcterms:W3CDTF">2026-10-14T11:02:05.0580000Z</dcterms:modified>
</coreProperties>
</file>